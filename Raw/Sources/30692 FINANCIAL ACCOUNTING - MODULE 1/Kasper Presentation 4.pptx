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609" r:id="rId3"/>
    <p:sldId id="573" r:id="rId4"/>
    <p:sldId id="576" r:id="rId5"/>
    <p:sldId id="607" r:id="rId6"/>
    <p:sldId id="582" r:id="rId7"/>
    <p:sldId id="584" r:id="rId8"/>
    <p:sldId id="585" r:id="rId9"/>
    <p:sldId id="586" r:id="rId10"/>
    <p:sldId id="610" r:id="rId11"/>
    <p:sldId id="616" r:id="rId12"/>
    <p:sldId id="611" r:id="rId13"/>
    <p:sldId id="589" r:id="rId14"/>
    <p:sldId id="591" r:id="rId15"/>
    <p:sldId id="592" r:id="rId16"/>
    <p:sldId id="593" r:id="rId17"/>
    <p:sldId id="594" r:id="rId18"/>
    <p:sldId id="596" r:id="rId19"/>
    <p:sldId id="601" r:id="rId20"/>
    <p:sldId id="606" r:id="rId21"/>
    <p:sldId id="612" r:id="rId22"/>
    <p:sldId id="602" r:id="rId23"/>
    <p:sldId id="613" r:id="rId24"/>
    <p:sldId id="529" r:id="rId25"/>
    <p:sldId id="603" r:id="rId26"/>
    <p:sldId id="595" r:id="rId27"/>
    <p:sldId id="597" r:id="rId28"/>
    <p:sldId id="618" r:id="rId29"/>
    <p:sldId id="617" r:id="rId30"/>
  </p:sldIdLst>
  <p:sldSz cx="12192000" cy="6858000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396" autoAdjust="0"/>
  </p:normalViewPr>
  <p:slideViewPr>
    <p:cSldViewPr snapToGrid="0">
      <p:cViewPr varScale="1">
        <p:scale>
          <a:sx n="100" d="100"/>
          <a:sy n="100" d="100"/>
        </p:scale>
        <p:origin x="184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42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1" y="1"/>
            <a:ext cx="3078428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fld id="{BE7658AA-419F-4D52-B99B-D6E7AEC0B52F}" type="datetimeFigureOut">
              <a:rPr lang="it-IT" smtClean="0"/>
              <a:t>16/09/25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7" tIns="49534" rIns="99067" bIns="49534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1" y="9721107"/>
            <a:ext cx="3078428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90428E0A-68A3-4969-8E44-8603FB83DD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56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80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20CB-C50C-5A79-3BFA-671F56F4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20CB887-6A65-4BA4-CF3B-06E6F0B97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D45491-B573-9E17-0C42-C0A9A45F9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5B0A2E-8A2E-1458-3F5F-2AB22CB81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9931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916E-2A71-DECF-4ADE-890A3F53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2CBB71-4C3E-026B-2E5E-4C2C43177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BB99B1-9486-DD31-02EC-0FD89FDA1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583758-097A-A908-1830-C70B19BCA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615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D4D0-F5FA-4959-D837-266F4665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562729-7FF0-00F0-2967-2D78AE532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0E76417-CB9A-5720-01C4-6F1157044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r>
              <a:rPr lang="it-IT" dirty="0"/>
              <a:t> on </a:t>
            </a:r>
            <a:r>
              <a:rPr lang="it-IT" dirty="0" err="1"/>
              <a:t>whiteboard</a:t>
            </a:r>
            <a:r>
              <a:rPr lang="it-IT" dirty="0"/>
              <a:t> and on </a:t>
            </a:r>
            <a:r>
              <a:rPr lang="it-IT" dirty="0" err="1"/>
              <a:t>Blackboard</a:t>
            </a:r>
            <a:r>
              <a:rPr lang="it-IT" dirty="0"/>
              <a:t> after class.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879824-0B5E-8802-EE0E-3B4B7A1B1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4938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650E-60C4-CC5F-A9EB-145553B7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131E01-ED2B-BE4D-4EA7-1D11D9227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2F0DCB-E5C6-220A-03D1-982B88B51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4F43AE-067B-752C-E8C5-2D969F916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0765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F696-37F5-DE45-7923-E9BE9237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EF41C6-93C1-58AB-8CBC-30037ABD0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1A237E-B9D2-04A4-DA7B-0DF7AECD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5DD97F-3A11-2725-6BCF-9F023F1E5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810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8628-DB95-E8B6-FDA1-50E0EC88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FEB7F3-D5C8-04E0-9E0E-876FE7DE3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8FA864-95D8-3C29-690D-7A9E9D06B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BBADBF-9CB0-0A7B-30D5-14B8E28D9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4723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CC29-BD9D-E509-B438-B66DA0FC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772DE2B-5A37-A9AF-0412-8FD8111C4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11E44E3-2BA9-5863-74F9-8DF6DC6E3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1B97D9-0915-7EFD-DE3E-B150D1F94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96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C0AA-281A-B45E-543B-7F8DCE5D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21E979E-C466-64F8-CE65-4FDD30A4F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F4A6DC-2E08-CBB5-B0B2-341CDC93F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D850F9-17C1-BF43-2132-AA7CC4EE3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9490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7F3B-58ED-2B76-61AC-A13E08A6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6F4AC5-440A-AA2B-018E-94B7F8CD7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614C95-B051-978A-8B3E-1D8EAA3BC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1663AA-36DB-C43A-C520-36CF3AD66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894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E3D4-3194-279D-3937-6F61E2C1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747A2A-7780-FA3F-1E02-8687A3A2D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175749-C852-730B-5750-54472C47F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4626A7-7490-5F2F-8CCB-5A635ED7A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255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6584-9948-0721-3EDB-EC1B0B3D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4071BB-938E-CB19-B60C-DB6EE8F1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92BA14-F207-1820-E58F-54EE65570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D0BDB6-CCF9-E342-22FF-71E63819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417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2D19-3DA3-F2EB-2976-9F360D3A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120299-85A5-CCFF-8BAB-834615AD6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AA5630-0531-FB2E-A8BC-E5EE0F177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58F377-5AC5-659A-C100-6A1A7A634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2760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8619-6A2D-581B-4E99-3D9D60C2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9AD0071-6479-A9E3-CE7B-A1172A1E5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C75FF4-E25C-A755-5399-9DCD18B29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Notice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with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expenses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assume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are the </a:t>
            </a:r>
            <a:r>
              <a:rPr lang="it-IT" dirty="0" err="1"/>
              <a:t>only</a:t>
            </a:r>
            <a:r>
              <a:rPr lang="it-IT" dirty="0"/>
              <a:t> one.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expand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later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EEAC22-5A3F-2084-2858-2B191248F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499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9FA4-702D-1F3D-9863-E1E0277D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3D8FBF-A2EF-246E-A778-00AB25BD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053C79-7F43-49E3-EE03-AEA5F6859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77DDB3-C590-8471-3451-D80C41D8E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5877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E25A-CC7E-9606-DE24-D3C428C6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508AE3-0DC1-69DD-0CE8-A72C23434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DD81179-00A9-0E73-B6FA-D48798D75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04AE22-7950-FEF6-F634-745BF571E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9568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6174-1F95-E11B-E703-77080FD6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546A3B-CA9E-9AD2-9A0E-88309708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33AACDE-DD29-49AD-5C49-06DF76F37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35E017-F8FD-8C82-794E-1EAB44F50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25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D7AC-FC17-7E04-9493-1700AFD6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B99BB6-CC6C-6973-C1EC-AF5D41B2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E3AFD1-D708-F67E-C215-8E8F2988D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deferred</a:t>
            </a:r>
            <a:r>
              <a:rPr lang="it-IT" dirty="0"/>
              <a:t> revenue.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C7AC26-9924-9036-CA85-56E427AEF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211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D75B-3249-D4FF-C600-9DA39237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32620B-82C7-0E58-43C0-551E0D202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28385D-34FE-3920-3818-41326F954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9112443-F977-9E9B-D841-D0AB7234D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7226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EB58-2233-57F8-9696-829B0862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5CE701-E8F5-DF1E-B63F-97CAD620C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C2C3B86-13E4-6CF4-D0C4-A7C8FA912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6A3F93-D055-DDE9-A6BB-051660AA0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571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4A96-64D2-EF79-9B82-3EB2F565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CB9CAE-A60F-69A0-FD06-8E364101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BF1BE71-CFCE-8B0E-D6F2-223235951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8B8934-3CAF-1177-41A6-FCEBFEBA1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5442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107-3492-3417-8158-50145D07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A5521-6466-8C55-4AC8-E4D7FE5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1E7535-420A-5629-482C-3872B993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Linked</a:t>
            </a:r>
            <a:r>
              <a:rPr lang="it-IT" dirty="0"/>
              <a:t> to assets and liabilities, so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thus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to be </a:t>
            </a:r>
            <a:r>
              <a:rPr lang="it-IT" dirty="0" err="1"/>
              <a:t>measurable</a:t>
            </a:r>
            <a:r>
              <a:rPr lang="it-IT" dirty="0"/>
              <a:t>. 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49517-E7A6-E016-1956-1097A9A7D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402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107-3492-3417-8158-50145D07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0A5521-6466-8C55-4AC8-E4D7FE5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1E7535-420A-5629-482C-3872B9934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49517-E7A6-E016-1956-1097A9A7D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7890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F248-5CB7-BF44-CCBB-8F7300AE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5E0C22-56E2-8303-5EF8-2889E4FB9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AEEFD3-4A41-9045-FB3E-0B212F2FD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Read page 113-114 of the book for a list of </a:t>
            </a:r>
            <a:r>
              <a:rPr lang="it-IT" dirty="0" err="1"/>
              <a:t>Chipotle’s</a:t>
            </a:r>
            <a:r>
              <a:rPr lang="it-IT" dirty="0"/>
              <a:t> </a:t>
            </a:r>
            <a:r>
              <a:rPr lang="it-IT" dirty="0" err="1"/>
              <a:t>expenses</a:t>
            </a:r>
            <a:r>
              <a:rPr lang="it-IT" dirty="0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AF6438-6CDC-2DBD-74DC-68AE6B205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1755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402E-26CF-ED34-391C-0928577F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6D726C-7695-DD48-3758-BAFCF01A5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A1A189-BC87-2731-9D04-6A91F1D96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8435E2-2785-0844-1FD7-4EFCDDF94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95236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B3D0-25E3-9726-523A-7C14129A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F7A73B7-83BD-8390-E320-47A4FBB51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31BCBF2-5591-121E-A81F-EC30F3BC8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23577E-B3CC-64E4-CC2D-7B5CB21CD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611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50E7-3D2C-30F5-9D43-284F2AAA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26B3D3-9035-EC55-7990-168B8EF5F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2D2961-1693-EBBE-1A09-4311EE99B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0563F60-8E69-ECCC-5870-E44DDE2C4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389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7AE28-D89C-9BF1-19BE-86E6C8C5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095F510-30F3-2C0E-170C-1126F25F5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6935757-1480-7EE4-7BE8-9B95F29C9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36A6F9-E896-BEAA-C3C6-E2A9065C8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28E0A-68A3-4969-8E44-8603FB83DD5F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68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2992-3CBD-44C0-8330-393EB61B5379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06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72E1-AB19-4438-A9E4-CC335275A8E4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71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6E74-961E-445D-A2BF-CEC7831DF110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26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73E9-1357-4F40-B3B8-B37DAECF2896}" type="datetime1">
              <a:rPr lang="it-IT" smtClean="0"/>
              <a:t>16/09/25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19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F168-6BD4-486C-8F19-A639E75B434D}" type="datetime1">
              <a:rPr lang="it-IT" smtClean="0"/>
              <a:t>16/09/25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180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6D53-1533-4BD6-A7EB-41B41E7EFB69}" type="datetime1">
              <a:rPr lang="it-IT" smtClean="0"/>
              <a:t>16/09/25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7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84C9-6246-4470-B18E-3C12CE210891}" type="datetime1">
              <a:rPr lang="it-IT" smtClean="0"/>
              <a:t>16/09/25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93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8641-A484-45F8-8975-025F391C7A70}" type="datetime1">
              <a:rPr lang="it-IT" smtClean="0"/>
              <a:t>16/09/25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35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AF6-ADCF-47AC-A93D-9FE5AB6A7360}" type="datetime1">
              <a:rPr lang="it-IT" smtClean="0"/>
              <a:t>16/09/25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12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E502-F109-4FF9-AA0B-1B539F62B299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107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23C8-3A6D-4A65-9FCE-C0153D1CF7F8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87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BF50A-24DC-473A-ADA5-CBB4D27EAE85}" type="datetime1">
              <a:rPr lang="it-IT" smtClean="0"/>
              <a:t>16/09/25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01A8-01F5-4916-BDC8-222E34B957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845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9242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30692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b="1" dirty="0">
                <a:solidFill>
                  <a:srgbClr val="002060"/>
                </a:solidFill>
                <a:latin typeface="Garamond" panose="02020404030301010803" pitchFamily="18" charset="0"/>
              </a:rPr>
              <a:t>Financial Accounting</a:t>
            </a:r>
            <a:b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it-IT" dirty="0">
                <a:solidFill>
                  <a:srgbClr val="002060"/>
                </a:solidFill>
                <a:latin typeface="Garamond" panose="02020404030301010803" pitchFamily="18" charset="0"/>
              </a:rPr>
              <a:t>(Module 1 – Session 4)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4403889"/>
            <a:ext cx="9144000" cy="1655762"/>
          </a:xfrm>
        </p:spPr>
        <p:txBody>
          <a:bodyPr>
            <a:normAutofit/>
          </a:bodyPr>
          <a:lstStyle/>
          <a:p>
            <a:endParaRPr lang="it-IT" sz="3200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Academic </a:t>
            </a:r>
            <a:r>
              <a:rPr lang="it-IT" sz="3200" dirty="0" err="1">
                <a:solidFill>
                  <a:srgbClr val="002060"/>
                </a:solidFill>
                <a:latin typeface="Garamond" panose="02020404030301010803" pitchFamily="18" charset="0"/>
              </a:rPr>
              <a:t>year</a:t>
            </a:r>
            <a:r>
              <a:rPr lang="it-IT" sz="3200" dirty="0">
                <a:solidFill>
                  <a:srgbClr val="002060"/>
                </a:solidFill>
                <a:latin typeface="Garamond" panose="02020404030301010803" pitchFamily="18" charset="0"/>
              </a:rPr>
              <a:t> 2025-2026</a:t>
            </a:r>
          </a:p>
        </p:txBody>
      </p:sp>
      <p:pic>
        <p:nvPicPr>
          <p:cNvPr id="4" name="Immagin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9C03A-61BB-6DD4-CEE3-1C54D8F63DD7}"/>
              </a:ext>
            </a:extLst>
          </p:cNvPr>
          <p:cNvSpPr txBox="1"/>
          <p:nvPr/>
        </p:nvSpPr>
        <p:spPr>
          <a:xfrm>
            <a:off x="4281832" y="5828560"/>
            <a:ext cx="362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Kasper Regenburg</a:t>
            </a:r>
          </a:p>
          <a:p>
            <a:pPr algn="ctr"/>
            <a:r>
              <a:rPr lang="en-US" dirty="0"/>
              <a:t>Assistant Professor of Accounting</a:t>
            </a:r>
          </a:p>
        </p:txBody>
      </p:sp>
    </p:spTree>
    <p:extLst>
      <p:ext uri="{BB962C8B-B14F-4D97-AF65-F5344CB8AC3E}">
        <p14:creationId xmlns:p14="http://schemas.microsoft.com/office/powerpoint/2010/main" val="38875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FAAD-B27C-C65A-9E16-5BAF6A69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8C312B-1558-9AF3-8125-30E0CD9F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5C5DDC-F391-7E72-3EAF-D3AF1724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EC32D3E-C590-A266-ED88-9782D1CA188D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4D496832-07D7-3842-0B0E-36A419B8F7F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6647DF64-9C55-9F4D-F0F9-2E5452ED0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5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9740-9132-4F0A-D3B7-65EB3B5F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4FD6A-D14D-79D3-F238-E36A45D9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exercise 1 for chapter 2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5EEB51-0DCD-4D8A-D9F3-83C4C539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EF95928-EC8D-ABD8-8CC5-DC55950B7FEF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7BF55-EA56-3C02-33D8-D988CF25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21" y="1450871"/>
            <a:ext cx="10899503" cy="36806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339D958-B9A4-6785-5E2A-887971E70B6B}"/>
              </a:ext>
            </a:extLst>
          </p:cNvPr>
          <p:cNvSpPr/>
          <p:nvPr/>
        </p:nvSpPr>
        <p:spPr>
          <a:xfrm>
            <a:off x="4830417" y="2405270"/>
            <a:ext cx="1520687" cy="377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15094-A867-C0B7-5A33-12AD21CE0630}"/>
              </a:ext>
            </a:extLst>
          </p:cNvPr>
          <p:cNvSpPr/>
          <p:nvPr/>
        </p:nvSpPr>
        <p:spPr>
          <a:xfrm>
            <a:off x="7086600" y="2375453"/>
            <a:ext cx="1520687" cy="377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BA22F-47C4-8DF7-FFC1-612B911F091B}"/>
              </a:ext>
            </a:extLst>
          </p:cNvPr>
          <p:cNvSpPr/>
          <p:nvPr/>
        </p:nvSpPr>
        <p:spPr>
          <a:xfrm>
            <a:off x="5158409" y="2902228"/>
            <a:ext cx="1520687" cy="463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FD45E-94FF-5014-B623-9F9DCB7D34D4}"/>
              </a:ext>
            </a:extLst>
          </p:cNvPr>
          <p:cNvSpPr/>
          <p:nvPr/>
        </p:nvSpPr>
        <p:spPr>
          <a:xfrm>
            <a:off x="5158409" y="3409950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4F929-A7FA-EB4B-AB78-9F3CECCCF3DC}"/>
              </a:ext>
            </a:extLst>
          </p:cNvPr>
          <p:cNvSpPr/>
          <p:nvPr/>
        </p:nvSpPr>
        <p:spPr>
          <a:xfrm>
            <a:off x="6993559" y="3406775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FE173A-0206-3527-A6BA-2A1E072D412F}"/>
              </a:ext>
            </a:extLst>
          </p:cNvPr>
          <p:cNvSpPr/>
          <p:nvPr/>
        </p:nvSpPr>
        <p:spPr>
          <a:xfrm>
            <a:off x="5028401" y="3687512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A5BB3-F79F-37A9-8F7C-ACAE7FF5A14A}"/>
              </a:ext>
            </a:extLst>
          </p:cNvPr>
          <p:cNvSpPr/>
          <p:nvPr/>
        </p:nvSpPr>
        <p:spPr>
          <a:xfrm>
            <a:off x="7089811" y="3687512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0C3D1-B8C5-9A33-AE58-AAD20347FA5D}"/>
              </a:ext>
            </a:extLst>
          </p:cNvPr>
          <p:cNvSpPr/>
          <p:nvPr/>
        </p:nvSpPr>
        <p:spPr>
          <a:xfrm>
            <a:off x="5100590" y="4080543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8B928-D1D3-81CB-3FFC-899C8E7CFD0C}"/>
              </a:ext>
            </a:extLst>
          </p:cNvPr>
          <p:cNvSpPr/>
          <p:nvPr/>
        </p:nvSpPr>
        <p:spPr>
          <a:xfrm>
            <a:off x="9183305" y="4056480"/>
            <a:ext cx="1520687" cy="262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2D0A0-E04B-BFE0-0F60-10C4991B4E10}"/>
              </a:ext>
            </a:extLst>
          </p:cNvPr>
          <p:cNvSpPr/>
          <p:nvPr/>
        </p:nvSpPr>
        <p:spPr>
          <a:xfrm>
            <a:off x="5028401" y="4501356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D6AC1-AA0B-139C-127C-AE75C5840036}"/>
              </a:ext>
            </a:extLst>
          </p:cNvPr>
          <p:cNvSpPr/>
          <p:nvPr/>
        </p:nvSpPr>
        <p:spPr>
          <a:xfrm>
            <a:off x="6953454" y="4493334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17F247-5508-A36E-9D1D-1442EDEB46EC}"/>
              </a:ext>
            </a:extLst>
          </p:cNvPr>
          <p:cNvSpPr/>
          <p:nvPr/>
        </p:nvSpPr>
        <p:spPr>
          <a:xfrm>
            <a:off x="4972253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C2CE3F-E958-741C-BE4C-886271D8A916}"/>
              </a:ext>
            </a:extLst>
          </p:cNvPr>
          <p:cNvSpPr/>
          <p:nvPr/>
        </p:nvSpPr>
        <p:spPr>
          <a:xfrm>
            <a:off x="7137937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265499-5868-8E33-50DF-B369340B45D3}"/>
              </a:ext>
            </a:extLst>
          </p:cNvPr>
          <p:cNvSpPr/>
          <p:nvPr/>
        </p:nvSpPr>
        <p:spPr>
          <a:xfrm>
            <a:off x="9159242" y="4766051"/>
            <a:ext cx="1520687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DE08-8D9B-FFBD-18EE-4D844828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57FB2-4AD6-2336-6C6A-AF8DBDE4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Review of exercise 2 for chapter 2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8D0926-A709-C233-026E-487D0DAB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9A8339B-E884-DB38-F52A-0985B271D8B2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530241-A1E3-C030-EDBF-1A47DA8D3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79" y="1450871"/>
            <a:ext cx="10578041" cy="3648051"/>
          </a:xfrm>
          <a:prstGeom prst="rect">
            <a:avLst/>
          </a:prstGeom>
        </p:spPr>
      </p:pic>
      <p:pic>
        <p:nvPicPr>
          <p:cNvPr id="22" name="Immagine 3">
            <a:extLst>
              <a:ext uri="{FF2B5EF4-FFF2-40B4-BE49-F238E27FC236}">
                <a16:creationId xmlns:a16="http://schemas.microsoft.com/office/drawing/2014/main" id="{F17491CD-A664-E286-5438-82D3FF6ECE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252395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0D36-533D-09B2-529F-A29142C2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F374CE-45DF-4C0C-61CE-406CA081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AB7EBC-6002-3302-6AE7-851F75E4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D6F711A-6209-857E-CC30-6A79FD799DF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D24F23AF-B2AC-ADF5-5A7D-AAAEAF88DFF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0092CC9-1A96-167A-D388-C20DB38B2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u="sng" dirty="0">
                <a:solidFill>
                  <a:srgbClr val="002060"/>
                </a:solidFill>
                <a:latin typeface="Garamond" panose="02020404030301010803" pitchFamily="18" charset="0"/>
              </a:rPr>
              <a:t>Beginning year balances</a:t>
            </a:r>
            <a:endParaRPr lang="en-US" u="sng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u="sng" dirty="0">
                <a:solidFill>
                  <a:srgbClr val="002060"/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7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A28F-8191-3BF1-B900-E4A80512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2E789-D4EF-8DF8-E335-83A46911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98CEFC-BF04-0DE5-3C56-AADC4844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CBB3F352-DDE8-BCFA-B363-D99E79F5FD6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648FE9D9-19C2-E302-CB73-CE88CB3EDA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10CB09-AD90-58A7-356C-81689C21F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789589"/>
              </p:ext>
            </p:extLst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33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BAD3-D433-E138-4A3C-6CCD33BF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71213-EFA2-CF4F-F28D-F3DB6BEE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06FEF6-4302-C7CF-471B-203A5CA7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A6F50AF-FCF5-802A-DC9C-6071469D6BCA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FD9D37D8-A89B-FE8C-2227-971506F6EE1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826BE0-52AC-3CC8-9E98-B386CAB0D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983828"/>
              </p:ext>
            </p:extLst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150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160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10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2168-AD3C-27DC-248A-66C2010C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10C0A-7F39-E931-24A2-CF263A9A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Beginning of year balances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7D117A-675C-A275-20FC-D400EAF0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C504487-793E-5BBA-67EA-6190FE90798B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1F009DAA-1713-C70A-9A81-BFFA88AAA8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111639-B425-7962-70F5-8021CE99A4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09651" y="1448426"/>
          <a:ext cx="10661647" cy="5346504"/>
        </p:xfrm>
        <a:graphic>
          <a:graphicData uri="http://schemas.openxmlformats.org/drawingml/2006/table">
            <a:tbl>
              <a:tblPr/>
              <a:tblGrid>
                <a:gridCol w="1743281">
                  <a:extLst>
                    <a:ext uri="{9D8B030D-6E8A-4147-A177-3AD203B41FA5}">
                      <a16:colId xmlns:a16="http://schemas.microsoft.com/office/drawing/2014/main" val="2935613894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672507"/>
                    </a:ext>
                  </a:extLst>
                </a:gridCol>
                <a:gridCol w="1530686">
                  <a:extLst>
                    <a:ext uri="{9D8B030D-6E8A-4147-A177-3AD203B41FA5}">
                      <a16:colId xmlns:a16="http://schemas.microsoft.com/office/drawing/2014/main" val="4193531757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4181199871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65661686"/>
                    </a:ext>
                  </a:extLst>
                </a:gridCol>
                <a:gridCol w="311806">
                  <a:extLst>
                    <a:ext uri="{9D8B030D-6E8A-4147-A177-3AD203B41FA5}">
                      <a16:colId xmlns:a16="http://schemas.microsoft.com/office/drawing/2014/main" val="358379187"/>
                    </a:ext>
                  </a:extLst>
                </a:gridCol>
                <a:gridCol w="1562575">
                  <a:extLst>
                    <a:ext uri="{9D8B030D-6E8A-4147-A177-3AD203B41FA5}">
                      <a16:colId xmlns:a16="http://schemas.microsoft.com/office/drawing/2014/main" val="2879789863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915025977"/>
                    </a:ext>
                  </a:extLst>
                </a:gridCol>
                <a:gridCol w="1629897">
                  <a:extLst>
                    <a:ext uri="{9D8B030D-6E8A-4147-A177-3AD203B41FA5}">
                      <a16:colId xmlns:a16="http://schemas.microsoft.com/office/drawing/2014/main" val="279501798"/>
                    </a:ext>
                  </a:extLst>
                </a:gridCol>
                <a:gridCol w="892899">
                  <a:extLst>
                    <a:ext uri="{9D8B030D-6E8A-4147-A177-3AD203B41FA5}">
                      <a16:colId xmlns:a16="http://schemas.microsoft.com/office/drawing/2014/main" val="1215822533"/>
                    </a:ext>
                  </a:extLst>
                </a:gridCol>
              </a:tblGrid>
              <a:tr h="207521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Asset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Equity and liab. accounts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3476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540654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Cash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Common stock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7940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8018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925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52299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150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551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147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3055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615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800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01518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95407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Inventory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Accounts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513260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96672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225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500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335111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150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8666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7795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375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81053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3219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20062"/>
                  </a:ext>
                </a:extLst>
              </a:tr>
              <a:tr h="20752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Property, plant, and equipment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Salaries payable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07828"/>
                  </a:ext>
                </a:extLst>
              </a:tr>
              <a:tr h="22135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Debit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Credit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46010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450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160</a:t>
                      </a:r>
                    </a:p>
                  </a:txBody>
                  <a:tcPr marL="9411" marR="9411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300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(1/1-25)</a:t>
                      </a:r>
                    </a:p>
                  </a:txBody>
                  <a:tcPr marL="9411" marR="56466" marT="941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2662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364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64997"/>
                  </a:ext>
                </a:extLst>
              </a:tr>
              <a:tr h="1952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250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9411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140</a:t>
                      </a:r>
                    </a:p>
                  </a:txBody>
                  <a:tcPr marL="9411" marR="9411" marT="94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11" marR="56466" marT="9411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64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132032-DC2C-A143-F899-9AB1E80958B2}"/>
              </a:ext>
            </a:extLst>
          </p:cNvPr>
          <p:cNvSpPr txBox="1"/>
          <p:nvPr/>
        </p:nvSpPr>
        <p:spPr>
          <a:xfrm>
            <a:off x="7793012" y="9617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800 + 300 + 140 = 1240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9DDF-E3C4-DD94-8513-3CBF3E07C39D}"/>
              </a:ext>
            </a:extLst>
          </p:cNvPr>
          <p:cNvSpPr txBox="1"/>
          <p:nvPr/>
        </p:nvSpPr>
        <p:spPr>
          <a:xfrm>
            <a:off x="7793012" y="6061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Debit: 615 + 375 + 250 = 1240</a:t>
            </a:r>
          </a:p>
        </p:txBody>
      </p:sp>
    </p:spTree>
    <p:extLst>
      <p:ext uri="{BB962C8B-B14F-4D97-AF65-F5344CB8AC3E}">
        <p14:creationId xmlns:p14="http://schemas.microsoft.com/office/powerpoint/2010/main" val="288272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337C-7E7E-D734-471F-8A1DF887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4285EB-9FED-EEE0-FC82-B1BDB336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Trial balance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0F8BB5-625C-F3FA-0F7F-92853BB0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3980327-B2F5-0A85-E8DF-273599906F1F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B80135BC-15D0-FCED-42B5-AB033D2453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CF6F2-2F83-55B5-AB28-A446CAA3ABBB}"/>
              </a:ext>
            </a:extLst>
          </p:cNvPr>
          <p:cNvSpPr txBox="1"/>
          <p:nvPr/>
        </p:nvSpPr>
        <p:spPr>
          <a:xfrm>
            <a:off x="7793012" y="9617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800 + 300 + 140 = 1240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E415-4611-A9DD-7683-F2F8979443B5}"/>
              </a:ext>
            </a:extLst>
          </p:cNvPr>
          <p:cNvSpPr txBox="1"/>
          <p:nvPr/>
        </p:nvSpPr>
        <p:spPr>
          <a:xfrm>
            <a:off x="7793012" y="606105"/>
            <a:ext cx="344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Debit: 615 + 375 + 250 = 1240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E2821C2-81B6-1E0A-CBC9-D1C90682B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930862"/>
              </p:ext>
            </p:extLst>
          </p:nvPr>
        </p:nvGraphicFramePr>
        <p:xfrm>
          <a:off x="1866900" y="1686637"/>
          <a:ext cx="8458199" cy="4913552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211319">
                  <a:extLst>
                    <a:ext uri="{9D8B030D-6E8A-4147-A177-3AD203B41FA5}">
                      <a16:colId xmlns:a16="http://schemas.microsoft.com/office/drawing/2014/main" val="341412447"/>
                    </a:ext>
                  </a:extLst>
                </a:gridCol>
                <a:gridCol w="2106225">
                  <a:extLst>
                    <a:ext uri="{9D8B030D-6E8A-4147-A177-3AD203B41FA5}">
                      <a16:colId xmlns:a16="http://schemas.microsoft.com/office/drawing/2014/main" val="1921407887"/>
                    </a:ext>
                  </a:extLst>
                </a:gridCol>
                <a:gridCol w="2140655">
                  <a:extLst>
                    <a:ext uri="{9D8B030D-6E8A-4147-A177-3AD203B41FA5}">
                      <a16:colId xmlns:a16="http://schemas.microsoft.com/office/drawing/2014/main" val="2549086103"/>
                    </a:ext>
                  </a:extLst>
                </a:gridCol>
              </a:tblGrid>
              <a:tr h="570772">
                <a:tc>
                  <a:txBody>
                    <a:bodyPr/>
                    <a:lstStyle/>
                    <a:p>
                      <a:r>
                        <a:rPr lang="en-US" dirty="0"/>
                        <a:t>Company A – Unadjusted Trial Balance </a:t>
                      </a:r>
                    </a:p>
                    <a:p>
                      <a:r>
                        <a:rPr lang="en-US" dirty="0"/>
                        <a:t>Dec 31, 2025 (in millions of euros)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Debit</a:t>
                      </a:r>
                      <a:endParaRPr lang="en-US" sz="20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Credit</a:t>
                      </a:r>
                      <a:endParaRPr lang="en-US" sz="200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540498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Cash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150861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Inventory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37995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Property, plant, and equipment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93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Salaries payable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95994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Accounts payable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586508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dirty="0"/>
                        <a:t>Common stock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539791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71772"/>
                  </a:ext>
                </a:extLst>
              </a:tr>
              <a:tr h="534184">
                <a:tc>
                  <a:txBody>
                    <a:bodyPr/>
                    <a:lstStyle/>
                    <a:p>
                      <a:r>
                        <a:rPr lang="en-US" i="1" dirty="0"/>
                        <a:t>Total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7098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9150B61-2DC8-7933-A5F6-BBE16A0F7EC1}"/>
              </a:ext>
            </a:extLst>
          </p:cNvPr>
          <p:cNvSpPr/>
          <p:nvPr/>
        </p:nvSpPr>
        <p:spPr>
          <a:xfrm>
            <a:off x="6626578" y="2460978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D98C03-8A3B-EA78-FAF7-40C1DDA8562F}"/>
              </a:ext>
            </a:extLst>
          </p:cNvPr>
          <p:cNvSpPr/>
          <p:nvPr/>
        </p:nvSpPr>
        <p:spPr>
          <a:xfrm>
            <a:off x="6604001" y="3014134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50D1A-8AE0-CE12-CCD1-F9DB712C8B8F}"/>
              </a:ext>
            </a:extLst>
          </p:cNvPr>
          <p:cNvSpPr/>
          <p:nvPr/>
        </p:nvSpPr>
        <p:spPr>
          <a:xfrm>
            <a:off x="6660445" y="3533423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5456C1-279F-3943-2055-49DA77DA57E8}"/>
              </a:ext>
            </a:extLst>
          </p:cNvPr>
          <p:cNvSpPr/>
          <p:nvPr/>
        </p:nvSpPr>
        <p:spPr>
          <a:xfrm>
            <a:off x="8636001" y="4109157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4E97B-EFE4-6242-1BCA-5D2C103D93E5}"/>
              </a:ext>
            </a:extLst>
          </p:cNvPr>
          <p:cNvSpPr/>
          <p:nvPr/>
        </p:nvSpPr>
        <p:spPr>
          <a:xfrm>
            <a:off x="8664223" y="4617807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54697-1098-34E5-5E17-C6910D23A1F7}"/>
              </a:ext>
            </a:extLst>
          </p:cNvPr>
          <p:cNvSpPr/>
          <p:nvPr/>
        </p:nvSpPr>
        <p:spPr>
          <a:xfrm>
            <a:off x="8794045" y="5159023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3D83F2-E56D-0074-5B33-28600DC724DC}"/>
              </a:ext>
            </a:extLst>
          </p:cNvPr>
          <p:cNvSpPr/>
          <p:nvPr/>
        </p:nvSpPr>
        <p:spPr>
          <a:xfrm>
            <a:off x="6637868" y="6231468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B190EC-6EA8-99C1-C0A2-3976A9EC69E4}"/>
              </a:ext>
            </a:extLst>
          </p:cNvPr>
          <p:cNvSpPr/>
          <p:nvPr/>
        </p:nvSpPr>
        <p:spPr>
          <a:xfrm>
            <a:off x="8692445" y="6220179"/>
            <a:ext cx="1027289" cy="282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5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1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4E7B-D0D2-3912-0A70-98499AC7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EDE07C-79F3-25B8-229F-9E6E0ED8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BC1346-591E-B793-70F2-1E0CEDE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3F34D9F-F350-91DC-02B2-46A544869D44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1BF87A95-47DD-10D6-0344-DD4D67A118D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0C4A71-3A8A-37DC-88BE-9766959A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285" y="1690688"/>
            <a:ext cx="10515600" cy="4351338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12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Recording transactions and preparing an unadjusted trial balance.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Open and solve: 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Blackboard page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Extra materials  Session 4 exercise. </a:t>
            </a:r>
            <a:endParaRPr lang="en-US" b="1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1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8C98-FEBA-5DB1-D726-94F7EA6F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AA694E-EA22-A95E-164C-C672241D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835C07-894E-9AAA-F975-1A5748F5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A6EEA1E-1085-FE54-A9A7-5DC7C7DBF841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5A6F6917-D7FE-278E-9B9A-54765B7112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F9B8AC-8422-F5F3-1049-9AABBFB47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285" y="1690688"/>
            <a:ext cx="10515600" cy="4351338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6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Reviewing recorded transactions and an unadjusted trial balance.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dirty="0">
                <a:latin typeface="Garamond" panose="02020404030301010803" pitchFamily="18" charset="0"/>
              </a:rPr>
              <a:t>Open the guiding solutions and review the answers of one of your co-students next to you: 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Blackboard page </a:t>
            </a:r>
            <a:r>
              <a:rPr lang="en-US" b="1" dirty="0">
                <a:latin typeface="Garamond" panose="02020404030301010803" pitchFamily="18" charset="0"/>
                <a:sym typeface="Wingdings" pitchFamily="2" charset="2"/>
              </a:rPr>
              <a:t> Extra materials  Session 4 exercise. </a:t>
            </a: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  <a:sym typeface="Wingdings" pitchFamily="2" charset="2"/>
            </a:endParaRPr>
          </a:p>
          <a:p>
            <a:pPr marL="0" indent="0" defTabSz="1097280">
              <a:buNone/>
            </a:pPr>
            <a:endParaRPr lang="en-US" b="1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16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6F37-938E-9EC5-2202-FD37D41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DA677E-F719-6B55-AE13-A573A999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930457-2204-278C-FE1A-71817A95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C4D9FEF-5E07-6469-02A6-9A85C0A7DD9B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CAF03C56-9B46-6F0B-9E0D-A409E67443C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13430790-FFF4-98FB-E8BD-BBEACCD64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chemeClr val="bg1">
                  <a:lumMod val="75000"/>
                </a:schemeClr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u="sng" dirty="0">
                <a:solidFill>
                  <a:srgbClr val="002060"/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95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DAAA-318C-2629-FF98-7E10C215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669353-5263-C6C2-3BD9-6CFF7EFD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D6C77C-21C1-1698-B7B8-5D43DEC9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13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166CA95-1050-4B78-7203-59B2EFBE3AFD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C2F3BE3C-CE89-5BE4-F767-9455DF22A9E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2AED54B5-944A-76AF-3F49-C22E3881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9ED93-5956-1D5D-2DA3-ACDAA940D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54" y="1417873"/>
            <a:ext cx="7772400" cy="52112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EA7CDC-0478-2386-7929-DA7F8284CC8D}"/>
              </a:ext>
            </a:extLst>
          </p:cNvPr>
          <p:cNvSpPr/>
          <p:nvPr/>
        </p:nvSpPr>
        <p:spPr>
          <a:xfrm>
            <a:off x="7653394" y="2506898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AA31B3-F776-B7CF-81D3-82CDAB55040F}"/>
              </a:ext>
            </a:extLst>
          </p:cNvPr>
          <p:cNvSpPr/>
          <p:nvPr/>
        </p:nvSpPr>
        <p:spPr>
          <a:xfrm>
            <a:off x="9743440" y="4063523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BB7AB2-8AF9-DF09-5B1E-EA2CA580D3A2}"/>
              </a:ext>
            </a:extLst>
          </p:cNvPr>
          <p:cNvSpPr/>
          <p:nvPr/>
        </p:nvSpPr>
        <p:spPr>
          <a:xfrm>
            <a:off x="7414634" y="5630238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7804A-561F-4E91-815B-B4F0547A9E36}"/>
              </a:ext>
            </a:extLst>
          </p:cNvPr>
          <p:cNvSpPr/>
          <p:nvPr/>
        </p:nvSpPr>
        <p:spPr>
          <a:xfrm>
            <a:off x="1519702" y="409098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8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1DB6-25F3-1DC9-DD2F-15CD54E6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32AD8-9E31-365F-7792-5F9920E0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829479-FF97-79BD-C24B-1119956F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EFB6962-E264-89CA-07F6-BE2698A253DB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9E42AA23-A18D-D18C-A1AC-036946C5776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67A694-5832-B7F3-827E-6417AF703435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952000-7F0B-9738-BBF5-7AC16A2788C4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E28F0B-ED8D-CF97-4ECF-F844F7B9B449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15C59-CE03-C3F3-4175-76DA6AB01487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7D757-E194-A578-61E4-2BF04F60C788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50F66B-DD14-B3EB-92B3-BBFEA3EE980A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084AEB-D83C-CE6A-95B6-3004147AFEEF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83A5B9-0FAE-3BC3-110D-D930F5E3A030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DD4EBC-A747-C239-03C9-FD5DC93D5431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EA0BE-0C33-7515-9D58-344AAEE80594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7EB43-DA90-2528-DDD0-B039521F12E8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E27EF-0BC3-8438-1D9B-BC2A0D2CA5C1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59ACCF-D628-C177-BBEE-2679173DC7A4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EECC93-5561-4136-7C14-A19C518DA285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171184-8ACD-95E7-E9A8-75D4B8193153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FA14A2-9AF0-E00C-8083-F979197741BE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112789-1D0D-A751-C38E-94AF5494DEB7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C2713-E647-07B7-75AB-35A00DAB7383}"/>
              </a:ext>
            </a:extLst>
          </p:cNvPr>
          <p:cNvSpPr txBox="1"/>
          <p:nvPr/>
        </p:nvSpPr>
        <p:spPr>
          <a:xfrm>
            <a:off x="1526492" y="352552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95CEC-CD0B-D6D7-D978-E40FB5C6420B}"/>
              </a:ext>
            </a:extLst>
          </p:cNvPr>
          <p:cNvSpPr txBox="1"/>
          <p:nvPr/>
        </p:nvSpPr>
        <p:spPr>
          <a:xfrm>
            <a:off x="1536652" y="385064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B4BEA-CACA-FABE-66C0-E384D90CC01A}"/>
              </a:ext>
            </a:extLst>
          </p:cNvPr>
          <p:cNvSpPr txBox="1"/>
          <p:nvPr/>
        </p:nvSpPr>
        <p:spPr>
          <a:xfrm>
            <a:off x="1536652" y="4492176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=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3A407-8AEF-9506-4B6B-10C28044FBF1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20 - 10 = 10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D2FEB228-9118-EC82-A9E7-ABEFACE68660}"/>
              </a:ext>
            </a:extLst>
          </p:cNvPr>
          <p:cNvSpPr/>
          <p:nvPr/>
        </p:nvSpPr>
        <p:spPr>
          <a:xfrm>
            <a:off x="4099382" y="3598021"/>
            <a:ext cx="259715" cy="101086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4F0A5-D2D6-2FA0-0A5F-8E2D7C32C09E}"/>
              </a:ext>
            </a:extLst>
          </p:cNvPr>
          <p:cNvSpPr txBox="1"/>
          <p:nvPr/>
        </p:nvSpPr>
        <p:spPr>
          <a:xfrm>
            <a:off x="4468495" y="3843038"/>
            <a:ext cx="232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 statement</a:t>
            </a:r>
          </a:p>
        </p:txBody>
      </p:sp>
    </p:spTree>
    <p:extLst>
      <p:ext uri="{BB962C8B-B14F-4D97-AF65-F5344CB8AC3E}">
        <p14:creationId xmlns:p14="http://schemas.microsoft.com/office/powerpoint/2010/main" val="87366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8" grpId="0" animBg="1"/>
      <p:bldP spid="39" grpId="0" animBg="1"/>
      <p:bldP spid="40" grpId="0" animBg="1"/>
      <p:bldP spid="41" grpId="0" animBg="1"/>
      <p:bldP spid="3" grpId="0"/>
      <p:bldP spid="5" grpId="0"/>
      <p:bldP spid="8" grpId="0"/>
      <p:bldP spid="9" grpId="0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7B96-920B-6401-BB8E-DACE65DB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CB3278-F9C7-8BDE-60C3-5C7DF280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9F929B2A-FE8E-3F6F-BD23-127F81B821E1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F644BE2B-027F-B219-7262-821E6E3B339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B9C4FC-5708-4917-997E-1429AEE00417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D1C015-E386-A23A-BAD0-711317A68D6B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F75F12-F952-B491-6E5F-F425489D4D02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9D44C-F154-296B-0DAB-2877E66AA82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25F6C-C4D3-3130-CA40-CA7523AA3040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5E94E3-EF66-07A9-025D-D256A913A8F9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79B847-8E45-D64A-B946-DB79382D861B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18DFD6-2E2E-823F-1F62-F041902B648C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11DC3B-BB13-3EF0-6061-B0A726AFDFBE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0F2266-509A-B997-AD41-34073AF06AB2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629061-5FC2-5D8D-E513-EC6DBD6F7B5E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E12D8-CD72-EA6C-150A-6DC01B49A079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46B0C-7C73-EB53-67F7-DD01EB7EA958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A83EA4-1F13-E179-2083-21FDC6D94FE1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9EA80-5424-7AB2-62C5-81C9A5A67F94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6AACC-9ABE-8866-9E78-0AC9B17F1C12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BBB3E0-0B7C-4D3E-F813-B843820BB233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ADC79D-6329-9BDC-5DE1-E28CB775019C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CABB6C-35FE-192D-8F7B-92FDC6175F01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EF580E-24F2-6A2E-AE2F-C065923AA0D0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A1666A-F84C-3A0F-4C27-CF30FFA758CA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A53F4-547B-AA98-CA93-F66859A8CDB7}"/>
              </a:ext>
            </a:extLst>
          </p:cNvPr>
          <p:cNvSpPr txBox="1"/>
          <p:nvPr/>
        </p:nvSpPr>
        <p:spPr>
          <a:xfrm>
            <a:off x="1526492" y="352552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20= 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CD968-68DC-55EF-40CA-84DD2071BE96}"/>
              </a:ext>
            </a:extLst>
          </p:cNvPr>
          <p:cNvSpPr txBox="1"/>
          <p:nvPr/>
        </p:nvSpPr>
        <p:spPr>
          <a:xfrm>
            <a:off x="1536652" y="385064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C61D5-1317-5018-36B4-AD0B9A7CA9A1}"/>
              </a:ext>
            </a:extLst>
          </p:cNvPr>
          <p:cNvSpPr txBox="1"/>
          <p:nvPr/>
        </p:nvSpPr>
        <p:spPr>
          <a:xfrm>
            <a:off x="1536652" y="4492176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175D0-E949-8427-8960-94D01D751788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30" name="Titolo 1">
            <a:extLst>
              <a:ext uri="{FF2B5EF4-FFF2-40B4-BE49-F238E27FC236}">
                <a16:creationId xmlns:a16="http://schemas.microsoft.com/office/drawing/2014/main" id="{A4B1979C-3AE1-80C4-E707-7B4446F6F458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10" grpId="0"/>
      <p:bldP spid="11" grpId="0"/>
      <p:bldP spid="12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6A24-C980-DED4-3044-4B6AA9F8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695CB1-35A2-FAF9-5915-3E72B6D8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80BBE7B-9A04-787C-5B3D-EA4E78F50308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A21E4EDA-4CA1-9FFE-B86C-92CFEBEFDB2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8CAFC4-2FC2-01EA-1D0A-BEA1C4FBA80F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566D43-73F3-599E-D727-261A95BFD952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BF176E9-B0CA-8034-F0FB-5C870A5D108D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CB92B-3BEC-6EF3-8C1E-E88A3E97902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F9226-2AA0-4EF6-5F5E-48ECB8294185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6638BC-333D-9429-F85D-698543098AAA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4E1046-8DDC-C07C-174B-074D7BBBFD6B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803ED7-1B91-3FF0-6456-1B735AB2902E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99012-788A-F104-030F-40585A6B4633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AA36DB-A587-D0B5-AD0B-B8FF402050EA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A4010C-A4C4-7E3A-8E24-7253E7C051DC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D1F828-44C9-17DC-8319-A919BA8FB5D0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D3EE92-7CC4-3FD8-2C88-21FE1C90DA23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4D1E32-8CFD-DE3E-3FB0-4532FB641C31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3A4A7D-32D6-F99F-9245-BFB47AE75EDF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6D1A8F-A8F7-820F-3CB1-495728B73F7A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466305-8DF1-2640-95E2-D165916854F0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AB7EDB-B96B-94E3-C1FB-12987E0BB97D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EEE6EA-A48B-672C-0187-8B18ACE676D7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32DA8B-94AD-ED7B-DF32-9A4EDE810B54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045A41-B78F-2106-0EEA-1D7F1744A013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BDFC8D-0EE7-0F05-BB47-FFA097D62095}"/>
              </a:ext>
            </a:extLst>
          </p:cNvPr>
          <p:cNvSpPr/>
          <p:nvPr/>
        </p:nvSpPr>
        <p:spPr>
          <a:xfrm>
            <a:off x="3802332" y="33438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BF34DE-FDCB-BF2F-16E6-9AFEEBD8AE7D}"/>
              </a:ext>
            </a:extLst>
          </p:cNvPr>
          <p:cNvSpPr/>
          <p:nvPr/>
        </p:nvSpPr>
        <p:spPr>
          <a:xfrm>
            <a:off x="4560603" y="33526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4CD0B-64D9-1EF8-C62B-17355F2FE180}"/>
              </a:ext>
            </a:extLst>
          </p:cNvPr>
          <p:cNvSpPr/>
          <p:nvPr/>
        </p:nvSpPr>
        <p:spPr>
          <a:xfrm>
            <a:off x="5318874" y="33438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5EB9D6-57AA-603A-A695-6E06F06E1942}"/>
              </a:ext>
            </a:extLst>
          </p:cNvPr>
          <p:cNvSpPr/>
          <p:nvPr/>
        </p:nvSpPr>
        <p:spPr>
          <a:xfrm>
            <a:off x="6037743" y="33526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275EC-F124-466E-3789-FAAD4A1CAE68}"/>
              </a:ext>
            </a:extLst>
          </p:cNvPr>
          <p:cNvSpPr txBox="1"/>
          <p:nvPr/>
        </p:nvSpPr>
        <p:spPr>
          <a:xfrm>
            <a:off x="1526492" y="352552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1ACA5-A154-0888-F7ED-0B8F113861CA}"/>
              </a:ext>
            </a:extLst>
          </p:cNvPr>
          <p:cNvSpPr txBox="1"/>
          <p:nvPr/>
        </p:nvSpPr>
        <p:spPr>
          <a:xfrm>
            <a:off x="1536652" y="385064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38AFE-972B-55B0-B54A-A6AA7F03E236}"/>
              </a:ext>
            </a:extLst>
          </p:cNvPr>
          <p:cNvSpPr txBox="1"/>
          <p:nvPr/>
        </p:nvSpPr>
        <p:spPr>
          <a:xfrm>
            <a:off x="1536652" y="4492176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58353-EF93-BACF-0FDF-B01C92DB3A74}"/>
              </a:ext>
            </a:extLst>
          </p:cNvPr>
          <p:cNvSpPr txBox="1"/>
          <p:nvPr/>
        </p:nvSpPr>
        <p:spPr>
          <a:xfrm>
            <a:off x="1556972" y="416705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3B4B05-6DF2-32D2-C726-872F1EBEE4D7}"/>
              </a:ext>
            </a:extLst>
          </p:cNvPr>
          <p:cNvSpPr txBox="1"/>
          <p:nvPr/>
        </p:nvSpPr>
        <p:spPr>
          <a:xfrm>
            <a:off x="1516332" y="4847776"/>
            <a:ext cx="280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Inventory = 10</a:t>
            </a:r>
          </a:p>
          <a:p>
            <a:r>
              <a:rPr lang="en-US" dirty="0"/>
              <a:t>Accounts payable = 10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6AA10-DA27-2E35-322F-DC34B512E62A}"/>
              </a:ext>
            </a:extLst>
          </p:cNvPr>
          <p:cNvSpPr txBox="1"/>
          <p:nvPr/>
        </p:nvSpPr>
        <p:spPr>
          <a:xfrm>
            <a:off x="4731643" y="3982390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20956-20E4-A080-D062-DBFF5649ED59}"/>
              </a:ext>
            </a:extLst>
          </p:cNvPr>
          <p:cNvSpPr txBox="1"/>
          <p:nvPr/>
        </p:nvSpPr>
        <p:spPr>
          <a:xfrm>
            <a:off x="4741803" y="4307510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3BBC7-CF49-2011-7415-6F84FF4B38BA}"/>
              </a:ext>
            </a:extLst>
          </p:cNvPr>
          <p:cNvSpPr txBox="1"/>
          <p:nvPr/>
        </p:nvSpPr>
        <p:spPr>
          <a:xfrm>
            <a:off x="4741803" y="4902672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20 + 20 – 10 = 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1A4B6E-ADD7-FDBD-9B20-CEBD0DB25AEB}"/>
              </a:ext>
            </a:extLst>
          </p:cNvPr>
          <p:cNvSpPr txBox="1"/>
          <p:nvPr/>
        </p:nvSpPr>
        <p:spPr>
          <a:xfrm>
            <a:off x="4747212" y="4583616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10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D7F17C08-69DD-E159-5769-6B30A541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itolo 1">
            <a:extLst>
              <a:ext uri="{FF2B5EF4-FFF2-40B4-BE49-F238E27FC236}">
                <a16:creationId xmlns:a16="http://schemas.microsoft.com/office/drawing/2014/main" id="{C72E46F6-BA96-640D-B0CD-805D1E5D9942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3" grpId="0"/>
      <p:bldP spid="5" grpId="0"/>
      <p:bldP spid="8" grpId="0"/>
      <p:bldP spid="9" grpId="0"/>
      <p:bldP spid="18" grpId="0"/>
      <p:bldP spid="19" grpId="0"/>
      <p:bldP spid="20" grpId="0"/>
      <p:bldP spid="30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02DC-6224-8002-C943-9C7B3FFC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CEB0AA-57C9-EE8F-A171-1C666D43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C38FAB2-B579-AA85-DC86-0EB0FA2442CC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DBBBE93C-0C03-2758-2BB6-B58F4C640FE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B8940D-79A8-E241-96B2-64C4C096BDD6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77B5BB-894E-AADC-0AA5-24BE985543DF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D0506C-10F7-D723-1437-ED42716939C9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F6FF0-ADBA-F293-34C8-579C9E078255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D7418-919B-008A-AC4C-0F84EFC24B33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38CA4B-3AFC-57A9-4C45-7063FFC7D2BF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EACCCC-00DD-2A5A-5BE3-3D7202AF0B2D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FCA74-9098-A02D-5224-2E347B4BB094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1E6E9E-86A6-79D8-E95C-0FCE64A5C832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A6C41-3579-A5AC-774B-804FA4AE3F62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D6FBB-2053-8146-C0DB-A644601A1366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775AB-352D-4FC8-DF42-57EF98C4619F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C83C9-77F4-C2FB-EE38-F7484C1792A7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7053ED-1644-42E5-AD82-544EE83850CA}"/>
              </a:ext>
            </a:extLst>
          </p:cNvPr>
          <p:cNvSpPr/>
          <p:nvPr/>
        </p:nvSpPr>
        <p:spPr>
          <a:xfrm>
            <a:off x="1526492" y="20941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2202C7-08D7-E9FF-3DC8-0ACAA2B40B72}"/>
              </a:ext>
            </a:extLst>
          </p:cNvPr>
          <p:cNvSpPr/>
          <p:nvPr/>
        </p:nvSpPr>
        <p:spPr>
          <a:xfrm>
            <a:off x="2284763" y="21030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FA1E6-EE14-B327-082F-DC3D4CB0C38D}"/>
              </a:ext>
            </a:extLst>
          </p:cNvPr>
          <p:cNvSpPr/>
          <p:nvPr/>
        </p:nvSpPr>
        <p:spPr>
          <a:xfrm>
            <a:off x="3043034" y="20941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06C1F7-9A6C-BA8D-7433-168E94FFE69E}"/>
              </a:ext>
            </a:extLst>
          </p:cNvPr>
          <p:cNvSpPr/>
          <p:nvPr/>
        </p:nvSpPr>
        <p:spPr>
          <a:xfrm>
            <a:off x="3761903" y="21030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1646C9-91DB-5B37-37E1-ABB2A7D0F66D}"/>
              </a:ext>
            </a:extLst>
          </p:cNvPr>
          <p:cNvSpPr/>
          <p:nvPr/>
        </p:nvSpPr>
        <p:spPr>
          <a:xfrm>
            <a:off x="2268172" y="270372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A30933-F486-7777-DEFA-D7A3F26D3B56}"/>
              </a:ext>
            </a:extLst>
          </p:cNvPr>
          <p:cNvSpPr/>
          <p:nvPr/>
        </p:nvSpPr>
        <p:spPr>
          <a:xfrm>
            <a:off x="3026443" y="271261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A630EA-7E67-1309-7729-E41C332F0A29}"/>
              </a:ext>
            </a:extLst>
          </p:cNvPr>
          <p:cNvSpPr/>
          <p:nvPr/>
        </p:nvSpPr>
        <p:spPr>
          <a:xfrm>
            <a:off x="3784714" y="270372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CE02DA-EAE6-D45E-5E68-AC7B058B2DCE}"/>
              </a:ext>
            </a:extLst>
          </p:cNvPr>
          <p:cNvSpPr/>
          <p:nvPr/>
        </p:nvSpPr>
        <p:spPr>
          <a:xfrm>
            <a:off x="4564543" y="271261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DD44D7-4D63-C57D-1F3F-C797547C0D56}"/>
              </a:ext>
            </a:extLst>
          </p:cNvPr>
          <p:cNvSpPr/>
          <p:nvPr/>
        </p:nvSpPr>
        <p:spPr>
          <a:xfrm>
            <a:off x="3802332" y="33438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36AF81-70A0-9A08-823C-F953A34D3369}"/>
              </a:ext>
            </a:extLst>
          </p:cNvPr>
          <p:cNvSpPr/>
          <p:nvPr/>
        </p:nvSpPr>
        <p:spPr>
          <a:xfrm>
            <a:off x="4560603" y="33526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C1B05B-339F-DD75-15C1-7FD09F55E656}"/>
              </a:ext>
            </a:extLst>
          </p:cNvPr>
          <p:cNvSpPr/>
          <p:nvPr/>
        </p:nvSpPr>
        <p:spPr>
          <a:xfrm>
            <a:off x="5318874" y="33438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5618DF-6D07-0A6E-8E8B-6AAA117FB5FC}"/>
              </a:ext>
            </a:extLst>
          </p:cNvPr>
          <p:cNvSpPr/>
          <p:nvPr/>
        </p:nvSpPr>
        <p:spPr>
          <a:xfrm>
            <a:off x="6037743" y="33526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804F31-7A07-654D-0C9A-29284895E2D8}"/>
              </a:ext>
            </a:extLst>
          </p:cNvPr>
          <p:cNvSpPr/>
          <p:nvPr/>
        </p:nvSpPr>
        <p:spPr>
          <a:xfrm>
            <a:off x="4564332" y="395340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DC03D2-9893-E675-6200-D461F3FDA8C3}"/>
              </a:ext>
            </a:extLst>
          </p:cNvPr>
          <p:cNvSpPr/>
          <p:nvPr/>
        </p:nvSpPr>
        <p:spPr>
          <a:xfrm>
            <a:off x="5322603" y="396229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8479A0-AE3E-F3CD-EC13-A994BC69CF29}"/>
              </a:ext>
            </a:extLst>
          </p:cNvPr>
          <p:cNvSpPr/>
          <p:nvPr/>
        </p:nvSpPr>
        <p:spPr>
          <a:xfrm>
            <a:off x="6050394" y="395340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AB3591-0268-1B86-EBD7-938ED903EF74}"/>
              </a:ext>
            </a:extLst>
          </p:cNvPr>
          <p:cNvSpPr/>
          <p:nvPr/>
        </p:nvSpPr>
        <p:spPr>
          <a:xfrm>
            <a:off x="6799743" y="396229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8C03D0-0488-5097-C10D-4EE7F34CA2B2}"/>
              </a:ext>
            </a:extLst>
          </p:cNvPr>
          <p:cNvSpPr/>
          <p:nvPr/>
        </p:nvSpPr>
        <p:spPr>
          <a:xfrm>
            <a:off x="5317878" y="458078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BDC8594-03FE-3BEC-59DC-97ED4F3A81D2}"/>
              </a:ext>
            </a:extLst>
          </p:cNvPr>
          <p:cNvSpPr/>
          <p:nvPr/>
        </p:nvSpPr>
        <p:spPr>
          <a:xfrm>
            <a:off x="6055829" y="458967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EB248C-E429-9C6D-0FFF-63FECB657453}"/>
              </a:ext>
            </a:extLst>
          </p:cNvPr>
          <p:cNvSpPr/>
          <p:nvPr/>
        </p:nvSpPr>
        <p:spPr>
          <a:xfrm>
            <a:off x="6803940" y="458078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7C57D0-C1E7-9D2B-D797-E53FB527846C}"/>
              </a:ext>
            </a:extLst>
          </p:cNvPr>
          <p:cNvSpPr/>
          <p:nvPr/>
        </p:nvSpPr>
        <p:spPr>
          <a:xfrm>
            <a:off x="7532969" y="458967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AC7002-4BA5-9C56-4906-410CD5E6200B}"/>
              </a:ext>
            </a:extLst>
          </p:cNvPr>
          <p:cNvSpPr/>
          <p:nvPr/>
        </p:nvSpPr>
        <p:spPr>
          <a:xfrm>
            <a:off x="7531052" y="5131967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8DBD17-0836-1684-1A2B-8E6D1EFA8B59}"/>
              </a:ext>
            </a:extLst>
          </p:cNvPr>
          <p:cNvSpPr/>
          <p:nvPr/>
        </p:nvSpPr>
        <p:spPr>
          <a:xfrm>
            <a:off x="8360443" y="5140857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7246BF3-1FBD-3C38-41CD-9533831F4120}"/>
              </a:ext>
            </a:extLst>
          </p:cNvPr>
          <p:cNvSpPr/>
          <p:nvPr/>
        </p:nvSpPr>
        <p:spPr>
          <a:xfrm>
            <a:off x="9118714" y="5131967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C1983DD-54F7-25E9-5CC6-A8438D47B206}"/>
              </a:ext>
            </a:extLst>
          </p:cNvPr>
          <p:cNvSpPr/>
          <p:nvPr/>
        </p:nvSpPr>
        <p:spPr>
          <a:xfrm>
            <a:off x="9837583" y="5140857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9609B-DACA-BE67-9F5F-CB7A31D8B7F6}"/>
              </a:ext>
            </a:extLst>
          </p:cNvPr>
          <p:cNvSpPr txBox="1"/>
          <p:nvPr/>
        </p:nvSpPr>
        <p:spPr>
          <a:xfrm>
            <a:off x="1211764" y="3780519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 x 20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24F78-7099-74B3-B8CD-A03B4486BD04}"/>
              </a:ext>
            </a:extLst>
          </p:cNvPr>
          <p:cNvSpPr txBox="1"/>
          <p:nvPr/>
        </p:nvSpPr>
        <p:spPr>
          <a:xfrm>
            <a:off x="1221924" y="4105639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2 x 10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03CF0-88A8-EE32-D8A8-FC299CC0EE92}"/>
              </a:ext>
            </a:extLst>
          </p:cNvPr>
          <p:cNvSpPr txBox="1"/>
          <p:nvPr/>
        </p:nvSpPr>
        <p:spPr>
          <a:xfrm>
            <a:off x="1242244" y="4422055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40 - 20 = 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6AD73-1BD1-F1F6-07EC-17321E5B3553}"/>
              </a:ext>
            </a:extLst>
          </p:cNvPr>
          <p:cNvSpPr txBox="1"/>
          <p:nvPr/>
        </p:nvSpPr>
        <p:spPr>
          <a:xfrm>
            <a:off x="5175967" y="1912224"/>
            <a:ext cx="2633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3 x 20 = 60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26B9B-3EB7-4D2E-415D-CC2CB76E0CD2}"/>
              </a:ext>
            </a:extLst>
          </p:cNvPr>
          <p:cNvSpPr txBox="1"/>
          <p:nvPr/>
        </p:nvSpPr>
        <p:spPr>
          <a:xfrm>
            <a:off x="5186127" y="2237344"/>
            <a:ext cx="254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3 x 10 = 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A3497-933E-72D0-3D6C-B3B3E4D45930}"/>
              </a:ext>
            </a:extLst>
          </p:cNvPr>
          <p:cNvSpPr txBox="1"/>
          <p:nvPr/>
        </p:nvSpPr>
        <p:spPr>
          <a:xfrm>
            <a:off x="5206447" y="2553760"/>
            <a:ext cx="28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= 60 – 30 = 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2E42A-FC35-64F6-EECF-90F58C0A44BA}"/>
              </a:ext>
            </a:extLst>
          </p:cNvPr>
          <p:cNvSpPr txBox="1"/>
          <p:nvPr/>
        </p:nvSpPr>
        <p:spPr>
          <a:xfrm>
            <a:off x="1242244" y="4757675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-10 + 20 – 10 =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76C80B-43A0-D61D-CC0E-71CD27F1F9C9}"/>
              </a:ext>
            </a:extLst>
          </p:cNvPr>
          <p:cNvSpPr txBox="1"/>
          <p:nvPr/>
        </p:nvSpPr>
        <p:spPr>
          <a:xfrm>
            <a:off x="5197652" y="2851615"/>
            <a:ext cx="28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= 4 x 20 – 3 x 10 = 50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51106C-5AE4-B2B8-70BA-FC460B6E7C8E}"/>
              </a:ext>
            </a:extLst>
          </p:cNvPr>
          <p:cNvSpPr txBox="1"/>
          <p:nvPr/>
        </p:nvSpPr>
        <p:spPr>
          <a:xfrm>
            <a:off x="4961861" y="5212502"/>
            <a:ext cx="280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Inventory = 10</a:t>
            </a:r>
          </a:p>
          <a:p>
            <a:r>
              <a:rPr lang="en-US" dirty="0"/>
              <a:t>Accounts payable = 10 </a:t>
            </a:r>
          </a:p>
        </p:txBody>
      </p:sp>
      <p:sp>
        <p:nvSpPr>
          <p:cNvPr id="35" name="Titolo 1">
            <a:extLst>
              <a:ext uri="{FF2B5EF4-FFF2-40B4-BE49-F238E27FC236}">
                <a16:creationId xmlns:a16="http://schemas.microsoft.com/office/drawing/2014/main" id="{FD441F50-28F8-7F05-4CDE-BCDCFA1806F2}"/>
              </a:ext>
            </a:extLst>
          </p:cNvPr>
          <p:cNvSpPr txBox="1">
            <a:spLocks/>
          </p:cNvSpPr>
          <p:nvPr/>
        </p:nvSpPr>
        <p:spPr>
          <a:xfrm>
            <a:off x="1378634" y="365125"/>
            <a:ext cx="98380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3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9" grpId="0"/>
      <p:bldP spid="18" grpId="0"/>
      <p:bldP spid="1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EBE1-9721-E8E4-54F8-E9DBA2CB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252C89-1F93-A2FB-5247-1B12B787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The operating cycle: 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1507C3-DD9A-3D37-0BB2-FF713480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9625F028-D031-C1ED-B3DD-589775F35143}"/>
              </a:ext>
            </a:extLst>
          </p:cNvPr>
          <p:cNvSpPr txBox="1">
            <a:spLocks/>
          </p:cNvSpPr>
          <p:nvPr/>
        </p:nvSpPr>
        <p:spPr>
          <a:xfrm>
            <a:off x="1833717" y="1387054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92697FA9-B78E-9340-3971-154EE438F41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7F7618-BAA2-35AF-6304-6EC93DF82756}"/>
              </a:ext>
            </a:extLst>
          </p:cNvPr>
          <p:cNvCxnSpPr>
            <a:cxnSpLocks/>
          </p:cNvCxnSpPr>
          <p:nvPr/>
        </p:nvCxnSpPr>
        <p:spPr>
          <a:xfrm>
            <a:off x="436209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16DFB8-DAAF-370C-739E-CBFFFF3C3B8E}"/>
              </a:ext>
            </a:extLst>
          </p:cNvPr>
          <p:cNvCxnSpPr>
            <a:cxnSpLocks/>
          </p:cNvCxnSpPr>
          <p:nvPr/>
        </p:nvCxnSpPr>
        <p:spPr>
          <a:xfrm>
            <a:off x="8233050" y="2061107"/>
            <a:ext cx="0" cy="3833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4AB033-6EAA-E5B3-6C2A-E19FB078A377}"/>
              </a:ext>
            </a:extLst>
          </p:cNvPr>
          <p:cNvSpPr txBox="1"/>
          <p:nvPr/>
        </p:nvSpPr>
        <p:spPr>
          <a:xfrm>
            <a:off x="1851122" y="1420283"/>
            <a:ext cx="19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Last  year </a:t>
            </a:r>
            <a:br>
              <a:rPr lang="en-US" dirty="0"/>
            </a:br>
            <a:r>
              <a:rPr lang="en-US" dirty="0"/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47132-96D6-1488-EDEB-651FFBF8670C}"/>
              </a:ext>
            </a:extLst>
          </p:cNvPr>
          <p:cNvSpPr txBox="1"/>
          <p:nvPr/>
        </p:nvSpPr>
        <p:spPr>
          <a:xfrm>
            <a:off x="5632923" y="1387054"/>
            <a:ext cx="122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year</a:t>
            </a:r>
            <a:br>
              <a:rPr lang="en-US" dirty="0"/>
            </a:br>
            <a:r>
              <a:rPr lang="en-US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42F12-57F3-A90F-BE19-6D32935C1FF1}"/>
              </a:ext>
            </a:extLst>
          </p:cNvPr>
          <p:cNvSpPr txBox="1"/>
          <p:nvPr/>
        </p:nvSpPr>
        <p:spPr>
          <a:xfrm>
            <a:off x="9226283" y="1420010"/>
            <a:ext cx="122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year 2025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B3582-B57D-9BD6-D933-AA5AF52C0E97}"/>
              </a:ext>
            </a:extLst>
          </p:cNvPr>
          <p:cNvSpPr/>
          <p:nvPr/>
        </p:nvSpPr>
        <p:spPr>
          <a:xfrm>
            <a:off x="1602528" y="6022024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AB0631-D9A9-BFFE-6E5A-082F96B899C3}"/>
              </a:ext>
            </a:extLst>
          </p:cNvPr>
          <p:cNvSpPr/>
          <p:nvPr/>
        </p:nvSpPr>
        <p:spPr>
          <a:xfrm>
            <a:off x="4081780" y="6022024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4801A-9B51-D455-E057-ABB6D5740962}"/>
              </a:ext>
            </a:extLst>
          </p:cNvPr>
          <p:cNvSpPr/>
          <p:nvPr/>
        </p:nvSpPr>
        <p:spPr>
          <a:xfrm>
            <a:off x="6479752" y="6022024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82267A-0FDD-B9D7-7AEC-15546DDB9668}"/>
              </a:ext>
            </a:extLst>
          </p:cNvPr>
          <p:cNvSpPr/>
          <p:nvPr/>
        </p:nvSpPr>
        <p:spPr>
          <a:xfrm>
            <a:off x="8826923" y="6022023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787DAD-C312-F8EF-B0C0-5424B24A0496}"/>
              </a:ext>
            </a:extLst>
          </p:cNvPr>
          <p:cNvSpPr txBox="1"/>
          <p:nvPr/>
        </p:nvSpPr>
        <p:spPr>
          <a:xfrm>
            <a:off x="2097405" y="613791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goods from supplier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DD7AA-B49D-A98F-C07B-B107337DF063}"/>
              </a:ext>
            </a:extLst>
          </p:cNvPr>
          <p:cNvSpPr txBox="1"/>
          <p:nvPr/>
        </p:nvSpPr>
        <p:spPr>
          <a:xfrm>
            <a:off x="45459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Payment to supplier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67ECA7-8544-42CC-823F-2317476E8245}"/>
              </a:ext>
            </a:extLst>
          </p:cNvPr>
          <p:cNvSpPr txBox="1"/>
          <p:nvPr/>
        </p:nvSpPr>
        <p:spPr>
          <a:xfrm>
            <a:off x="695388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Sells product to 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3DADB5-2E98-8815-3CFC-F80DE8B3F7E7}"/>
              </a:ext>
            </a:extLst>
          </p:cNvPr>
          <p:cNvSpPr txBox="1"/>
          <p:nvPr/>
        </p:nvSpPr>
        <p:spPr>
          <a:xfrm>
            <a:off x="9321165" y="6148075"/>
            <a:ext cx="2032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= Receives cash from customer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5CBABD-98FF-6E61-CE80-4B6BC48BC77A}"/>
              </a:ext>
            </a:extLst>
          </p:cNvPr>
          <p:cNvSpPr/>
          <p:nvPr/>
        </p:nvSpPr>
        <p:spPr>
          <a:xfrm>
            <a:off x="5430637" y="2085075"/>
            <a:ext cx="477520" cy="4730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AA6BDA-DB91-90C4-5D49-4625FD661658}"/>
              </a:ext>
            </a:extLst>
          </p:cNvPr>
          <p:cNvSpPr/>
          <p:nvPr/>
        </p:nvSpPr>
        <p:spPr>
          <a:xfrm>
            <a:off x="8605943" y="2111170"/>
            <a:ext cx="477520" cy="4730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656FA8-5B3B-39A8-020A-59EB7BA0AEC7}"/>
              </a:ext>
            </a:extLst>
          </p:cNvPr>
          <p:cNvSpPr/>
          <p:nvPr/>
        </p:nvSpPr>
        <p:spPr>
          <a:xfrm>
            <a:off x="6309201" y="2085075"/>
            <a:ext cx="477520" cy="473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ED4F71-7E6C-FE0B-11FA-088FFD2A4870}"/>
              </a:ext>
            </a:extLst>
          </p:cNvPr>
          <p:cNvSpPr/>
          <p:nvPr/>
        </p:nvSpPr>
        <p:spPr>
          <a:xfrm>
            <a:off x="3632177" y="2085076"/>
            <a:ext cx="47752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DFB52-F9BC-1EB4-471A-A962A9B8E1B7}"/>
              </a:ext>
            </a:extLst>
          </p:cNvPr>
          <p:cNvSpPr txBox="1"/>
          <p:nvPr/>
        </p:nvSpPr>
        <p:spPr>
          <a:xfrm>
            <a:off x="1661542" y="2735916"/>
            <a:ext cx="2981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Deferred revenue (L) =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AF21-B272-9AE2-25CD-97099636BF57}"/>
              </a:ext>
            </a:extLst>
          </p:cNvPr>
          <p:cNvSpPr txBox="1"/>
          <p:nvPr/>
        </p:nvSpPr>
        <p:spPr>
          <a:xfrm>
            <a:off x="4958863" y="2791682"/>
            <a:ext cx="26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Accounts payable (L)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D37CF-8E7A-E404-CE87-7811BD90C20D}"/>
              </a:ext>
            </a:extLst>
          </p:cNvPr>
          <p:cNvSpPr txBox="1"/>
          <p:nvPr/>
        </p:nvSpPr>
        <p:spPr>
          <a:xfrm>
            <a:off x="1661542" y="3028949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EE316-9393-769C-B61F-19AA80757628}"/>
              </a:ext>
            </a:extLst>
          </p:cNvPr>
          <p:cNvSpPr txBox="1"/>
          <p:nvPr/>
        </p:nvSpPr>
        <p:spPr>
          <a:xfrm>
            <a:off x="4939467" y="3349358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Expenses =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F36EF-177D-3EB8-B67D-80B1AD912E34}"/>
              </a:ext>
            </a:extLst>
          </p:cNvPr>
          <p:cNvSpPr txBox="1"/>
          <p:nvPr/>
        </p:nvSpPr>
        <p:spPr>
          <a:xfrm>
            <a:off x="4939467" y="3660075"/>
            <a:ext cx="320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 income (SE)= 20 - 10 =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0A9A0-75EA-D2C5-767D-C74A94333F0A}"/>
              </a:ext>
            </a:extLst>
          </p:cNvPr>
          <p:cNvSpPr txBox="1"/>
          <p:nvPr/>
        </p:nvSpPr>
        <p:spPr>
          <a:xfrm>
            <a:off x="4939467" y="3059668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= 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29F3D2-CFD3-5EAC-EC12-BEB281407B9C}"/>
              </a:ext>
            </a:extLst>
          </p:cNvPr>
          <p:cNvSpPr txBox="1"/>
          <p:nvPr/>
        </p:nvSpPr>
        <p:spPr>
          <a:xfrm>
            <a:off x="4939466" y="3949765"/>
            <a:ext cx="329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Deferred revenue (L) =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D28F7B-9D5F-A6BB-969A-60B45DDC5904}"/>
              </a:ext>
            </a:extLst>
          </p:cNvPr>
          <p:cNvSpPr txBox="1"/>
          <p:nvPr/>
        </p:nvSpPr>
        <p:spPr>
          <a:xfrm>
            <a:off x="4958731" y="4257330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AF2BEC-F26C-E4A9-936A-841906B202F1}"/>
              </a:ext>
            </a:extLst>
          </p:cNvPr>
          <p:cNvSpPr txBox="1"/>
          <p:nvPr/>
        </p:nvSpPr>
        <p:spPr>
          <a:xfrm>
            <a:off x="8413263" y="2761202"/>
            <a:ext cx="26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Accounts payable (L) =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81A496-251A-E4DE-A29A-261B3ADE1243}"/>
              </a:ext>
            </a:extLst>
          </p:cNvPr>
          <p:cNvSpPr txBox="1"/>
          <p:nvPr/>
        </p:nvSpPr>
        <p:spPr>
          <a:xfrm>
            <a:off x="8444419" y="3071919"/>
            <a:ext cx="2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(A) = 10</a:t>
            </a:r>
          </a:p>
        </p:txBody>
      </p:sp>
    </p:spTree>
    <p:extLst>
      <p:ext uri="{BB962C8B-B14F-4D97-AF65-F5344CB8AC3E}">
        <p14:creationId xmlns:p14="http://schemas.microsoft.com/office/powerpoint/2010/main" val="47860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3" grpId="0"/>
      <p:bldP spid="5" grpId="0"/>
      <p:bldP spid="8" grpId="0"/>
      <p:bldP spid="12" grpId="0"/>
      <p:bldP spid="17" grpId="0"/>
      <p:bldP spid="18" grpId="0"/>
      <p:bldP spid="19" grpId="0"/>
      <p:bldP spid="20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14BF-DB0C-68AB-84A4-F2821739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188F44-3EB6-DC6F-F991-188B03B5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Accrual accounting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8FF7F1-84B9-D066-4958-FB5559BC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19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B10AFCFC-9BCF-6703-6C70-D72593898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940628"/>
              </p:ext>
            </p:extLst>
          </p:nvPr>
        </p:nvGraphicFramePr>
        <p:xfrm>
          <a:off x="628650" y="1585913"/>
          <a:ext cx="10933113" cy="439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595">
                  <a:extLst>
                    <a:ext uri="{9D8B030D-6E8A-4147-A177-3AD203B41FA5}">
                      <a16:colId xmlns:a16="http://schemas.microsoft.com/office/drawing/2014/main" val="3126344164"/>
                    </a:ext>
                  </a:extLst>
                </a:gridCol>
                <a:gridCol w="4564685">
                  <a:extLst>
                    <a:ext uri="{9D8B030D-6E8A-4147-A177-3AD203B41FA5}">
                      <a16:colId xmlns:a16="http://schemas.microsoft.com/office/drawing/2014/main" val="3718300966"/>
                    </a:ext>
                  </a:extLst>
                </a:gridCol>
                <a:gridCol w="4809833">
                  <a:extLst>
                    <a:ext uri="{9D8B030D-6E8A-4147-A177-3AD203B41FA5}">
                      <a16:colId xmlns:a16="http://schemas.microsoft.com/office/drawing/2014/main" val="119012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 account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Liability account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95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Cash flow </a:t>
                      </a:r>
                      <a:r>
                        <a:rPr lang="en-US" b="1" u="sng" dirty="0"/>
                        <a:t>before</a:t>
                      </a:r>
                      <a:r>
                        <a:rPr lang="en-US" u="none" dirty="0"/>
                        <a:t> revenue or expense incurs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US" b="1" dirty="0"/>
                        <a:t>Deferred expense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Cash outflow in period 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Expense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Prepaid rent or insurance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Property, plant, and equipment (which we depreciate)</a:t>
                      </a:r>
                      <a:endParaRPr lang="en-US" b="0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2) Deferred revenue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Cash inflow in period 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Revenue in period t+1</a:t>
                      </a:r>
                    </a:p>
                    <a:p>
                      <a:r>
                        <a:rPr lang="en-US" b="1" dirty="0"/>
                        <a:t>Examples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Prepaid revenue (when a customers pays before in advance).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Gift cards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u="none" dirty="0"/>
                        <a:t>Rental collected in advance</a:t>
                      </a:r>
                      <a:endParaRPr lang="en-US" b="0" i="0" u="none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96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Cash flow </a:t>
                      </a:r>
                      <a:r>
                        <a:rPr lang="en-US" b="1" u="sng" dirty="0"/>
                        <a:t>after</a:t>
                      </a:r>
                      <a:r>
                        <a:rPr lang="en-US" u="none" dirty="0"/>
                        <a:t> revenue or expense incurs</a:t>
                      </a:r>
                      <a:endParaRPr lang="en-US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3) Accrued asset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Revenue in period 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Cash inflow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 </a:t>
                      </a:r>
                      <a:endParaRPr lang="en-US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Accounts receivable</a:t>
                      </a:r>
                      <a:endParaRPr lang="en-US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Other receivables</a:t>
                      </a:r>
                      <a:endParaRPr lang="en-US" b="0" dirty="0">
                        <a:latin typeface="Garamond" panose="02020404030301010803" pitchFamily="18" charset="0"/>
                        <a:ea typeface="CBS Sans" panose="02000503000000020004" pitchFamily="2" charset="0"/>
                        <a:cs typeface="CBS Sans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4) Accrued liability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Expense in period 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Cash outflow in period t+1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Examples: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Payroll, utilities, taxes (certain payments)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264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95E8E22-935D-CC5C-C0FE-74F02C07C85B}"/>
              </a:ext>
            </a:extLst>
          </p:cNvPr>
          <p:cNvSpPr txBox="1"/>
          <p:nvPr/>
        </p:nvSpPr>
        <p:spPr>
          <a:xfrm>
            <a:off x="4546600" y="6123543"/>
            <a:ext cx="543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current year,    t+1 = next year</a:t>
            </a:r>
          </a:p>
        </p:txBody>
      </p:sp>
    </p:spTree>
    <p:extLst>
      <p:ext uri="{BB962C8B-B14F-4D97-AF65-F5344CB8AC3E}">
        <p14:creationId xmlns:p14="http://schemas.microsoft.com/office/powerpoint/2010/main" val="178884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6DB5-EFAA-736B-283E-8D11CD76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3473C2-F6CB-4A04-A660-2D491E1B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026DE0-E930-5413-99A9-A0AE85B5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 fontScale="85000" lnSpcReduction="2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5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Determine the revenue, expense, income, and cash effect of operation transactions.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Bananas Consulting Group (BCG) receive a prepayment of $14,520 for services that they expect to provide early next fiscal year. </a:t>
            </a: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BCG provide consulting services worth $17,400 for the client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.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 pay half now and defer the rest of the payment to the next month. </a:t>
            </a:r>
          </a:p>
          <a:p>
            <a:pPr defTabSz="1097280"/>
            <a:r>
              <a:rPr lang="en-US" sz="3000" dirty="0">
                <a:latin typeface="Garamond" panose="02020404030301010803" pitchFamily="18" charset="0"/>
              </a:rPr>
              <a:t>The total sum of wages to the BCG consultants for the </a:t>
            </a:r>
            <a:r>
              <a:rPr lang="en-US" sz="3000" dirty="0" err="1">
                <a:latin typeface="Garamond" panose="02020404030301010803" pitchFamily="18" charset="0"/>
              </a:rPr>
              <a:t>McHansy</a:t>
            </a:r>
            <a:r>
              <a:rPr lang="en-US" sz="3000" dirty="0">
                <a:latin typeface="Garamond" panose="02020404030301010803" pitchFamily="18" charset="0"/>
              </a:rPr>
              <a:t> delivery is $8.900. The consultants have not received their salaries yet.</a:t>
            </a:r>
          </a:p>
          <a:p>
            <a:pPr marL="0" indent="0" defTabSz="1097280">
              <a:buNone/>
            </a:pPr>
            <a:endParaRPr lang="en-US" sz="2400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Record the journal entries and show the T-accounts for </a:t>
            </a:r>
            <a:r>
              <a:rPr lang="en-US" b="1" u="sng" dirty="0">
                <a:latin typeface="Garamond" panose="02020404030301010803" pitchFamily="18" charset="0"/>
              </a:rPr>
              <a:t>BCG</a:t>
            </a:r>
            <a:r>
              <a:rPr lang="en-US" b="1" dirty="0">
                <a:latin typeface="Garamond" panose="02020404030301010803" pitchFamily="18" charset="0"/>
              </a:rPr>
              <a:t>. 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BA003F-B2A7-473C-7FEF-AE6FB311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20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DAA96FFD-8378-2421-71FF-D54C9AAB94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2584813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F702-F7BA-B58F-9254-2E85BED3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5A6A4E-C7A2-33B6-0DD4-52DEEB5E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Overview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6869F9-79C4-8B98-A6AE-4A4766F7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21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C26D6EE-4648-D310-4393-7FA2D992CB9D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2602A1D9-1500-96F4-64D6-C81D93498FE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6DD65B5-BB00-56A6-BD41-D2FC9693E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Review of exercises </a:t>
            </a:r>
          </a:p>
          <a:p>
            <a:pPr marL="514350" indent="-514350" algn="just"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Beginning year balances</a:t>
            </a:r>
            <a:endParaRPr lang="en-US" dirty="0">
              <a:solidFill>
                <a:schemeClr val="bg1">
                  <a:lumMod val="75000"/>
                </a:schemeClr>
              </a:solidFill>
              <a:latin typeface="Garamond" panose="02020404030301010803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At the end of the accounting period (step 1 – prepare trial balance)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The operation cycle and more on accrual accounting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GB" u="sng" dirty="0">
                <a:solidFill>
                  <a:srgbClr val="002060"/>
                </a:solidFill>
                <a:latin typeface="Garamond" panose="02020404030301010803" pitchFamily="18" charset="0"/>
              </a:rPr>
              <a:t>Revenue and expenses</a:t>
            </a: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endParaRPr lang="en-GB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04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61F-01B4-958A-9F62-FDED1ED2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59426-923F-BE9D-5B87-811E8573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Revenue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8082-A55B-41BE-5D4A-B74DC5A9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Inflows or other enhancements of assets of an entity or settlements of its liabilities (or a combination of both) from delivering or producing goods, rendering services, or other activities that constitute the entity's ongoing major or central operations.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income statement:</a:t>
            </a:r>
            <a:r>
              <a:rPr lang="en-US" dirty="0">
                <a:latin typeface="Garamond" panose="02020404030301010803" pitchFamily="18" charset="0"/>
              </a:rPr>
              <a:t> Core revenue(s) at the top, other revenue in ”other income”. 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265EB1-4314-9259-D654-36DA52ED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22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A8AAAF3-62FD-BF7E-AAFE-AE4571A1DA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019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34A1-A28E-521E-BC38-C36B92C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2060"/>
                </a:solidFill>
                <a:latin typeface="Garamond" panose="02020404030301010803" pitchFamily="18" charset="0"/>
              </a:rPr>
              <a:t>Revenue recognition principle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CB1F-7AEB-7A44-487E-153FEED0F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Identify the contract (written, verbal, or implied agreement) between the company and customer.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Identify the seller’s performance obligations (promised goods and services)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Determine the transaction price (the amount the seller expects to be entitled to receive from the customer).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Allocate the transaction price to the performance obligations.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Recognize revenue when each performance obligation is satisfied (or over time if a service is provided over time).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14346-857F-B969-EA70-788AB32F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531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61F-01B4-958A-9F62-FDED1ED2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59426-923F-BE9D-5B87-811E8573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Expenses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D58082-A55B-41BE-5D4A-B74DC5A9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Definition: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Outflows or other using up of assets or incurrences of liabilities (or a combination of both) from delivering or producing goods, rendering services, or carrying out other activities that constitute the entity’s ongoing major or central operations.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Order in the income statement:</a:t>
            </a:r>
            <a:r>
              <a:rPr lang="en-US" dirty="0">
                <a:latin typeface="Garamond" panose="02020404030301010803" pitchFamily="18" charset="0"/>
              </a:rPr>
              <a:t> Operating section: Typically ordered how closely the expense varies with the revenue. Other section, sometimes with financial items grouped, and taxes.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265EB1-4314-9259-D654-36DA52ED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24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CA8AAAF3-62FD-BF7E-AAFE-AE4571A1DA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2785968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0F81-8E1C-1DE2-A76E-EDCA8C1D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232DA-8929-FDE3-0513-0C06EB91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Expenses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625C99-1C0A-84E7-77F0-859D32B3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825625"/>
            <a:ext cx="9434732" cy="4530725"/>
          </a:xfrm>
        </p:spPr>
        <p:txBody>
          <a:bodyPr>
            <a:normAutofit/>
          </a:bodyPr>
          <a:lstStyle/>
          <a:p>
            <a:pPr marL="0" indent="0" defTabSz="1097280">
              <a:buNone/>
            </a:pPr>
            <a:r>
              <a:rPr lang="en-US" b="1" u="sng" dirty="0">
                <a:latin typeface="Garamond" panose="02020404030301010803" pitchFamily="18" charset="0"/>
              </a:rPr>
              <a:t>Examples</a:t>
            </a:r>
            <a:endParaRPr lang="en-US" dirty="0">
              <a:latin typeface="Garamond" panose="02020404030301010803" pitchFamily="18" charset="0"/>
            </a:endParaRP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Cost of goods sold/cost of sales,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Salary expense,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Rent expense,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Other operating expenses,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Income tax expense,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Depreciation expense, and </a:t>
            </a:r>
          </a:p>
          <a:p>
            <a:pPr defTabSz="1097280"/>
            <a:r>
              <a:rPr lang="en-US" dirty="0">
                <a:latin typeface="Garamond" panose="02020404030301010803" pitchFamily="18" charset="0"/>
              </a:rPr>
              <a:t>Interest expenses. </a:t>
            </a:r>
          </a:p>
          <a:p>
            <a:pPr marL="0" indent="0" defTabSz="109728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b="1" u="sng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57A594-D7FD-B3BF-1BC9-1CD7A68F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25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3F5E2648-0790-FC06-53BA-2A335DBF486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</p:spTree>
    <p:extLst>
      <p:ext uri="{BB962C8B-B14F-4D97-AF65-F5344CB8AC3E}">
        <p14:creationId xmlns:p14="http://schemas.microsoft.com/office/powerpoint/2010/main" val="1525221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A762-0901-E817-D087-43858B64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A6C25D-4191-587B-6EE6-E14D726C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Expanding the debit and credit accounts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43836D-CC4A-6876-DB15-93B0B950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26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3E721269-589C-BC96-CA79-87C34760D7F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pic>
        <p:nvPicPr>
          <p:cNvPr id="6146" name="Picture 2" descr="A diagram illustrating the accounting equation: Assets = Liabilities + Stockholders' Equity, with details on contributed and earned capital.">
            <a:extLst>
              <a:ext uri="{FF2B5EF4-FFF2-40B4-BE49-F238E27FC236}">
                <a16:creationId xmlns:a16="http://schemas.microsoft.com/office/drawing/2014/main" id="{7608AEF4-B45A-F173-5E9F-893425E6E9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27249"/>
          <a:stretch>
            <a:fillRect/>
          </a:stretch>
        </p:blipFill>
        <p:spPr bwMode="auto">
          <a:xfrm>
            <a:off x="1139209" y="1971040"/>
            <a:ext cx="7567912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222B22B-1B6C-F63A-414E-27F0D723D97F}"/>
              </a:ext>
            </a:extLst>
          </p:cNvPr>
          <p:cNvSpPr/>
          <p:nvPr/>
        </p:nvSpPr>
        <p:spPr>
          <a:xfrm>
            <a:off x="8463280" y="3596640"/>
            <a:ext cx="147320" cy="1828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01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F918-F1D6-8B83-1202-F3FD1D4C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C8D746-1986-C62C-0D5A-EABD2AAE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838006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Expanding the debit and credit accounts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FA48A0-DFC0-00B3-D027-B28C5854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27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AF029A03-4F33-A859-F946-53B88120CA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  <p:pic>
        <p:nvPicPr>
          <p:cNvPr id="6146" name="Picture 2" descr="A diagram illustrating the accounting equation: Assets = Liabilities + Stockholders' Equity, with details on contributed and earned capital.">
            <a:extLst>
              <a:ext uri="{FF2B5EF4-FFF2-40B4-BE49-F238E27FC236}">
                <a16:creationId xmlns:a16="http://schemas.microsoft.com/office/drawing/2014/main" id="{B574402B-1AFE-A0B7-3619-FE861E413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-1661"/>
          <a:stretch>
            <a:fillRect/>
          </a:stretch>
        </p:blipFill>
        <p:spPr bwMode="auto">
          <a:xfrm>
            <a:off x="1139208" y="1971040"/>
            <a:ext cx="10575272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80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6099-35C3-5E61-7F24-9BD7D303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FCEEA2-43B5-1BAA-6C87-4C7FE4F9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Small exercise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DB6441-60D1-E8BB-5A81-34A8ED2E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34" y="1450871"/>
            <a:ext cx="9434732" cy="5042004"/>
          </a:xfrm>
        </p:spPr>
        <p:txBody>
          <a:bodyPr>
            <a:normAutofit fontScale="92500" lnSpcReduction="20000"/>
          </a:bodyPr>
          <a:lstStyle/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Duration</a:t>
            </a:r>
            <a:r>
              <a:rPr lang="en-US" dirty="0">
                <a:latin typeface="Garamond" panose="02020404030301010803" pitchFamily="18" charset="0"/>
              </a:rPr>
              <a:t>: 5 min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With?</a:t>
            </a:r>
            <a:r>
              <a:rPr lang="en-US" dirty="0">
                <a:latin typeface="Garamond" panose="02020404030301010803" pitchFamily="18" charset="0"/>
              </a:rPr>
              <a:t>: Alone or in pairs</a:t>
            </a: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Objective</a:t>
            </a:r>
            <a:r>
              <a:rPr lang="en-US" dirty="0">
                <a:latin typeface="Garamond" panose="02020404030301010803" pitchFamily="18" charset="0"/>
              </a:rPr>
              <a:t>: Record sales revenue and cost of goods sold. </a:t>
            </a:r>
            <a:endParaRPr lang="en-US" sz="3000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endParaRPr lang="en-US" sz="2400" dirty="0">
              <a:latin typeface="Garamond" panose="02020404030301010803" pitchFamily="18" charset="0"/>
            </a:endParaRPr>
          </a:p>
          <a:p>
            <a:pPr marL="0" indent="0" defTabSz="1097280">
              <a:buNone/>
            </a:pPr>
            <a:r>
              <a:rPr lang="en-US" b="1" dirty="0">
                <a:latin typeface="Garamond" panose="02020404030301010803" pitchFamily="18" charset="0"/>
              </a:rPr>
              <a:t>Record the journal entries and show the T-accounts for Brew &amp; Bean Supplies Inc.</a:t>
            </a:r>
          </a:p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On January 1, the owners of Brew &amp; Bean Supplies inc. contribute $3,500 in cash in exchange for common stock.</a:t>
            </a:r>
          </a:p>
          <a:p>
            <a:pPr marL="514350" indent="-514350" defTabSz="1097280"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On January 2, Brew &amp; Bean buy 100 bags of Colombian coffee beans from its supplier at $20 each on credit.</a:t>
            </a:r>
          </a:p>
          <a:p>
            <a:pPr marL="514350" indent="-514350" defTabSz="1097280">
              <a:buFont typeface="Arial" panose="020B0604020202020204" pitchFamily="34" charset="0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On January 5, Brew &amp; Bean sell 40 bags of beans to Café Aroma at $35 each, cash payment.</a:t>
            </a:r>
          </a:p>
          <a:p>
            <a:pPr marL="514350" indent="-514350" defTabSz="1097280">
              <a:buFont typeface="Arial" panose="020B0604020202020204" pitchFamily="34" charset="0"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On January 12, Brew &amp; Bean sell 25 bags to </a:t>
            </a:r>
            <a:r>
              <a:rPr lang="en-US" dirty="0" err="1">
                <a:latin typeface="Garamond" panose="02020404030301010803" pitchFamily="18" charset="0"/>
              </a:rPr>
              <a:t>JavaHouse</a:t>
            </a:r>
            <a:r>
              <a:rPr lang="en-US" dirty="0">
                <a:latin typeface="Garamond" panose="02020404030301010803" pitchFamily="18" charset="0"/>
              </a:rPr>
              <a:t> for $40 each, but on 30-day credit.</a:t>
            </a: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  <a:p>
            <a:pPr defTabSz="1097280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30908E-8712-4405-9F7A-C05553BB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28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Immagine 3">
            <a:extLst>
              <a:ext uri="{FF2B5EF4-FFF2-40B4-BE49-F238E27FC236}">
                <a16:creationId xmlns:a16="http://schemas.microsoft.com/office/drawing/2014/main" id="{F211EA63-B387-BE5D-A4FD-82C5149FE95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ve="http://schemas.openxmlformats.org/markup-compatibility/2006" xmlns="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ma14="http://schemas.microsoft.com/office/mac/drawingml/2011/main" xmlns:w16cid="http://schemas.microsoft.com/office/word/2016/wordml/cid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lc="http://schemas.openxmlformats.org/drawingml/2006/lockedCanvas"/>
            </a:ext>
          </a:extLst>
        </p:spPr>
      </p:pic>
    </p:spTree>
    <p:extLst>
      <p:ext uri="{BB962C8B-B14F-4D97-AF65-F5344CB8AC3E}">
        <p14:creationId xmlns:p14="http://schemas.microsoft.com/office/powerpoint/2010/main" val="1763778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CE91-9769-6079-26A5-62833834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FCABD3-5814-8453-BF03-B0FAC0F8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34" y="365125"/>
            <a:ext cx="9434732" cy="1325563"/>
          </a:xfrm>
        </p:spPr>
        <p:txBody>
          <a:bodyPr/>
          <a:lstStyle/>
          <a:p>
            <a:pPr algn="just"/>
            <a:r>
              <a:rPr lang="en-GB" dirty="0">
                <a:solidFill>
                  <a:srgbClr val="002060"/>
                </a:solidFill>
                <a:latin typeface="Garamond" panose="02020404030301010803" pitchFamily="18" charset="0"/>
              </a:rPr>
              <a:t>For next time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A9DE8A-2189-ABE0-A5F4-D177CF09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01A8-01F5-4916-BDC8-222E34B957F1}" type="slidenum">
              <a:rPr lang="it-IT" smtClean="0">
                <a:solidFill>
                  <a:srgbClr val="002060"/>
                </a:solidFill>
                <a:latin typeface="Garamond" panose="02020404030301010803" pitchFamily="18" charset="0"/>
              </a:rPr>
              <a:t>29</a:t>
            </a:fld>
            <a:endParaRPr lang="it-IT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BE6492C-C767-BAF1-AF3D-86AB85590B93}"/>
              </a:ext>
            </a:extLst>
          </p:cNvPr>
          <p:cNvSpPr txBox="1">
            <a:spLocks/>
          </p:cNvSpPr>
          <p:nvPr/>
        </p:nvSpPr>
        <p:spPr>
          <a:xfrm>
            <a:off x="1378634" y="1450871"/>
            <a:ext cx="9434732" cy="504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22" name="Immagine 3">
            <a:extLst>
              <a:ext uri="{FF2B5EF4-FFF2-40B4-BE49-F238E27FC236}">
                <a16:creationId xmlns:a16="http://schemas.microsoft.com/office/drawing/2014/main" id="{CB0A6B4E-8C92-EBF0-9861-2DCF381EAEA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98"/>
            <a:ext cx="1137285" cy="3491865"/>
          </a:xfrm>
          <a:prstGeom prst="rect">
            <a:avLst/>
          </a:prstGeom>
          <a:extLst>
            <a:ext uri="{FAA26D3D-D897-4be2-8F04-BA451C77F1D7}">
              <ma14:placeholderFlag xmlns:lc="http://schemas.openxmlformats.org/drawingml/2006/lockedCanvas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w16cid="http://schemas.microsoft.com/office/word/2016/wordml/cid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ve="http://schemas.openxmlformats.org/markup-compatibility/2006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86AEE6-6F89-1198-CD00-5EBF2117C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285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Skim chapter 4</a:t>
            </a:r>
          </a:p>
          <a:p>
            <a:pPr lvl="1"/>
            <a:r>
              <a:rPr lang="en-US" dirty="0"/>
              <a:t>We will later read it in full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253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11395</TotalTime>
  <Words>2364</Words>
  <Application>Microsoft Macintosh PowerPoint</Application>
  <PresentationFormat>Widescreen</PresentationFormat>
  <Paragraphs>949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Garamond</vt:lpstr>
      <vt:lpstr>Tema di Office</vt:lpstr>
      <vt:lpstr>30692 Financial Accounting (Module 1 – Session 4)</vt:lpstr>
      <vt:lpstr>Overview</vt:lpstr>
      <vt:lpstr>Review exercise 1 for chapter 2 </vt:lpstr>
      <vt:lpstr>Review of exercise 2 for chapter 2 </vt:lpstr>
      <vt:lpstr>Overview</vt:lpstr>
      <vt:lpstr>Beginning of year balances</vt:lpstr>
      <vt:lpstr>Beginning of year balances</vt:lpstr>
      <vt:lpstr>Beginning of year balances</vt:lpstr>
      <vt:lpstr>Trial balance</vt:lpstr>
      <vt:lpstr>Small exercise</vt:lpstr>
      <vt:lpstr>Small exercise</vt:lpstr>
      <vt:lpstr>Overview</vt:lpstr>
      <vt:lpstr>The operating cycle </vt:lpstr>
      <vt:lpstr>The operating cycle: Accrual accounting</vt:lpstr>
      <vt:lpstr>PowerPoint Presentation</vt:lpstr>
      <vt:lpstr>PowerPoint Presentation</vt:lpstr>
      <vt:lpstr>PowerPoint Presentation</vt:lpstr>
      <vt:lpstr>The operating cycle: Accrual accounting</vt:lpstr>
      <vt:lpstr>Accrual accounting</vt:lpstr>
      <vt:lpstr>Small exercise</vt:lpstr>
      <vt:lpstr>Overview</vt:lpstr>
      <vt:lpstr>Revenue</vt:lpstr>
      <vt:lpstr>Revenue recognition principle model</vt:lpstr>
      <vt:lpstr>Expenses</vt:lpstr>
      <vt:lpstr>Expenses</vt:lpstr>
      <vt:lpstr>Expanding the debit and credit accounts </vt:lpstr>
      <vt:lpstr>Expanding the debit and credit accounts </vt:lpstr>
      <vt:lpstr>Small exercise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30426 Accounting and financial statement analysis - Module 1</dc:title>
  <dc:creator>Luca S.</dc:creator>
  <cp:lastModifiedBy>Kasper Flyger Regenburg</cp:lastModifiedBy>
  <cp:revision>244</cp:revision>
  <cp:lastPrinted>2021-09-03T12:47:24Z</cp:lastPrinted>
  <dcterms:created xsi:type="dcterms:W3CDTF">2019-08-31T08:21:58Z</dcterms:created>
  <dcterms:modified xsi:type="dcterms:W3CDTF">2025-09-16T07:17:19Z</dcterms:modified>
</cp:coreProperties>
</file>