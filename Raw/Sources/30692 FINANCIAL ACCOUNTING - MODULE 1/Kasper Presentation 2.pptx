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519" r:id="rId4"/>
    <p:sldId id="520" r:id="rId5"/>
    <p:sldId id="521" r:id="rId6"/>
    <p:sldId id="538" r:id="rId7"/>
    <p:sldId id="525" r:id="rId8"/>
    <p:sldId id="529" r:id="rId9"/>
    <p:sldId id="532" r:id="rId10"/>
    <p:sldId id="530" r:id="rId11"/>
    <p:sldId id="533" r:id="rId12"/>
    <p:sldId id="531" r:id="rId13"/>
    <p:sldId id="534" r:id="rId14"/>
    <p:sldId id="559" r:id="rId15"/>
    <p:sldId id="518" r:id="rId16"/>
    <p:sldId id="527" r:id="rId17"/>
    <p:sldId id="524" r:id="rId18"/>
    <p:sldId id="548" r:id="rId19"/>
    <p:sldId id="517" r:id="rId20"/>
    <p:sldId id="535" r:id="rId21"/>
    <p:sldId id="537" r:id="rId22"/>
    <p:sldId id="544" r:id="rId23"/>
    <p:sldId id="539" r:id="rId24"/>
    <p:sldId id="542" r:id="rId25"/>
    <p:sldId id="560" r:id="rId26"/>
    <p:sldId id="540" r:id="rId27"/>
    <p:sldId id="561" r:id="rId28"/>
    <p:sldId id="545" r:id="rId29"/>
    <p:sldId id="543" r:id="rId30"/>
    <p:sldId id="562" r:id="rId31"/>
    <p:sldId id="550" r:id="rId32"/>
    <p:sldId id="552" r:id="rId33"/>
    <p:sldId id="551" r:id="rId34"/>
    <p:sldId id="554" r:id="rId35"/>
    <p:sldId id="556" r:id="rId36"/>
    <p:sldId id="555" r:id="rId37"/>
    <p:sldId id="557" r:id="rId38"/>
    <p:sldId id="558" r:id="rId39"/>
    <p:sldId id="546" r:id="rId40"/>
  </p:sldIdLst>
  <p:sldSz cx="12192000" cy="6858000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643" autoAdjust="0"/>
    <p:restoredTop sz="86415" autoAdjust="0"/>
  </p:normalViewPr>
  <p:slideViewPr>
    <p:cSldViewPr snapToGrid="0">
      <p:cViewPr varScale="1">
        <p:scale>
          <a:sx n="85" d="100"/>
          <a:sy n="85" d="100"/>
        </p:scale>
        <p:origin x="208" y="592"/>
      </p:cViewPr>
      <p:guideLst/>
    </p:cSldViewPr>
  </p:slideViewPr>
  <p:outlineViewPr>
    <p:cViewPr>
      <p:scale>
        <a:sx n="33" d="100"/>
        <a:sy n="33" d="100"/>
      </p:scale>
      <p:origin x="0" y="-42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41" d="100"/>
          <a:sy n="141" d="100"/>
        </p:scale>
        <p:origin x="106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8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1" y="1"/>
            <a:ext cx="3078428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fld id="{BE7658AA-419F-4D52-B99B-D6E7AEC0B52F}" type="datetimeFigureOut">
              <a:rPr lang="it-IT" smtClean="0"/>
              <a:t>05/09/25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7" tIns="49534" rIns="99067" bIns="49534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7" tIns="49534" rIns="99067" bIns="49534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1" y="9721107"/>
            <a:ext cx="3078428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90428E0A-68A3-4969-8E44-8603FB83DD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56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80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4399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390D-8770-EEFE-4427-3D821E6B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52A2C22-F07F-48EA-9304-9E2CF4D48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9AB957-54F5-A5C9-2488-FCFE88940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168208-A55E-7800-7CB3-645518395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5220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8A00-FE42-6F1F-0C7F-36C91280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74C9462-17B1-7F2A-F410-62BE4F3AF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E8A3C8F-1C58-94C2-C6C9-9CCE43B5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AC1F7F-2BFD-0521-B4FA-18924E679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9260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13DB-B743-3B12-BB83-01081A363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E39998-5137-13F7-4D1E-74E71F11C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F8ED91-EC5A-E52C-52C3-762CD1215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E37070-781B-887F-E690-E84AF8D78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0730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6348-C38A-7671-770F-AE004DB4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ACE06F-4A92-F741-F2D7-EDDC89C6A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C592F4-7148-ADA4-D2C5-9B588DB7A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3F3CEE-816D-EE9C-6F1D-72ED66CCC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220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2107-3492-3417-8158-50145D07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0A5521-6466-8C55-4AC8-E4D7FE53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1E7535-420A-5629-482C-3872B9934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F49517-E7A6-E016-1956-1097A9A7D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23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657F-1910-753A-9AFD-D06F4AA3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35C4802-D864-2136-4AB1-8F8665F7D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A6F4BC-BC7C-1E67-BC18-E6A11BB93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More </a:t>
            </a:r>
            <a:r>
              <a:rPr lang="it-IT" dirty="0" err="1"/>
              <a:t>examples</a:t>
            </a:r>
            <a:r>
              <a:rPr lang="it-IT" dirty="0"/>
              <a:t> in </a:t>
            </a:r>
            <a:r>
              <a:rPr lang="it-IT" dirty="0" err="1"/>
              <a:t>Exhibit</a:t>
            </a:r>
            <a:r>
              <a:rPr lang="it-IT" dirty="0"/>
              <a:t> 2.2 of the book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4CF965-FEB7-1D00-3003-DBDCB1BB4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01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8FC1-D66C-22FB-9094-D811AAE7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632551-00AD-40FC-F11B-FA37E5405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8B0A03-64D9-99D2-BF9F-50B5890EB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7E06EF-E8A2-BC78-FD72-D2499EAD7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3483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FEE0-AF3A-AC8F-D5C8-82031043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0B6EF6-076C-7B81-B37E-836599778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40F6D0D-AF1A-F64A-D0E2-D83338368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More </a:t>
            </a:r>
            <a:r>
              <a:rPr lang="it-IT" dirty="0" err="1"/>
              <a:t>examples</a:t>
            </a:r>
            <a:r>
              <a:rPr lang="it-IT" dirty="0"/>
              <a:t> in </a:t>
            </a:r>
            <a:r>
              <a:rPr lang="it-IT" dirty="0" err="1"/>
              <a:t>Exhibit</a:t>
            </a:r>
            <a:r>
              <a:rPr lang="it-IT" dirty="0"/>
              <a:t> 2.2 of the book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BCA8A2-BA16-A2EA-9E7C-375F54B1D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7440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3F02-8720-0D3A-CB8D-4F1C7275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16D293E-CF10-D50C-B061-350C39EC9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4BC0D4-B6CF-FB46-0465-40BB868E3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6B4CBE-0322-3291-79F6-EEF443647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33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6D6D9-4D1E-75F1-4F25-AA26DB731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8C83DA7-24B2-EBFB-1401-B0A9767F2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1D59BC-F32B-8094-D923-E813ABF3F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More </a:t>
            </a:r>
            <a:r>
              <a:rPr lang="it-IT" dirty="0" err="1"/>
              <a:t>examples</a:t>
            </a:r>
            <a:r>
              <a:rPr lang="it-IT" dirty="0"/>
              <a:t> in </a:t>
            </a:r>
            <a:r>
              <a:rPr lang="it-IT" dirty="0" err="1"/>
              <a:t>Exhibit</a:t>
            </a:r>
            <a:r>
              <a:rPr lang="it-IT" dirty="0"/>
              <a:t> 2.2 of the book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520117-E2DC-4EA3-2F79-A3ED38FAD5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6687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53C9-C2D9-01A4-0044-742214C9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2A3C25-D4E9-61B4-EAA6-101518066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5A88D9A-E31B-2CD7-DD27-D6FEE9A00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FC7DFB-D00F-9933-F866-4D87BD568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6365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D060-86F1-0178-B9E6-1ED42237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B0B900A-46AC-3B76-3C60-47040A135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575D9F-6629-2A0F-28CB-83174B923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talk a </a:t>
            </a:r>
            <a:r>
              <a:rPr lang="it-IT" dirty="0" err="1"/>
              <a:t>lot</a:t>
            </a:r>
            <a:r>
              <a:rPr lang="it-IT" dirty="0"/>
              <a:t> more </a:t>
            </a:r>
            <a:r>
              <a:rPr lang="it-IT" dirty="0" err="1"/>
              <a:t>about</a:t>
            </a:r>
            <a:r>
              <a:rPr lang="it-IT" dirty="0"/>
              <a:t> some of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principles</a:t>
            </a:r>
            <a:r>
              <a:rPr lang="it-IT" dirty="0"/>
              <a:t> </a:t>
            </a:r>
            <a:r>
              <a:rPr lang="it-IT" dirty="0" err="1"/>
              <a:t>later</a:t>
            </a:r>
            <a:r>
              <a:rPr lang="it-IT" dirty="0"/>
              <a:t>. But </a:t>
            </a:r>
            <a:r>
              <a:rPr lang="it-IT" dirty="0" err="1"/>
              <a:t>repetion</a:t>
            </a:r>
            <a:r>
              <a:rPr lang="it-IT" dirty="0"/>
              <a:t> helps learning </a:t>
            </a:r>
            <a:r>
              <a:rPr lang="it-IT" dirty="0" err="1"/>
              <a:t>better</a:t>
            </a:r>
            <a:r>
              <a:rPr lang="it-IT" dirty="0"/>
              <a:t>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3AE5B1-EBE9-4806-D87C-E835DA287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788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DDCD-5659-7667-63F5-96138CD0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2A840BC-9CBA-1C5B-7983-52B59F5D3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C69B1BE-3EA8-B0AA-BCFD-BE3CDAFB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Relevant</a:t>
            </a:r>
            <a:r>
              <a:rPr lang="it-IT" dirty="0"/>
              <a:t> to the following slides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be </a:t>
            </a:r>
            <a:r>
              <a:rPr lang="it-IT" dirty="0" err="1"/>
              <a:t>repeated</a:t>
            </a:r>
            <a:r>
              <a:rPr lang="it-IT" dirty="0"/>
              <a:t> in class.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557FE8-D34E-7F53-2551-69CFD8B9E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4642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F257-807F-A7AB-CFA0-3BBDDCA8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35C9E8C-8EC7-676D-3E50-8CB3449C7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D522A99-9283-6330-AEF9-34082A865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0841C6-3A3E-FC36-BAA1-32940971B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149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01F3-0F22-4827-82F4-8E702C11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BA34C8-050C-E72E-9001-19450198F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B646095-1072-811D-1789-CFE426924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Replication from the book, </a:t>
            </a:r>
            <a:r>
              <a:rPr lang="it-IT" dirty="0" err="1"/>
              <a:t>exhibit</a:t>
            </a:r>
            <a:r>
              <a:rPr lang="it-IT" dirty="0"/>
              <a:t> 2.4.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C1C68F-1B71-42E8-17F4-41F064D9A6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9007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4963-9D06-67C1-A17F-1ED40AD6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531D08-D3B9-B84B-E2E3-60892F974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A798B4C-A3B7-2ACE-217D-9F2635B9A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AB4869-3125-849A-8E47-B377BE4A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5171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9BA1-E102-404F-925D-C10A03FB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D1823B-85DB-1371-AE41-8B9CF5589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43E745-471E-D2D6-C98B-887C85802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A94247-DFBB-470B-8BD3-950E30E90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6921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B5991-932C-441E-751B-5F192E4A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B979F02-C492-EB36-34DB-F3ABB94B8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4BF2015-4A7E-713E-757C-972A8CCCF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52F472-4B34-F3BD-FD93-D0DD8693D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9210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CD39-A154-3DAB-897D-3D06C488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65F945-3670-0DF0-27EE-0A8E71DC1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714F15-D469-3B29-8CA5-4C9B02A8D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799C94-F425-860E-437B-0E4E572E5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053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1F2C-AE74-5F36-1247-1E2F7574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D63219-E66A-5B8C-64CA-E8EE5DDAD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E95C5A8-19EA-AB50-CB98-C64AED313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820A578-8250-879A-76CF-EC6D92651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2794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CBF2-04F4-84FA-ACE6-69928C02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8ED48BB-D34F-D183-3F68-D66B8E03A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AD6C3A-D3E6-E9C7-3083-647613BC1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in class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29A19D-095F-3C50-3DC7-14B67896D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287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267E-7E73-063B-8BF6-37CB3FE3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AFF59DA-34AE-19B0-ABA5-BA7119C4B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2ACD48-1A55-C209-6914-0D899941F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in class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EB0438-44C8-B74B-0AB7-7722F4AB3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92055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23C9-48C3-C774-25B8-55D4826DE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0E9EFB-D35C-2367-132D-99E1B2E9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C72078B-2A24-4CB1-3572-636AC450E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in class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43907C1-175B-038D-6D5A-5E59621C9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02643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F6296-1432-358D-CBB7-2A790741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58A301-D30B-58E8-68AF-18890481D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91685BA-0CC5-15B8-2AC2-B83913717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in class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A80974-2013-E766-C8AE-69AD20FB3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2224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B1A7-DFD0-CB72-E6F9-72283C6E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655944-2D1B-F684-97C6-A4FC4CEA8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F9F1FF0-88E2-F6B4-CE05-F43DD4894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6D82A7-4D32-5138-7815-7F9AA61BB5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8633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880F-725F-7F65-F36E-308EFDC9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679E7D0-9EFC-19DF-2EC6-29FB66930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E134F1-FB00-DB2A-3E5D-2B625A2F7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in class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D04CFA-CF67-BEB7-7A71-41EDF00E9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63670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E623-49E4-90AD-28E9-B8EB409E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A6488C-EFD6-C020-2C2D-87A333E22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07EDF3-A8E3-1E64-0DF6-29C372F2E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in class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40FD69-4932-4E13-D62F-71815F88E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5225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CA88-4D63-8D6C-5BC8-7A4E9D44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E239E3-6657-0FC6-F169-B25F9E52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9285D59-5FF4-06EA-22CF-AED41551A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2F94E4-12CC-72A0-6A7B-1A0ADCE33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0733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8023-603D-9273-D27D-6C448B8A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B13D750-D910-9CA6-DDA9-9E04E6EB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67D68F-900C-1A8F-6D07-48293D55D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Buy </a:t>
            </a:r>
            <a:r>
              <a:rPr lang="it-IT" dirty="0" err="1"/>
              <a:t>airplane</a:t>
            </a:r>
            <a:r>
              <a:rPr lang="it-IT" dirty="0"/>
              <a:t>  for $20 with cash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F839AE-BD07-F96C-7B95-28FFB6AE6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8078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63FD-EF27-7E51-6B6F-2BBBF337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D4E08B6-3438-DC7F-E9A5-02D7BE7DF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1B39AA-F525-8164-A7ED-B4D2D1110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2C6CDB-FB8F-1A5C-ACB1-D7DA8922F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1781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3036-1707-B36B-D4E0-84EF94603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4D31EA8-8BB9-56DE-4E22-D462ACA3E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D59009-D96B-50AB-3637-86C2C838E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BD6AA6-88E1-5DC1-415C-0AEA29B15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28638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FC01-0421-6A46-8251-63F9B43E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E5BCF07-781E-F2BE-57AB-24F66F024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D06C4A-E061-2214-7981-CAF3E7FF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Excel template with T-accounts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</a:t>
            </a:r>
            <a:r>
              <a:rPr lang="it-IT" dirty="0" err="1"/>
              <a:t>Blackboard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EF3E9A-743C-6AF6-B81A-4B4D2F6F9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8703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DD1E-C2B8-5973-7C2E-C0AB8C90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3014DF2-A2A6-E18B-EBFA-6ECD03BDE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5628D1C-5938-6668-5624-50DACDA50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Buy </a:t>
            </a:r>
            <a:r>
              <a:rPr lang="it-IT" dirty="0" err="1"/>
              <a:t>airplane</a:t>
            </a:r>
            <a:r>
              <a:rPr lang="it-IT" dirty="0"/>
              <a:t>  for $20 with cash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58C561-5298-BB40-EEB4-65559A5A2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91835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57E97-D755-7609-0218-C0D428DD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4CEFC0-AD56-58EA-9768-85EC7F4D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5A67F9-AAC3-FBDB-2F10-B0431FDED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Buy </a:t>
            </a:r>
            <a:r>
              <a:rPr lang="it-IT" dirty="0" err="1"/>
              <a:t>airplane</a:t>
            </a:r>
            <a:r>
              <a:rPr lang="it-IT" dirty="0"/>
              <a:t>  for $20 with cash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E5D2ED-2A24-0F0E-3716-08D8F71B3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44863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9327-475A-0AD8-EC13-DD27CE22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10FC89-A6F6-7BF8-3FE9-2576E9B81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64DBBD-57A1-9306-C645-3BEC666AB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T-account template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</a:t>
            </a:r>
            <a:r>
              <a:rPr lang="it-IT" dirty="0" err="1"/>
              <a:t>Blackboard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also</a:t>
            </a:r>
            <a:r>
              <a:rPr lang="it-IT" dirty="0"/>
              <a:t> do </a:t>
            </a:r>
            <a:r>
              <a:rPr lang="it-IT" dirty="0" err="1"/>
              <a:t>it</a:t>
            </a:r>
            <a:r>
              <a:rPr lang="it-IT" dirty="0"/>
              <a:t> in hand.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BED908-747F-8E3C-B89C-E9EA03785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4760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80C1-88A7-3A4A-055F-9EC19D7C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2DECC0-98B4-AC22-7963-75402B009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42F226-BED8-B6CF-78DB-2C12B8608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F21A3E-B25D-0B3E-7488-2586AC9BF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72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2992-3CBD-44C0-8330-393EB61B5379}" type="datetime1">
              <a:rPr lang="it-IT" smtClean="0"/>
              <a:t>05/09/25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06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72E1-AB19-4438-A9E4-CC335275A8E4}" type="datetime1">
              <a:rPr lang="it-IT" smtClean="0"/>
              <a:t>05/09/25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71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6E74-961E-445D-A2BF-CEC7831DF110}" type="datetime1">
              <a:rPr lang="it-IT" smtClean="0"/>
              <a:t>05/09/25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26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73E9-1357-4F40-B3B8-B37DAECF2896}" type="datetime1">
              <a:rPr lang="it-IT" smtClean="0"/>
              <a:t>05/09/25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19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F168-6BD4-486C-8F19-A639E75B434D}" type="datetime1">
              <a:rPr lang="it-IT" smtClean="0"/>
              <a:t>05/09/25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180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26D53-1533-4BD6-A7EB-41B41E7EFB69}" type="datetime1">
              <a:rPr lang="it-IT" smtClean="0"/>
              <a:t>05/09/25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7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84C9-6246-4470-B18E-3C12CE210891}" type="datetime1">
              <a:rPr lang="it-IT" smtClean="0"/>
              <a:t>05/09/25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693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8641-A484-45F8-8975-025F391C7A70}" type="datetime1">
              <a:rPr lang="it-IT" smtClean="0"/>
              <a:t>05/09/25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35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AF6-ADCF-47AC-A93D-9FE5AB6A7360}" type="datetime1">
              <a:rPr lang="it-IT" smtClean="0"/>
              <a:t>05/09/25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12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E502-F109-4FF9-AA0B-1B539F62B299}" type="datetime1">
              <a:rPr lang="it-IT" smtClean="0"/>
              <a:t>05/09/25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107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23C8-3A6D-4A65-9FCE-C0153D1CF7F8}" type="datetime1">
              <a:rPr lang="it-IT" smtClean="0"/>
              <a:t>05/09/25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87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BF50A-24DC-473A-ADA5-CBB4D27EAE85}" type="datetime1">
              <a:rPr lang="it-IT" smtClean="0"/>
              <a:t>05/09/25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845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9242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  <a:t>30692</a:t>
            </a:r>
            <a:b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it-IT" b="1" dirty="0">
                <a:solidFill>
                  <a:srgbClr val="002060"/>
                </a:solidFill>
                <a:latin typeface="Garamond" panose="02020404030301010803" pitchFamily="18" charset="0"/>
              </a:rPr>
              <a:t>Financial Accounting</a:t>
            </a:r>
            <a:b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  <a:t>(Module 1 – Session 2)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4403889"/>
            <a:ext cx="9144000" cy="1655762"/>
          </a:xfrm>
        </p:spPr>
        <p:txBody>
          <a:bodyPr>
            <a:normAutofit/>
          </a:bodyPr>
          <a:lstStyle/>
          <a:p>
            <a:endParaRPr lang="it-IT" sz="3200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r>
              <a:rPr lang="it-IT" sz="3200" dirty="0">
                <a:solidFill>
                  <a:srgbClr val="002060"/>
                </a:solidFill>
                <a:latin typeface="Garamond" panose="02020404030301010803" pitchFamily="18" charset="0"/>
              </a:rPr>
              <a:t>Academic </a:t>
            </a:r>
            <a:r>
              <a:rPr lang="it-IT" sz="3200" dirty="0" err="1">
                <a:solidFill>
                  <a:srgbClr val="002060"/>
                </a:solidFill>
                <a:latin typeface="Garamond" panose="02020404030301010803" pitchFamily="18" charset="0"/>
              </a:rPr>
              <a:t>year</a:t>
            </a:r>
            <a:r>
              <a:rPr lang="it-IT" sz="3200" dirty="0">
                <a:solidFill>
                  <a:srgbClr val="002060"/>
                </a:solidFill>
                <a:latin typeface="Garamond" panose="02020404030301010803" pitchFamily="18" charset="0"/>
              </a:rPr>
              <a:t> 2025-2026</a:t>
            </a:r>
          </a:p>
        </p:txBody>
      </p:sp>
      <p:pic>
        <p:nvPicPr>
          <p:cNvPr id="4" name="Immagin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9C03A-61BB-6DD4-CEE3-1C54D8F63DD7}"/>
              </a:ext>
            </a:extLst>
          </p:cNvPr>
          <p:cNvSpPr txBox="1"/>
          <p:nvPr/>
        </p:nvSpPr>
        <p:spPr>
          <a:xfrm>
            <a:off x="4281832" y="5828560"/>
            <a:ext cx="36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Kasper Regenburg</a:t>
            </a:r>
          </a:p>
          <a:p>
            <a:pPr algn="ctr"/>
            <a:r>
              <a:rPr lang="en-US" dirty="0"/>
              <a:t>Assistant Professor of Accounting</a:t>
            </a:r>
          </a:p>
        </p:txBody>
      </p:sp>
    </p:spTree>
    <p:extLst>
      <p:ext uri="{BB962C8B-B14F-4D97-AF65-F5344CB8AC3E}">
        <p14:creationId xmlns:p14="http://schemas.microsoft.com/office/powerpoint/2010/main" val="38875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The conceptual foundations of financial accounting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Small recap and the balance sheet in greater detail: Assets, liabilities, and shareholders’ equity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The accounting cycle and business transactions</a:t>
            </a:r>
          </a:p>
          <a:p>
            <a:pPr marL="971550" lvl="1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During the accounting period (today and next time)</a:t>
            </a:r>
          </a:p>
          <a:p>
            <a:pPr marL="971550" lvl="1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(next time)</a:t>
            </a: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796A3324-021B-4964-62F0-4C6E355557E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76509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EAF30-E53B-C19C-E067-E758F8C5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D13CEE-5E61-353F-61F0-1A159172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conceptual framework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F30246-8BF8-D40D-7E42-2F9568251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What is the </a:t>
            </a:r>
            <a:r>
              <a:rPr lang="en-US" u="sng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 of financial reporting?</a:t>
            </a:r>
          </a:p>
          <a:p>
            <a:pPr marL="0" indent="0">
              <a:buNone/>
            </a:pP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&gt;&gt;The objective of general purpose financial reporting is to provide financial </a:t>
            </a:r>
            <a:r>
              <a:rPr lang="en-US" b="1" dirty="0">
                <a:latin typeface="Garamond" panose="02020404030301010803" pitchFamily="18" charset="0"/>
              </a:rPr>
              <a:t>information</a:t>
            </a:r>
            <a:r>
              <a:rPr lang="en-US" dirty="0">
                <a:latin typeface="Garamond" panose="02020404030301010803" pitchFamily="18" charset="0"/>
              </a:rPr>
              <a:t> about the reporting entity that is </a:t>
            </a:r>
            <a:r>
              <a:rPr lang="en-US" b="1" dirty="0">
                <a:latin typeface="Garamond" panose="02020404030301010803" pitchFamily="18" charset="0"/>
              </a:rPr>
              <a:t>useful</a:t>
            </a:r>
            <a:r>
              <a:rPr lang="en-US" dirty="0">
                <a:latin typeface="Garamond" panose="02020404030301010803" pitchFamily="18" charset="0"/>
              </a:rPr>
              <a:t> to existing and potential investors, lenders, and other creditors </a:t>
            </a:r>
            <a:r>
              <a:rPr lang="en-US" b="1" dirty="0">
                <a:latin typeface="Garamond" panose="02020404030301010803" pitchFamily="18" charset="0"/>
              </a:rPr>
              <a:t>in making decisions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b="1" dirty="0">
                <a:latin typeface="Garamond" panose="02020404030301010803" pitchFamily="18" charset="0"/>
              </a:rPr>
              <a:t>about providing resources to the entity</a:t>
            </a:r>
            <a:r>
              <a:rPr lang="en-US" dirty="0">
                <a:latin typeface="Garamond" panose="02020404030301010803" pitchFamily="18" charset="0"/>
              </a:rPr>
              <a:t>.&lt;&lt;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B398B7-8808-8A54-FA20-27ECD868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3E6A5CB6-7DC7-860E-80F1-EC80C29FCF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322275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E1B7-91D1-58F4-713E-D7C7200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41618E-024B-D5F1-FED7-F7D3152B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conceptual framework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F22DE9-088F-1187-C50D-5344A971F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What does such ‘decision-useful’ information look like?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	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The conceptual framework identifies two </a:t>
            </a:r>
            <a:r>
              <a:rPr lang="en-US" u="sng" dirty="0">
                <a:latin typeface="Garamond" panose="02020404030301010803" pitchFamily="18" charset="0"/>
              </a:rPr>
              <a:t>fundamental qualitative characteristics</a:t>
            </a:r>
            <a:r>
              <a:rPr lang="en-US" dirty="0">
                <a:latin typeface="Garamond" panose="02020404030301010803" pitchFamily="18" charset="0"/>
              </a:rPr>
              <a:t> of decision-useful accounting information.</a:t>
            </a:r>
          </a:p>
          <a:p>
            <a:r>
              <a:rPr lang="en-US" u="sng" dirty="0">
                <a:latin typeface="Garamond" panose="02020404030301010803" pitchFamily="18" charset="0"/>
              </a:rPr>
              <a:t>Relevance</a:t>
            </a:r>
            <a:r>
              <a:rPr lang="en-US" dirty="0">
                <a:latin typeface="Garamond" panose="02020404030301010803" pitchFamily="18" charset="0"/>
              </a:rPr>
              <a:t>: the information ‘makes a difference’ in users’ decisions, i.e., it is </a:t>
            </a:r>
            <a:r>
              <a:rPr lang="en-US" b="1" dirty="0">
                <a:latin typeface="Garamond" panose="02020404030301010803" pitchFamily="18" charset="0"/>
              </a:rPr>
              <a:t>material</a:t>
            </a:r>
            <a:r>
              <a:rPr lang="en-US" dirty="0">
                <a:latin typeface="Garamond" panose="02020404030301010803" pitchFamily="18" charset="0"/>
              </a:rPr>
              <a:t> and has </a:t>
            </a:r>
            <a:r>
              <a:rPr lang="en-US" b="1" dirty="0">
                <a:latin typeface="Garamond" panose="02020404030301010803" pitchFamily="18" charset="0"/>
              </a:rPr>
              <a:t>predictive</a:t>
            </a:r>
            <a:r>
              <a:rPr lang="en-US" dirty="0">
                <a:latin typeface="Garamond" panose="02020404030301010803" pitchFamily="18" charset="0"/>
              </a:rPr>
              <a:t> and/or </a:t>
            </a:r>
            <a:r>
              <a:rPr lang="en-US" b="1" dirty="0">
                <a:latin typeface="Garamond" panose="02020404030301010803" pitchFamily="18" charset="0"/>
              </a:rPr>
              <a:t>confirmatory</a:t>
            </a:r>
            <a:r>
              <a:rPr lang="en-US" dirty="0">
                <a:latin typeface="Garamond" panose="02020404030301010803" pitchFamily="18" charset="0"/>
              </a:rPr>
              <a:t> value.</a:t>
            </a:r>
          </a:p>
          <a:p>
            <a:r>
              <a:rPr lang="en-US" u="sng" dirty="0">
                <a:latin typeface="Garamond" panose="02020404030301010803" pitchFamily="18" charset="0"/>
              </a:rPr>
              <a:t>Faithful representation</a:t>
            </a:r>
            <a:r>
              <a:rPr lang="en-US" dirty="0">
                <a:latin typeface="Garamond" panose="02020404030301010803" pitchFamily="18" charset="0"/>
              </a:rPr>
              <a:t>: a representation of financial information is faithful if it is </a:t>
            </a:r>
            <a:r>
              <a:rPr lang="en-US" b="1" dirty="0">
                <a:latin typeface="Garamond" panose="02020404030301010803" pitchFamily="18" charset="0"/>
              </a:rPr>
              <a:t>complete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b="1" dirty="0">
                <a:latin typeface="Garamond" panose="02020404030301010803" pitchFamily="18" charset="0"/>
              </a:rPr>
              <a:t>neutral</a:t>
            </a:r>
            <a:r>
              <a:rPr lang="en-US" dirty="0">
                <a:latin typeface="Garamond" panose="02020404030301010803" pitchFamily="18" charset="0"/>
              </a:rPr>
              <a:t>, and </a:t>
            </a:r>
            <a:r>
              <a:rPr lang="en-US" b="1" dirty="0">
                <a:latin typeface="Garamond" panose="02020404030301010803" pitchFamily="18" charset="0"/>
              </a:rPr>
              <a:t>free from error</a:t>
            </a:r>
            <a:r>
              <a:rPr lang="en-US" dirty="0">
                <a:latin typeface="Garamond" panose="02020404030301010803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43BBF5-EB59-64CA-1966-F4E52F2C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D8D160FC-55A8-0425-5E57-207EA961CA4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79362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0180-C845-3838-C690-4C184199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A4B90B-4F05-12C7-7E47-FD355B188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conceptual framework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BDD969-F811-A526-2191-14BB0AF66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conceptual framework further identifies several </a:t>
            </a:r>
            <a:r>
              <a:rPr lang="en-US" u="sng" dirty="0">
                <a:latin typeface="Garamond" panose="02020404030301010803" pitchFamily="18" charset="0"/>
              </a:rPr>
              <a:t>enhancing qualitative characteristics</a:t>
            </a:r>
            <a:r>
              <a:rPr lang="en-US" dirty="0">
                <a:latin typeface="Garamond" panose="02020404030301010803" pitchFamily="18" charset="0"/>
              </a:rPr>
              <a:t> of decision-useful accounting information.</a:t>
            </a:r>
          </a:p>
          <a:p>
            <a:r>
              <a:rPr lang="en-US" u="sng" dirty="0">
                <a:latin typeface="Garamond" panose="02020404030301010803" pitchFamily="18" charset="0"/>
              </a:rPr>
              <a:t>Comparability</a:t>
            </a:r>
            <a:r>
              <a:rPr lang="en-US" dirty="0">
                <a:latin typeface="Garamond" panose="02020404030301010803" pitchFamily="18" charset="0"/>
              </a:rPr>
              <a:t>: information can be compared </a:t>
            </a:r>
            <a:r>
              <a:rPr lang="en-US" b="1" dirty="0">
                <a:latin typeface="Garamond" panose="02020404030301010803" pitchFamily="18" charset="0"/>
              </a:rPr>
              <a:t>across time </a:t>
            </a:r>
            <a:r>
              <a:rPr lang="en-US" dirty="0">
                <a:latin typeface="Garamond" panose="02020404030301010803" pitchFamily="18" charset="0"/>
              </a:rPr>
              <a:t>and</a:t>
            </a:r>
            <a:r>
              <a:rPr lang="en-US" b="1" dirty="0">
                <a:latin typeface="Garamond" panose="02020404030301010803" pitchFamily="18" charset="0"/>
              </a:rPr>
              <a:t> entities</a:t>
            </a:r>
            <a:r>
              <a:rPr lang="en-US" dirty="0">
                <a:latin typeface="Garamond" panose="02020404030301010803" pitchFamily="18" charset="0"/>
              </a:rPr>
              <a:t>. To achieve comparability, </a:t>
            </a:r>
            <a:r>
              <a:rPr lang="en-US" b="1" dirty="0">
                <a:latin typeface="Garamond" panose="02020404030301010803" pitchFamily="18" charset="0"/>
              </a:rPr>
              <a:t>consistency</a:t>
            </a:r>
            <a:r>
              <a:rPr lang="en-US" dirty="0">
                <a:latin typeface="Garamond" panose="02020404030301010803" pitchFamily="18" charset="0"/>
              </a:rPr>
              <a:t> is important, i.e., the same accounting methods must be applied across time and entities.</a:t>
            </a:r>
          </a:p>
          <a:p>
            <a:r>
              <a:rPr lang="en-US" u="sng" dirty="0">
                <a:latin typeface="Garamond" panose="02020404030301010803" pitchFamily="18" charset="0"/>
              </a:rPr>
              <a:t>Verifiability</a:t>
            </a:r>
            <a:r>
              <a:rPr lang="en-US" dirty="0">
                <a:latin typeface="Garamond" panose="02020404030301010803" pitchFamily="18" charset="0"/>
              </a:rPr>
              <a:t>: different knowledgeable and independent observers could reach consensus that the information is faithfully represented.</a:t>
            </a:r>
          </a:p>
          <a:p>
            <a:r>
              <a:rPr lang="en-US" u="sng" dirty="0">
                <a:latin typeface="Garamond" panose="02020404030301010803" pitchFamily="18" charset="0"/>
              </a:rPr>
              <a:t>Timeliness</a:t>
            </a:r>
            <a:r>
              <a:rPr lang="en-US" dirty="0">
                <a:latin typeface="Garamond" panose="02020404030301010803" pitchFamily="18" charset="0"/>
              </a:rPr>
              <a:t>: generally, the older the information, the less useful it is.</a:t>
            </a:r>
          </a:p>
          <a:p>
            <a:r>
              <a:rPr lang="en-US" u="sng" dirty="0">
                <a:latin typeface="Garamond" panose="02020404030301010803" pitchFamily="18" charset="0"/>
              </a:rPr>
              <a:t>Understandability</a:t>
            </a:r>
            <a:r>
              <a:rPr lang="en-US" dirty="0">
                <a:latin typeface="Garamond" panose="02020404030301010803" pitchFamily="18" charset="0"/>
              </a:rPr>
              <a:t>: information is as clear and concise as possible, to a reasonably knowledgeable user.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All qualitative characteristics are subject to the cost constraint </a:t>
            </a:r>
            <a:r>
              <a:rPr lang="en-US" dirty="0">
                <a:latin typeface="Garamond" panose="02020404030301010803" pitchFamily="18" charset="0"/>
                <a:sym typeface="Wingdings" pitchFamily="2" charset="2"/>
              </a:rPr>
              <a:t> Cost &lt; benefits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7A3CC4-60B7-C8D8-1E9D-C6DCA96B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12631AAD-2F97-10CB-5E6F-B240EFA31D8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309948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AA55-60E5-E2F6-5E7B-20A3AABC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259320-A1DA-CAFC-D34B-FE1767B1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F1F74C-399B-523E-126F-3CE83862C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Garamond" panose="02020404030301010803" pitchFamily="18" charset="0"/>
              </a:rPr>
              <a:t>The conceptual foundations of financial accounting</a:t>
            </a:r>
          </a:p>
          <a:p>
            <a:pPr marL="514350" indent="-514350" algn="just">
              <a:buAutoNum type="arabicPeriod"/>
            </a:pPr>
            <a:r>
              <a:rPr lang="en-US" u="sng" dirty="0">
                <a:solidFill>
                  <a:srgbClr val="002060"/>
                </a:solidFill>
                <a:latin typeface="Garamond" panose="02020404030301010803" pitchFamily="18" charset="0"/>
              </a:rPr>
              <a:t>Small recap and the balance sheet in greater detail: Assets, liabilities, and shareholders’ equity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The accounting cycle and business transactions</a:t>
            </a:r>
          </a:p>
          <a:p>
            <a:pPr marL="971550" lvl="1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During the accounting period (today and next time)</a:t>
            </a:r>
          </a:p>
          <a:p>
            <a:pPr marL="971550" lvl="1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(next time)</a:t>
            </a: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424174-36B5-7237-BD66-6557289A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99F6263D-DD20-EA70-CE9E-968252960FF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8627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31B9B-4F91-AE6F-6C27-32F6DB16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7</a:t>
            </a:fld>
            <a:endParaRPr lang="it-IT"/>
          </a:p>
        </p:txBody>
      </p:sp>
      <p:pic>
        <p:nvPicPr>
          <p:cNvPr id="5" name="Immagine 3">
            <a:extLst>
              <a:ext uri="{FF2B5EF4-FFF2-40B4-BE49-F238E27FC236}">
                <a16:creationId xmlns:a16="http://schemas.microsoft.com/office/drawing/2014/main" id="{841800B2-87D3-6DB4-7359-76D5A30C28D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1C9181CF-2992-283E-5019-4176648B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recap	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B9646D38-147B-B941-879A-EA88F683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What is accounting, use of accounting, who makes the rules, who follows GAAP, and why do we care?</a:t>
            </a:r>
          </a:p>
          <a:p>
            <a:pPr algn="just"/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Four financial statements (+ notes and the auditor report)</a:t>
            </a:r>
          </a:p>
          <a:p>
            <a:pPr lvl="1" algn="just"/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</a:rPr>
              <a:t>Balance sheet </a:t>
            </a:r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 Assets on left, liabilities and equity on right </a:t>
            </a:r>
          </a:p>
          <a:p>
            <a:pPr lvl="2" algn="just"/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Accounting equation: Assets = liabilities + owners’ equity (also works for changes: </a:t>
            </a:r>
            <a:r>
              <a:rPr lang="en-US" sz="2800" dirty="0" err="1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Δ</a:t>
            </a:r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)</a:t>
            </a:r>
          </a:p>
          <a:p>
            <a:pPr lvl="1" algn="just"/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Statement of changes in owners’ equity  Explains changes in equity, includes retained earnings and is typically formatted with line items horizontally. </a:t>
            </a:r>
          </a:p>
          <a:p>
            <a:pPr lvl="1" algn="just"/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Income statement  Explains changes to retained earnings. Revenue on top, expenses in the order of operating, financials, and tax. </a:t>
            </a:r>
          </a:p>
          <a:p>
            <a:pPr lvl="1" algn="just"/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</a:rPr>
              <a:t>Cash flow statement </a:t>
            </a:r>
            <a:r>
              <a:rPr lang="en-US" sz="2800" dirty="0">
                <a:solidFill>
                  <a:srgbClr val="002060"/>
                </a:solidFill>
                <a:latin typeface="Garamond" panose="02020404030301010803" pitchFamily="18" charset="0"/>
                <a:sym typeface="Wingdings" pitchFamily="2" charset="2"/>
              </a:rPr>
              <a:t> Explains changes to cash (and cash equivalent) and is structured by operating, investing, and financing activities.  </a:t>
            </a:r>
            <a:endParaRPr lang="en-US" sz="28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3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961F-01B4-958A-9F62-FDED1ED2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59426-923F-BE9D-5B87-811E8573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Assets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D58082-A55B-41BE-5D4A-B74DC5A9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Economic resources controlled by the entity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Measurable and expected to benefit the company (future inflow of cash or reduction of cash outflow)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balance sheet:</a:t>
            </a:r>
            <a:r>
              <a:rPr lang="en-US" dirty="0">
                <a:latin typeface="Garamond" panose="02020404030301010803" pitchFamily="18" charset="0"/>
              </a:rPr>
              <a:t> By liquidity. 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Current / non-current assets: </a:t>
            </a:r>
            <a:r>
              <a:rPr lang="en-US" dirty="0">
                <a:latin typeface="Garamond" panose="02020404030301010803" pitchFamily="18" charset="0"/>
              </a:rPr>
              <a:t>Turned into cash &lt; / ≥ 12 months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265EB1-4314-9259-D654-36DA52ED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A8AAAF3-62FD-BF7E-AAFE-AE4571A1DA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195019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2B76-73AA-13F0-DABC-4974BB3D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8CC9DF-2E86-6C63-8E8C-691B14BD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Assets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B35883-A808-71A8-3713-B36C7D0D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Examples</a:t>
            </a: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Current (short-term):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Accounts receivable, cash and cash equivalent, inventory, and prepaid expenses (e.g., prepaid rent and salaries.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Non-current (long-term): </a:t>
            </a:r>
            <a:endParaRPr lang="en-US" dirty="0">
              <a:latin typeface="Garamond" panose="02020404030301010803" pitchFamily="18" charset="0"/>
            </a:endParaRP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Property, plant, and equipment (PPE), operating lease assets, long-term investments, and goodwill.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BEBD97-7350-689F-4C3A-4F6DFAB7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33651F0-A998-8C01-34C4-B74FD031965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59989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F6F9-3CB0-931D-3415-4D24E058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DBFC2A-8E36-03D4-6E22-0941B1AC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Liabilities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79FD81-C2F3-0EFA-63F7-4B9A1B3B1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Present obligations arising from past events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Measurable and expected outflow of economic benefits (to creditors)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balance sheet:</a:t>
            </a:r>
            <a:r>
              <a:rPr lang="en-US" dirty="0">
                <a:latin typeface="Garamond" panose="02020404030301010803" pitchFamily="18" charset="0"/>
              </a:rPr>
              <a:t> By maturity. 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Current / non-current assets: </a:t>
            </a:r>
            <a:r>
              <a:rPr lang="en-US" dirty="0">
                <a:latin typeface="Garamond" panose="02020404030301010803" pitchFamily="18" charset="0"/>
              </a:rPr>
              <a:t>Settled &lt; / ≥ 12 months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53EAC2-BF94-042F-22E4-DB907870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B1EDD17-4542-30A4-A11B-9424419F72C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302296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285F-67A7-E746-6CF7-A3AF7951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0A9615-40F4-3A5B-BD65-0BED6DE8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Liabilities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844AA9-D8DD-DB49-576E-359AF4F78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Examples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Current (short-term):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Accounts payable, unearned revenue, accrued expenses payable (such as salaries payable and interests payable), and the short-term part of long-term liabilities.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Non-current (long-term): </a:t>
            </a:r>
            <a:endParaRPr lang="en-US" dirty="0">
              <a:latin typeface="Garamond" panose="02020404030301010803" pitchFamily="18" charset="0"/>
            </a:endParaRP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Long-term debt, long-term operating lease liabilities, and pension liabilities.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FB0FC6-C2DE-FEB0-A5C5-05537126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110CDD24-B8D3-7A3A-105A-B0C2CCD6BF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57076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D195-12A4-B0E0-DBD8-9DE5F1C4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0705CF-488F-F364-63E7-644B85F3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1006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Owners’ equity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15FE03-43A7-6F58-8EF7-DA548287C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Residual interest to the assets. </a:t>
            </a: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Owners’ equity = assets – liabilities (a rewriting of the accounting equation)</a:t>
            </a: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(Owners’ equity is also called shareholders’ equity and stockholders’ equity)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balance sheet: </a:t>
            </a:r>
            <a:r>
              <a:rPr lang="en-US" dirty="0">
                <a:latin typeface="Garamond" panose="02020404030301010803" pitchFamily="18" charset="0"/>
              </a:rPr>
              <a:t>Capital from owners first, then from operations</a:t>
            </a:r>
          </a:p>
          <a:p>
            <a:pPr lvl="1" defTabSz="1097280"/>
            <a:r>
              <a:rPr lang="en-US" dirty="0">
                <a:latin typeface="Garamond" panose="02020404030301010803" pitchFamily="18" charset="0"/>
              </a:rPr>
              <a:t>But no subtotals based on this ordering.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BDBAB6-E00B-03F5-2060-766C071C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E1BDABF-9BC4-4E01-9247-BB5D784F80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02725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E949-AA31-D70F-5652-B590DD4E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B99C97-9E5A-9503-CED1-C3F602FF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1006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Owners’ equity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A44109-3761-91FC-1269-C6B55D209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Examples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From owners:</a:t>
            </a: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Common stock and additional paid-in capital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From operations:</a:t>
            </a: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Retained earnings,  reserves, and minority (non-controlling) interests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47A662-A7D5-16CF-CF28-F2E2B181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5AB6F585-A843-E32A-BEC5-F6E93D8B87B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276179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7282-AA08-C821-1097-E85A0008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1F92A1-1F81-8874-98E7-E31AC2E5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F687FD-DE1A-48E8-93AF-044217003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Garamond" panose="02020404030301010803" pitchFamily="18" charset="0"/>
              </a:rPr>
              <a:t>The conceptual foundations of financial accounting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Garamond" panose="02020404030301010803" pitchFamily="18" charset="0"/>
              </a:rPr>
              <a:t>Small recap and the balance sheet in greater detail: Assets, liabilities, and shareholders’ equity</a:t>
            </a:r>
          </a:p>
          <a:p>
            <a:pPr marL="514350" indent="-514350" algn="just">
              <a:buAutoNum type="arabicPeriod"/>
            </a:pPr>
            <a:r>
              <a:rPr lang="en-US" u="sng" dirty="0">
                <a:solidFill>
                  <a:srgbClr val="002060"/>
                </a:solidFill>
                <a:latin typeface="Garamond" panose="02020404030301010803" pitchFamily="18" charset="0"/>
              </a:rPr>
              <a:t>The accounting cycle and business transactions</a:t>
            </a:r>
          </a:p>
          <a:p>
            <a:pPr marL="971550" lvl="1" indent="-514350" algn="just">
              <a:buAutoNum type="arabicPeriod"/>
            </a:pPr>
            <a:r>
              <a:rPr lang="en-US" u="sng" dirty="0">
                <a:solidFill>
                  <a:srgbClr val="002060"/>
                </a:solidFill>
                <a:latin typeface="Garamond" panose="02020404030301010803" pitchFamily="18" charset="0"/>
              </a:rPr>
              <a:t>During the accounting period (today and next time)</a:t>
            </a:r>
          </a:p>
          <a:p>
            <a:pPr marL="971550" lvl="1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(next time)</a:t>
            </a: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0DD7F2-4C83-BFA4-A982-BA0B0E8C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67759EE9-00E9-B19F-09BE-2A5848C2F5B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186349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76EA-217B-1158-5CC5-8C4388CF8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146BE-3286-2272-D19A-43DBABDC4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basic principles of accounting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469C99-301D-8FBC-34EF-0C7CA0191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decision of when and how to recognize an economic event (by making changes to account balances) most often rely on a few basic principles and concepts.</a:t>
            </a:r>
          </a:p>
          <a:p>
            <a:r>
              <a:rPr lang="en-US" u="sng" dirty="0">
                <a:latin typeface="Garamond" panose="02020404030301010803" pitchFamily="18" charset="0"/>
              </a:rPr>
              <a:t>Revenue recognition</a:t>
            </a:r>
            <a:r>
              <a:rPr lang="en-US" dirty="0">
                <a:latin typeface="Garamond" panose="02020404030301010803" pitchFamily="18" charset="0"/>
              </a:rPr>
              <a:t>: revenue is only recognized when it is </a:t>
            </a:r>
            <a:r>
              <a:rPr lang="en-US" b="1" dirty="0">
                <a:latin typeface="Garamond" panose="02020404030301010803" pitchFamily="18" charset="0"/>
              </a:rPr>
              <a:t>earned</a:t>
            </a:r>
            <a:r>
              <a:rPr lang="en-US" dirty="0">
                <a:latin typeface="Garamond" panose="02020404030301010803" pitchFamily="18" charset="0"/>
              </a:rPr>
              <a:t> and </a:t>
            </a:r>
            <a:r>
              <a:rPr lang="en-US" b="1" dirty="0">
                <a:latin typeface="Garamond" panose="02020404030301010803" pitchFamily="18" charset="0"/>
              </a:rPr>
              <a:t>realized or realizable</a:t>
            </a:r>
            <a:r>
              <a:rPr lang="en-US" dirty="0">
                <a:latin typeface="Garamond" panose="02020404030301010803" pitchFamily="18" charset="0"/>
              </a:rPr>
              <a:t>.</a:t>
            </a:r>
          </a:p>
          <a:p>
            <a:r>
              <a:rPr lang="en-US" u="sng" dirty="0">
                <a:latin typeface="Garamond" panose="02020404030301010803" pitchFamily="18" charset="0"/>
              </a:rPr>
              <a:t>Matching principle</a:t>
            </a:r>
            <a:r>
              <a:rPr lang="en-US" dirty="0">
                <a:latin typeface="Garamond" panose="02020404030301010803" pitchFamily="18" charset="0"/>
              </a:rPr>
              <a:t>: expenses are recognized at the same time as the revenue that they helped generate.</a:t>
            </a:r>
          </a:p>
          <a:p>
            <a:r>
              <a:rPr lang="en-US" u="sng" dirty="0">
                <a:latin typeface="Garamond" panose="02020404030301010803" pitchFamily="18" charset="0"/>
              </a:rPr>
              <a:t>Historical cost</a:t>
            </a:r>
            <a:r>
              <a:rPr lang="en-US" dirty="0">
                <a:latin typeface="Garamond" panose="02020404030301010803" pitchFamily="18" charset="0"/>
              </a:rPr>
              <a:t>: assets and liabilities are accounted for on the basis of their acquisition prices. </a:t>
            </a:r>
          </a:p>
          <a:p>
            <a:r>
              <a:rPr lang="en-US" u="sng" dirty="0">
                <a:latin typeface="Garamond" panose="02020404030301010803" pitchFamily="18" charset="0"/>
              </a:rPr>
              <a:t>Conservatism</a:t>
            </a:r>
            <a:r>
              <a:rPr lang="en-US" dirty="0">
                <a:latin typeface="Garamond" panose="02020404030301010803" pitchFamily="18" charset="0"/>
              </a:rPr>
              <a:t> (prudence): when in doubt, choose the accounting treatment that least likely overstates assets.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first three principles are very important. </a:t>
            </a:r>
            <a:r>
              <a:rPr lang="en-US" b="1" u="sng" dirty="0">
                <a:latin typeface="Garamond" panose="02020404030301010803" pitchFamily="18" charset="0"/>
              </a:rPr>
              <a:t>Memorize them.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82228E-823F-6B84-0B7A-0580EC46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51734C1F-7FAB-DB7E-BAF8-71C4F8A9A58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EC26F99F-549F-AB0F-82EF-42DDAEDA51F1}"/>
              </a:ext>
            </a:extLst>
          </p:cNvPr>
          <p:cNvSpPr/>
          <p:nvPr/>
        </p:nvSpPr>
        <p:spPr>
          <a:xfrm>
            <a:off x="10407126" y="2781300"/>
            <a:ext cx="241349" cy="1266044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321D2-A1C0-82B6-C4C0-6052B9813C31}"/>
              </a:ext>
            </a:extLst>
          </p:cNvPr>
          <p:cNvSpPr txBox="1"/>
          <p:nvPr/>
        </p:nvSpPr>
        <p:spPr>
          <a:xfrm>
            <a:off x="10648476" y="2848401"/>
            <a:ext cx="177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Garamond" panose="02020404030301010803" pitchFamily="18" charset="0"/>
              </a:rPr>
              <a:t>Accrual accounting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17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B0DC63-A5B1-6B43-EDC0-DD0F2BB3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8454D6-1495-26F0-FFB6-790F04E2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97516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For recap: Conceptual construct of financial statements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8F6141-5BAD-9096-D05B-DD15AD0F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We need the following constructs and assumptions.</a:t>
            </a:r>
          </a:p>
          <a:p>
            <a:r>
              <a:rPr lang="en-US" b="1" u="sng" dirty="0">
                <a:latin typeface="Garamond" panose="02020404030301010803" pitchFamily="18" charset="0"/>
              </a:rPr>
              <a:t>Accounting entity</a:t>
            </a:r>
            <a:r>
              <a:rPr lang="en-US" b="1" dirty="0">
                <a:latin typeface="Garamond" panose="02020404030301010803" pitchFamily="18" charset="0"/>
              </a:rPr>
              <a:t>: </a:t>
            </a:r>
            <a:r>
              <a:rPr lang="en-US" dirty="0">
                <a:latin typeface="Garamond" panose="02020404030301010803" pitchFamily="18" charset="0"/>
              </a:rPr>
              <a:t>economic activity can be identified to a particular unit of accountability (a business or other organization), separate from its owners.</a:t>
            </a:r>
          </a:p>
          <a:p>
            <a:r>
              <a:rPr lang="en-US" b="1" u="sng" dirty="0">
                <a:latin typeface="Garamond" panose="02020404030301010803" pitchFamily="18" charset="0"/>
              </a:rPr>
              <a:t>Monetary unit</a:t>
            </a:r>
            <a:r>
              <a:rPr lang="en-US" b="1" dirty="0">
                <a:latin typeface="Garamond" panose="02020404030301010803" pitchFamily="18" charset="0"/>
              </a:rPr>
              <a:t>: </a:t>
            </a:r>
            <a:r>
              <a:rPr lang="en-US" dirty="0">
                <a:latin typeface="Garamond" panose="02020404030301010803" pitchFamily="18" charset="0"/>
              </a:rPr>
              <a:t>economic activity can be measured (quantified) in monetary amounts.</a:t>
            </a:r>
          </a:p>
          <a:p>
            <a:r>
              <a:rPr lang="en-US" b="1" u="sng" dirty="0">
                <a:latin typeface="Garamond" panose="02020404030301010803" pitchFamily="18" charset="0"/>
              </a:rPr>
              <a:t>Going concern</a:t>
            </a:r>
            <a:r>
              <a:rPr lang="en-US" b="1" dirty="0">
                <a:latin typeface="Garamond" panose="02020404030301010803" pitchFamily="18" charset="0"/>
              </a:rPr>
              <a:t>: </a:t>
            </a:r>
            <a:r>
              <a:rPr lang="en-US" dirty="0">
                <a:latin typeface="Garamond" panose="02020404030301010803" pitchFamily="18" charset="0"/>
              </a:rPr>
              <a:t>the business will continue operating in the future.</a:t>
            </a:r>
          </a:p>
          <a:p>
            <a:r>
              <a:rPr lang="en-US" b="1" u="sng" dirty="0">
                <a:latin typeface="Garamond" panose="02020404030301010803" pitchFamily="18" charset="0"/>
              </a:rPr>
              <a:t>Periodicity</a:t>
            </a:r>
            <a:r>
              <a:rPr lang="en-US" b="1" dirty="0">
                <a:latin typeface="Garamond" panose="02020404030301010803" pitchFamily="18" charset="0"/>
              </a:rPr>
              <a:t>: </a:t>
            </a:r>
            <a:r>
              <a:rPr lang="en-US" dirty="0">
                <a:latin typeface="Garamond" panose="02020404030301010803" pitchFamily="18" charset="0"/>
              </a:rPr>
              <a:t>the entity’s economic activity can be measured over specified time periods (years, quarters,…).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2CBEB5-8E04-179D-179A-D70A60AD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0F66560E-FD46-D477-F2E2-07FB2CCD31A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49484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E5FD-A96D-AC62-98EB-8ACB5A09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710796-9D05-3A03-5C1C-F5075325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0D8BE6-CD6D-123D-2538-88D3BAE46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92500" lnSpcReduction="1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2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In pairs or groups up to four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Understand the two first basic principles of accounting</a:t>
            </a:r>
          </a:p>
          <a:p>
            <a:pPr marL="0" indent="0">
              <a:buNone/>
            </a:pP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A company delivers $12,500 worth of consulting services in March, but the client pays in April. The company prepaid $4,000 in wages to employees who worked on this project in February.</a:t>
            </a:r>
          </a:p>
          <a:p>
            <a:pPr marL="0" indent="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In which month should the company recognize the $12,500 revenue?</a:t>
            </a: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In which month should the $4,000 wage expense be recognized?</a:t>
            </a:r>
          </a:p>
          <a:p>
            <a:pPr marL="0" indent="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9B4A17-0A44-F504-67F0-ABD80B77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6F117FF4-9BBD-807B-C66B-051DDCBEFEB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36648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29C6-99DE-99B0-F121-D9B7C2C4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E51FF8-9750-526E-743E-80B9450AD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During the accounting cycle: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Analyse each transaction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Record entries in the journal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Post effects to the ledger</a:t>
            </a:r>
          </a:p>
          <a:p>
            <a:pPr marL="514350" indent="-514350" algn="just"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0" indent="0" algn="just">
              <a:buNone/>
            </a:pPr>
            <a:r>
              <a:rPr lang="en-GB" b="1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period: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Prepare trial balance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Adjust revenues and expenses (use steps 1 – 4) 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Prepare and disseminate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Close income statements accounts (use steps 1 – 4)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230795-29B3-1F1C-7590-FE0E4D1E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accounting cycle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FDFBB1-8C73-25ED-8B5C-42544C1E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4BA489A0-55BA-1579-1120-02D20921307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769E5FF8-136C-535C-3043-ECB84DCAE361}"/>
              </a:ext>
            </a:extLst>
          </p:cNvPr>
          <p:cNvSpPr/>
          <p:nvPr/>
        </p:nvSpPr>
        <p:spPr>
          <a:xfrm>
            <a:off x="6266121" y="1998921"/>
            <a:ext cx="404037" cy="1430079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C13CA-B07E-59B5-C07E-2C6269077BF4}"/>
              </a:ext>
            </a:extLst>
          </p:cNvPr>
          <p:cNvSpPr txBox="1"/>
          <p:nvPr/>
        </p:nvSpPr>
        <p:spPr>
          <a:xfrm>
            <a:off x="7024577" y="2459666"/>
            <a:ext cx="2539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aramond" panose="02020404030301010803" pitchFamily="18" charset="0"/>
              </a:rPr>
              <a:t>Today’s session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AF7B632-443E-9346-557C-280BEDBA5B2D}"/>
              </a:ext>
            </a:extLst>
          </p:cNvPr>
          <p:cNvSpPr/>
          <p:nvPr/>
        </p:nvSpPr>
        <p:spPr>
          <a:xfrm>
            <a:off x="8610600" y="4029003"/>
            <a:ext cx="404037" cy="2192410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A520B-264C-05FA-49CE-2A7517B49972}"/>
              </a:ext>
            </a:extLst>
          </p:cNvPr>
          <p:cNvSpPr txBox="1"/>
          <p:nvPr/>
        </p:nvSpPr>
        <p:spPr>
          <a:xfrm>
            <a:off x="9305261" y="4940542"/>
            <a:ext cx="2048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aramond" panose="02020404030301010803" pitchFamily="18" charset="0"/>
              </a:rPr>
              <a:t>Next session</a:t>
            </a:r>
          </a:p>
        </p:txBody>
      </p:sp>
    </p:spTree>
    <p:extLst>
      <p:ext uri="{BB962C8B-B14F-4D97-AF65-F5344CB8AC3E}">
        <p14:creationId xmlns:p14="http://schemas.microsoft.com/office/powerpoint/2010/main" val="189328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132D-5896-0FB8-DDF3-AF7C6DEA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F335A2-7AD8-90CD-C324-A7744F20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How do we keep account?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C6341-9E45-6940-0AA8-C3669D07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Conclusion so far: accounting is all about changes to account balances. But what events trigger such changes? And how exactly do we treat them? 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following guiding questions help us structure the problem.</a:t>
            </a:r>
          </a:p>
          <a:p>
            <a:r>
              <a:rPr lang="en-US" u="sng" dirty="0">
                <a:latin typeface="Garamond" panose="02020404030301010803" pitchFamily="18" charset="0"/>
              </a:rPr>
              <a:t>(De-)Recognition</a:t>
            </a:r>
            <a:r>
              <a:rPr lang="en-US" dirty="0">
                <a:latin typeface="Garamond" panose="02020404030301010803" pitchFamily="18" charset="0"/>
              </a:rPr>
              <a:t>. When should an item be included in or removed from the financial statements?</a:t>
            </a:r>
          </a:p>
          <a:p>
            <a:r>
              <a:rPr lang="en-US" u="sng" dirty="0">
                <a:latin typeface="Garamond" panose="02020404030301010803" pitchFamily="18" charset="0"/>
              </a:rPr>
              <a:t>Measurement (Valuation)</a:t>
            </a:r>
            <a:r>
              <a:rPr lang="en-US" dirty="0">
                <a:latin typeface="Garamond" panose="02020404030301010803" pitchFamily="18" charset="0"/>
              </a:rPr>
              <a:t>. At what value should an item be shown in the financial statements (and how should the value change over time)?</a:t>
            </a:r>
          </a:p>
          <a:p>
            <a:r>
              <a:rPr lang="en-US" u="sng" dirty="0">
                <a:latin typeface="Garamond" panose="02020404030301010803" pitchFamily="18" charset="0"/>
              </a:rPr>
              <a:t>Presentation and Disclosure</a:t>
            </a:r>
            <a:r>
              <a:rPr lang="en-US" dirty="0">
                <a:latin typeface="Garamond" panose="02020404030301010803" pitchFamily="18" charset="0"/>
              </a:rPr>
              <a:t>. How should items be classified in the financial statements? What related information should be disclosed?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(Over the course of this term, we will address these questions in some detail for various balance sheet items.)</a:t>
            </a:r>
          </a:p>
          <a:p>
            <a:pPr marL="0" indent="0" algn="just">
              <a:buNone/>
            </a:pPr>
            <a:endParaRPr lang="en-GB" u="sng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7C96E6-29FB-15F3-FE0D-A49DAEAB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57B58FB8-A05A-32D7-32AC-A7CB80B6E64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156685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28270-415C-DE14-3AF8-77CB4C5A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992964-7FC9-0916-4C4E-C9B3976C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1006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Transactions: How do they arise?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FDD87-0B22-9F42-1EEC-F68448BBE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92500" lnSpcReduction="20000"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Transaction:</a:t>
            </a:r>
            <a:r>
              <a:rPr lang="en-US" b="1" dirty="0">
                <a:latin typeface="Garamond" panose="02020404030301010803" pitchFamily="18" charset="0"/>
              </a:rPr>
              <a:t> </a:t>
            </a:r>
            <a:r>
              <a:rPr lang="en-US" dirty="0">
                <a:latin typeface="Garamond" panose="02020404030301010803" pitchFamily="18" charset="0"/>
              </a:rPr>
              <a:t>An event or activity that has a direct effect on a business’ assets, liabilities, and/or equity (not an official definition).</a:t>
            </a: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 </a:t>
            </a:r>
            <a:endParaRPr lang="en-US" b="1" u="sng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External: </a:t>
            </a:r>
            <a:r>
              <a:rPr lang="en-US" dirty="0">
                <a:latin typeface="Garamond" panose="02020404030301010803" pitchFamily="18" charset="0"/>
              </a:rPr>
              <a:t>Exchange of economic resources with external parties.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Examples: Receive goods from supplier, provide service to customer, obtain loan from lenders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Internal: </a:t>
            </a:r>
            <a:r>
              <a:rPr lang="en-US" dirty="0">
                <a:latin typeface="Garamond" panose="02020404030301010803" pitchFamily="18" charset="0"/>
              </a:rPr>
              <a:t>Internal ”consumption” of assets, liabilities, and equity.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Examples: Prepaid expenses and the use of long-term assets over time (e.g., machines).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Identifying transactions correctly is key.  </a:t>
            </a:r>
            <a:endParaRPr lang="en-US" b="1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5324DC-FB92-67C5-CE3A-572DDFF0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1EDE7B7C-3424-44AF-4A6F-3F38827C4A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4261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D764-AE81-6B7C-28A8-758CCB1B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CEBD49-FF23-7258-0FF2-9890E27A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1006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Transactions: Where do we record them?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771E70-A42D-8128-346A-AAC7D892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defTabSz="1097280"/>
            <a:r>
              <a:rPr lang="en-US" dirty="0">
                <a:latin typeface="Garamond" panose="02020404030301010803" pitchFamily="18" charset="0"/>
              </a:rPr>
              <a:t>Transactions are recoded on </a:t>
            </a:r>
            <a:r>
              <a:rPr lang="en-US" b="1" dirty="0">
                <a:latin typeface="Garamond" panose="02020404030301010803" pitchFamily="18" charset="0"/>
              </a:rPr>
              <a:t>accounts</a:t>
            </a:r>
            <a:r>
              <a:rPr lang="en-US" dirty="0">
                <a:latin typeface="Garamond" panose="02020404030301010803" pitchFamily="18" charset="0"/>
              </a:rPr>
              <a:t> and accumulated to </a:t>
            </a:r>
            <a:r>
              <a:rPr lang="en-US" b="1" dirty="0">
                <a:latin typeface="Garamond" panose="02020404030301010803" pitchFamily="18" charset="0"/>
              </a:rPr>
              <a:t>balances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A business may have more accounts than presented in financial statements. </a:t>
            </a:r>
          </a:p>
          <a:p>
            <a:pPr lvl="1" defTabSz="1097280"/>
            <a:r>
              <a:rPr lang="en-US" dirty="0">
                <a:latin typeface="Garamond" panose="02020404030301010803" pitchFamily="18" charset="0"/>
              </a:rPr>
              <a:t>For instance, Caterpillar Inc. likely have tens of thousands of accounts, such an internal account for each type of material used to produce their machinery.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A transaction always affects two or more accounts (</a:t>
            </a:r>
            <a:r>
              <a:rPr lang="en-US" b="1" dirty="0">
                <a:latin typeface="Garamond" panose="02020404030301010803" pitchFamily="18" charset="0"/>
              </a:rPr>
              <a:t>dual effects</a:t>
            </a:r>
            <a:r>
              <a:rPr lang="en-US" dirty="0">
                <a:latin typeface="Garamond" panose="02020404030301010803" pitchFamily="18" charset="0"/>
              </a:rPr>
              <a:t>).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The accounting equation should always be satisfied when recording a transaction. </a:t>
            </a:r>
          </a:p>
          <a:p>
            <a:pPr marL="0" indent="0" defTabSz="1097280">
              <a:buNone/>
            </a:pPr>
            <a:endParaRPr lang="en-US" b="1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9E97CF-1C8D-60E2-42F3-ADC4ECCD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13553109-F0B9-2C98-FB48-4657A3C3B84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33167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BFD3-901D-5CB5-8D60-D382FA43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159C9A-DA86-FC0C-4137-326A99EE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1006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four-step approach to learning how to record business transactions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7B6A31-7A9D-B33F-EC86-9BC925748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defTabSz="109728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We determine the directions and effect on the accounting equation</a:t>
            </a:r>
          </a:p>
          <a:p>
            <a:pPr marL="514350" indent="-514350" defTabSz="109728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We add the accounts and transactions amounts</a:t>
            </a:r>
          </a:p>
          <a:p>
            <a:pPr marL="514350" indent="-514350" defTabSz="109728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We add the double-entry bookkeeping terminology (debit and credit) and record transactions in journal entries</a:t>
            </a:r>
          </a:p>
          <a:p>
            <a:pPr marL="514350" indent="-514350" defTabSz="109728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We post journal entries to ledgers and illustrate these in T-accounts </a:t>
            </a:r>
          </a:p>
          <a:p>
            <a:pPr marL="514350" indent="-514350" defTabSz="1097280">
              <a:buAutoNum type="arabicPeriod"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marL="0" indent="0" defTabSz="1097280">
              <a:buNone/>
            </a:pPr>
            <a:endParaRPr lang="en-US" b="1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5B6F2C0-551F-39FE-97C3-02021C74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7156EB9C-01CE-79D2-495F-EF483CF847C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3987806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1346-72B2-3DCE-8174-8BDCEAE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B3A50A-EF20-E0B5-FCEB-810B96D9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10252534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1: Direction and the accounting equation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861471-F0ED-2FE2-3689-19C9CB744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u="sng" dirty="0">
                <a:latin typeface="Garamond" panose="02020404030301010803" pitchFamily="18" charset="0"/>
              </a:rPr>
              <a:t>Let’s implement the following structure and expand it later:</a:t>
            </a:r>
          </a:p>
          <a:p>
            <a:pPr marL="0" indent="0" defTabSz="109728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Assets (A)     =     Liabilities (L)      +      Shareholders’ equity (SE)</a:t>
            </a:r>
            <a:r>
              <a:rPr lang="en-US" u="sng" dirty="0">
                <a:latin typeface="Garamond" panose="02020404030301010803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Potato Inc. buy frying oil for their production in cash.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19A9DE-B28B-31A0-54E3-667405E4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F1703B90-0C63-4697-1414-3FE30E8D4E3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209799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62D0-29C8-2F73-F2F4-690C04E7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768DCD-8961-232D-93C6-121A8AA4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76FC0B-44A6-4E52-8693-D0CFFBEAC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lnSpcReduction="1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1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Understanding the effect of transactions on the accounting equation</a:t>
            </a:r>
          </a:p>
          <a:p>
            <a:pPr marL="0" indent="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Bulky Machines Inc. buy industrial steel for their production of bulldozers on credit.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553BC1-C772-973F-6695-3D2F37F3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D27D3FA-0501-5045-9AD2-F81FA5CCCD8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44785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4CB77-2FF3-F2E0-11CE-62560EC8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814899-6834-743F-ABE2-060F415B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7B2F61-E7D8-7ED6-3F0D-6F6F3398A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Bulky Machines Inc. buy industrial steel for their production of bulldozers on credit.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Assets (A)     =     Liabilities (L)      +      Shareholders’ equity (SE)</a:t>
            </a:r>
            <a:r>
              <a:rPr lang="en-US" u="sng" dirty="0">
                <a:latin typeface="Garamond" panose="02020404030301010803" pitchFamily="18" charset="0"/>
              </a:rPr>
              <a:t> </a:t>
            </a:r>
          </a:p>
          <a:p>
            <a:pPr marL="0" indent="0">
              <a:buNone/>
            </a:pPr>
            <a:endParaRPr lang="en-US" b="1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B80195-B1B1-36D9-590C-F4BF81A7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E8412864-9316-24C5-8B4B-467AB5840E1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3299272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6BAD3-7C41-D8CF-7A37-F6538E63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85E8FA-8314-5F51-4194-5A72D570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4D10F7-5D96-9F14-DB86-5C1E5BB0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lnSpcReduction="1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1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Understanding the effect of transactions on the accounting equation</a:t>
            </a:r>
          </a:p>
          <a:p>
            <a:pPr marL="0" indent="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owners of Bulky Machines Inc. contribute cash to the company in exchange for common stock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096986-7E77-488A-098A-9B80AAF0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F68C3990-9569-2626-947C-E7D1F3A1917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699013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3C477-B35A-E726-9A6F-6DE8C30B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3ECD89-3862-672B-0A89-F64A9852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00A5E8-E783-2A95-C640-677AC888C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owners of Bulky Machines Inc. contribute cash to the company in exchange for common stock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Assets (A)     =     Liabilities (L)      +      Shareholders’ equity (SE)</a:t>
            </a:r>
            <a:r>
              <a:rPr lang="en-US" u="sng" dirty="0">
                <a:latin typeface="Garamond" panose="02020404030301010803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583C07-A7F8-7B87-E55A-34C9D72F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80FAA03A-55C6-7667-56AB-C118BB7DB0D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1942986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28275-A430-749F-CA7D-0D4098A9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0BBD44-D8E9-DBC4-BED3-9FA377C0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2: Adding numbers and accounts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39E0F6-18F0-C022-D85B-38B050418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fontScale="85000" lnSpcReduction="10000"/>
          </a:bodyPr>
          <a:lstStyle/>
          <a:p>
            <a:pPr marL="0" indent="0" defTabSz="109728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u="sng" dirty="0">
                <a:latin typeface="Garamond" panose="02020404030301010803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Potato Inc. buy 250 dollars worth of frying oil for their production on credit.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731C67-1D4A-E98C-197B-9BC66F2B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614137D7-15CB-04C0-BDC1-41E353F5797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5DD1D6-BAE5-46BA-30B9-0AC6F80407F1}"/>
              </a:ext>
            </a:extLst>
          </p:cNvPr>
          <p:cNvGraphicFramePr>
            <a:graphicFrameLocks noGrp="1"/>
          </p:cNvGraphicFramePr>
          <p:nvPr/>
        </p:nvGraphicFramePr>
        <p:xfrm>
          <a:off x="1378633" y="1763505"/>
          <a:ext cx="9975167" cy="137160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2962720">
                  <a:extLst>
                    <a:ext uri="{9D8B030D-6E8A-4147-A177-3AD203B41FA5}">
                      <a16:colId xmlns:a16="http://schemas.microsoft.com/office/drawing/2014/main" val="1147826673"/>
                    </a:ext>
                  </a:extLst>
                </a:gridCol>
                <a:gridCol w="220211">
                  <a:extLst>
                    <a:ext uri="{9D8B030D-6E8A-4147-A177-3AD203B41FA5}">
                      <a16:colId xmlns:a16="http://schemas.microsoft.com/office/drawing/2014/main" val="2302864088"/>
                    </a:ext>
                  </a:extLst>
                </a:gridCol>
                <a:gridCol w="2835883">
                  <a:extLst>
                    <a:ext uri="{9D8B030D-6E8A-4147-A177-3AD203B41FA5}">
                      <a16:colId xmlns:a16="http://schemas.microsoft.com/office/drawing/2014/main" val="71978973"/>
                    </a:ext>
                  </a:extLst>
                </a:gridCol>
                <a:gridCol w="307896">
                  <a:extLst>
                    <a:ext uri="{9D8B030D-6E8A-4147-A177-3AD203B41FA5}">
                      <a16:colId xmlns:a16="http://schemas.microsoft.com/office/drawing/2014/main" val="1251322746"/>
                    </a:ext>
                  </a:extLst>
                </a:gridCol>
                <a:gridCol w="3648457">
                  <a:extLst>
                    <a:ext uri="{9D8B030D-6E8A-4147-A177-3AD203B41FA5}">
                      <a16:colId xmlns:a16="http://schemas.microsoft.com/office/drawing/2014/main" val="4255706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Assets (A)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=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Liabilities (L)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+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Shareholders’ equity (SE)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9052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Inventory (frying oil)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Accounts payable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374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+250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aramond" panose="02020404030301010803" pitchFamily="18" charset="0"/>
                        </a:rPr>
                        <a:t>+250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714393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C00F29D-08E3-A2DD-D157-A15DD436E3D5}"/>
              </a:ext>
            </a:extLst>
          </p:cNvPr>
          <p:cNvSpPr/>
          <p:nvPr/>
        </p:nvSpPr>
        <p:spPr>
          <a:xfrm>
            <a:off x="1514007" y="2322206"/>
            <a:ext cx="3013023" cy="81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C125C-9E85-78BA-7218-DF099D5303A6}"/>
              </a:ext>
            </a:extLst>
          </p:cNvPr>
          <p:cNvSpPr/>
          <p:nvPr/>
        </p:nvSpPr>
        <p:spPr>
          <a:xfrm>
            <a:off x="4527030" y="2257821"/>
            <a:ext cx="3013023" cy="81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0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4C6FD-4F33-99F5-7BC1-528693DE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773380-26C8-89F6-E66E-F5E75E32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DE5DB1-F69F-92DD-7586-2DD1BB91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 lnSpcReduction="1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2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Understanding the effect of transactions on the accounts</a:t>
            </a:r>
          </a:p>
          <a:p>
            <a:pPr marL="0" indent="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owners of Bulky Machines Inc. contribute $500 in cash to the company in exchange for common stock.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balance sheet accounts of Bulky Machines Inc.?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FB8CA5-65AE-02E6-E63E-6F54BD02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FA997320-2933-44BC-FD4E-389478FFC87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155961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793B-3FC0-003A-6E9B-CF9EA13D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B5A6FB-1EE7-0932-963B-403BE7AA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A6F444-EBFA-2017-CA55-0CBC8BC6D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The owners of Bulky Machines Inc. contribute $500 in cash to the company in exchange for common stock.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balance sheet accounts of Bulky Machines Inc.? 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Assets (A)     =     Liabilities (L)      +      Shareholders’ equity (SE)</a:t>
            </a:r>
            <a:r>
              <a:rPr lang="en-US" u="sng" dirty="0">
                <a:latin typeface="Garamond" panose="02020404030301010803" pitchFamily="18" charset="0"/>
              </a:rPr>
              <a:t> </a:t>
            </a:r>
          </a:p>
          <a:p>
            <a:pPr marL="0" indent="0">
              <a:buNone/>
            </a:pPr>
            <a:endParaRPr lang="en-US" b="1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5B74BEF-28D2-8886-D0A7-DF3F1BEC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159C57F7-3733-A0B7-91DF-5486423FBFC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4293355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4BA2-8BAA-336B-B860-1B16AD40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E0D36E-F7D1-7935-59AD-051D2E1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3: Double-entry bookkeeping and journal entries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BFC542-86AD-DA14-D464-965C6735E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4C9241-D1B6-6642-BCBB-1F9EB109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41F0399C-4C39-3491-1603-1DB69878237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491920-B3AB-8185-2BF4-F7BB0937ED12}"/>
              </a:ext>
            </a:extLst>
          </p:cNvPr>
          <p:cNvSpPr/>
          <p:nvPr/>
        </p:nvSpPr>
        <p:spPr>
          <a:xfrm>
            <a:off x="1514007" y="3072984"/>
            <a:ext cx="3013023" cy="81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C31F2-F4F5-2A6F-BFC7-E3D48FA6BD2F}"/>
              </a:ext>
            </a:extLst>
          </p:cNvPr>
          <p:cNvSpPr/>
          <p:nvPr/>
        </p:nvSpPr>
        <p:spPr>
          <a:xfrm>
            <a:off x="4527030" y="3072984"/>
            <a:ext cx="3013023" cy="81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1E4A20-4210-53CB-91CA-E072CDA4B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633" y="1825624"/>
            <a:ext cx="9537459" cy="34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06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C259-D8ED-327C-CAF7-01801823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DD33D8-4633-354A-0919-149B07A4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3: Double-entry bookkeeping and journal entries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CCFB48-2C32-9557-9A7B-1254EE4DD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Each account is either called a “debit” or “credit” account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Whatever makes the account increase determines this</a:t>
            </a:r>
          </a:p>
          <a:p>
            <a:pPr marL="0" indent="0" algn="ctr">
              <a:buNone/>
            </a:pPr>
            <a:r>
              <a:rPr lang="en-US" b="1" dirty="0">
                <a:latin typeface="Garamond" panose="02020404030301010803" pitchFamily="18" charset="0"/>
              </a:rPr>
              <a:t>Debit (left side) = Credit (right side)</a:t>
            </a:r>
          </a:p>
          <a:p>
            <a:r>
              <a:rPr lang="en-US" dirty="0">
                <a:latin typeface="Garamond" panose="02020404030301010803" pitchFamily="18" charset="0"/>
              </a:rPr>
              <a:t>We initially record transactions in journal entries following the debit and credit concept.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9F909F-9605-3EAF-0357-27A51368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0A212842-FE32-006E-7632-DF497EC8AD9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8161ED2-2BEE-FBB4-9D2D-7E23DE181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41000"/>
              </p:ext>
            </p:extLst>
          </p:nvPr>
        </p:nvGraphicFramePr>
        <p:xfrm>
          <a:off x="1430670" y="4339362"/>
          <a:ext cx="9188892" cy="1554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(a)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Aircraft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 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9B25E9A-1494-B014-1FE1-1119A42FC00A}"/>
              </a:ext>
            </a:extLst>
          </p:cNvPr>
          <p:cNvSpPr/>
          <p:nvPr/>
        </p:nvSpPr>
        <p:spPr>
          <a:xfrm>
            <a:off x="2428975" y="4911036"/>
            <a:ext cx="6188149" cy="411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B30DF-1D5E-B591-DCF8-7F5B96930E0F}"/>
              </a:ext>
            </a:extLst>
          </p:cNvPr>
          <p:cNvSpPr/>
          <p:nvPr/>
        </p:nvSpPr>
        <p:spPr>
          <a:xfrm>
            <a:off x="2906259" y="5446326"/>
            <a:ext cx="7000949" cy="411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015F1D-84A0-2D6D-A5A4-493416FFCECF}"/>
              </a:ext>
            </a:extLst>
          </p:cNvPr>
          <p:cNvSpPr/>
          <p:nvPr/>
        </p:nvSpPr>
        <p:spPr>
          <a:xfrm>
            <a:off x="1287747" y="4917477"/>
            <a:ext cx="825741" cy="411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4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89009-23E5-6015-11E9-F593CA7D8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B3EB19-7D36-3329-3390-70869313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3: Double-entry bookkeeping and journal entries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06CB61-6A2A-819A-92CD-9B896A5BA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Potato Inc. buy $250 worth of frying oil for their production on credit.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How does this transaction affect the accounting equation of Bulky Machines Inc.?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E39556-3A48-DAF6-B250-62FECDC4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394DF032-52CE-C8B2-CC80-2EE07C50C0D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30F5E3-3B29-B795-0FE8-530232CC2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698382"/>
              </p:ext>
            </p:extLst>
          </p:nvPr>
        </p:nvGraphicFramePr>
        <p:xfrm>
          <a:off x="1308987" y="4176329"/>
          <a:ext cx="9188892" cy="1554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(a)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Inventory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Accounts payable (+L)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2553BD5-20C9-2B44-CAD4-AC9EE9FC9E8B}"/>
              </a:ext>
            </a:extLst>
          </p:cNvPr>
          <p:cNvSpPr/>
          <p:nvPr/>
        </p:nvSpPr>
        <p:spPr>
          <a:xfrm>
            <a:off x="2332074" y="4797276"/>
            <a:ext cx="6188149" cy="411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1ED7F-34AC-488B-8141-7F433E5A506B}"/>
              </a:ext>
            </a:extLst>
          </p:cNvPr>
          <p:cNvSpPr/>
          <p:nvPr/>
        </p:nvSpPr>
        <p:spPr>
          <a:xfrm>
            <a:off x="2809358" y="5332566"/>
            <a:ext cx="7000949" cy="411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54BA6-E261-E6EF-2E95-8FC527F028E0}"/>
              </a:ext>
            </a:extLst>
          </p:cNvPr>
          <p:cNvSpPr/>
          <p:nvPr/>
        </p:nvSpPr>
        <p:spPr>
          <a:xfrm>
            <a:off x="1190846" y="4803717"/>
            <a:ext cx="825741" cy="411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3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24F5-8E84-6515-4B1F-A2A0F5D6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CEEE3-55A8-E7DD-2CC1-8EB554A8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9E19C3-14C3-B4A6-4A75-D6E5B18F2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2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Record debit and credit of a transaction in a journal entry</a:t>
            </a:r>
          </a:p>
          <a:p>
            <a:pPr marL="0" indent="0">
              <a:buNone/>
            </a:pPr>
            <a:endParaRPr lang="en-US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Bulky Machines Inc. buy industrial steel worth $600 for their production of bulldozers using cash.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Record the journal entry of the above transaction.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B42146-BCAB-D071-8E80-CE659F4C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2B7A20ED-2D17-0D64-73AF-2AE67176288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47909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25BB6-11B3-BA20-D995-81B6FBFA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F52207-219A-08E7-855B-2EE171E6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E9D1B7-72DC-3B49-1B7F-9527D5E79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Bulky Machines Inc. buy industrial steel worth $600 for their production of bulldozers using cash.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Record the journal entry of the above transaction. </a:t>
            </a:r>
          </a:p>
          <a:p>
            <a:pPr marL="0" indent="0">
              <a:buNone/>
            </a:pPr>
            <a:endParaRPr lang="en-US" b="1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b="1" u="sng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959B79-4EA5-8BC2-7C70-B16ED93E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F094B958-FB19-643E-0B02-12643D293F0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180F65-ACB1-2175-27C0-B2157E06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88225"/>
              </p:ext>
            </p:extLst>
          </p:nvPr>
        </p:nvGraphicFramePr>
        <p:xfrm>
          <a:off x="1308987" y="4176329"/>
          <a:ext cx="9188892" cy="1554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(a)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38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D15A1-9548-2BF0-2318-8C245D7D7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CF7B17-F1DF-4841-7FBA-D5E7C078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4: Posting journal entries to the ledger (T-accounts)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D8C799-6D8B-D0D4-BE8C-105971F71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The journal entries are useful for illustrating the effect of a single transaction or list several transactions, </a:t>
            </a:r>
          </a:p>
          <a:p>
            <a:r>
              <a:rPr lang="en-US" dirty="0">
                <a:latin typeface="Garamond" panose="02020404030301010803" pitchFamily="18" charset="0"/>
              </a:rPr>
              <a:t>But we post the journal entries to the ledgers (the accounting system) and typically illustrate these as T-accounts (because of their visual resembles to a T).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F67A41-5399-BBF0-4FA3-057B419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24A17409-5552-DE98-FA91-B75C0671907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E4987C9-E9FB-FEDB-0AFD-EF0D1311D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75622"/>
              </p:ext>
            </p:extLst>
          </p:nvPr>
        </p:nvGraphicFramePr>
        <p:xfrm>
          <a:off x="1430670" y="4339362"/>
          <a:ext cx="9188892" cy="1554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(a)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Aircraft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7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DB5A-4BC9-B429-156C-4F420B16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41EEEF-AE6E-E491-3FAA-0BA1AD09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Step 4: Posting journal entries to the ledger (T-accounts)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881F612-8BB8-4A24-CE44-4F08B5DB0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839060"/>
              </p:ext>
            </p:extLst>
          </p:nvPr>
        </p:nvGraphicFramePr>
        <p:xfrm>
          <a:off x="1378634" y="4141781"/>
          <a:ext cx="4580620" cy="1703070"/>
        </p:xfrm>
        <a:graphic>
          <a:graphicData uri="http://schemas.openxmlformats.org/drawingml/2006/table">
            <a:tbl>
              <a:tblPr/>
              <a:tblGrid>
                <a:gridCol w="1437760">
                  <a:extLst>
                    <a:ext uri="{9D8B030D-6E8A-4147-A177-3AD203B41FA5}">
                      <a16:colId xmlns:a16="http://schemas.microsoft.com/office/drawing/2014/main" val="4105303149"/>
                    </a:ext>
                  </a:extLst>
                </a:gridCol>
                <a:gridCol w="821578">
                  <a:extLst>
                    <a:ext uri="{9D8B030D-6E8A-4147-A177-3AD203B41FA5}">
                      <a16:colId xmlns:a16="http://schemas.microsoft.com/office/drawing/2014/main" val="327535545"/>
                    </a:ext>
                  </a:extLst>
                </a:gridCol>
                <a:gridCol w="1499704">
                  <a:extLst>
                    <a:ext uri="{9D8B030D-6E8A-4147-A177-3AD203B41FA5}">
                      <a16:colId xmlns:a16="http://schemas.microsoft.com/office/drawing/2014/main" val="4011747126"/>
                    </a:ext>
                  </a:extLst>
                </a:gridCol>
                <a:gridCol w="821578">
                  <a:extLst>
                    <a:ext uri="{9D8B030D-6E8A-4147-A177-3AD203B41FA5}">
                      <a16:colId xmlns:a16="http://schemas.microsoft.com/office/drawing/2014/main" val="1723511012"/>
                    </a:ext>
                  </a:extLst>
                </a:gridCol>
              </a:tblGrid>
              <a:tr h="23801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Aircraft (A)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28196"/>
                  </a:ext>
                </a:extLst>
              </a:tr>
              <a:tr h="25388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492849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(a)</a:t>
                      </a:r>
                    </a:p>
                  </a:txBody>
                  <a:tcPr marL="9525" marR="571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247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698912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912745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696947"/>
                  </a:ext>
                </a:extLst>
              </a:tr>
            </a:tbl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B7DE65-543A-2CE5-39D9-B621D956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D56CA56D-F6D5-F0DA-2B87-28B717289F9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0A4F67-0F59-D4C2-2A1C-74072A2D7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311641"/>
              </p:ext>
            </p:extLst>
          </p:nvPr>
        </p:nvGraphicFramePr>
        <p:xfrm>
          <a:off x="1378634" y="1825625"/>
          <a:ext cx="9188892" cy="1554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81724">
                  <a:extLst>
                    <a:ext uri="{9D8B030D-6E8A-4147-A177-3AD203B41FA5}">
                      <a16:colId xmlns:a16="http://schemas.microsoft.com/office/drawing/2014/main" val="3749711826"/>
                    </a:ext>
                  </a:extLst>
                </a:gridCol>
                <a:gridCol w="4258945">
                  <a:extLst>
                    <a:ext uri="{9D8B030D-6E8A-4147-A177-3AD203B41FA5}">
                      <a16:colId xmlns:a16="http://schemas.microsoft.com/office/drawing/2014/main" val="3981021807"/>
                    </a:ext>
                  </a:extLst>
                </a:gridCol>
                <a:gridCol w="1963479">
                  <a:extLst>
                    <a:ext uri="{9D8B030D-6E8A-4147-A177-3AD203B41FA5}">
                      <a16:colId xmlns:a16="http://schemas.microsoft.com/office/drawing/2014/main" val="1787808539"/>
                    </a:ext>
                  </a:extLst>
                </a:gridCol>
                <a:gridCol w="1984744">
                  <a:extLst>
                    <a:ext uri="{9D8B030D-6E8A-4147-A177-3AD203B41FA5}">
                      <a16:colId xmlns:a16="http://schemas.microsoft.com/office/drawing/2014/main" val="318783621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Debit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latin typeface="Garamond" panose="02020404030301010803" pitchFamily="18" charset="0"/>
                        </a:rPr>
                        <a:t>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974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(a)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Aircraft (+A)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568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Garamond" panose="02020404030301010803" pitchFamily="18" charset="0"/>
                        </a:rPr>
                        <a:t>     Cash (-A)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Garamond" panose="020204040303010108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Garamond" panose="02020404030301010803" pitchFamily="18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67265"/>
                  </a:ext>
                </a:extLst>
              </a:tr>
            </a:tbl>
          </a:graphicData>
        </a:graphic>
      </p:graphicFrame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4BBEB59B-A064-25EF-A808-47A32D937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59045"/>
              </p:ext>
            </p:extLst>
          </p:nvPr>
        </p:nvGraphicFramePr>
        <p:xfrm>
          <a:off x="6175487" y="4141781"/>
          <a:ext cx="4580620" cy="1703070"/>
        </p:xfrm>
        <a:graphic>
          <a:graphicData uri="http://schemas.openxmlformats.org/drawingml/2006/table">
            <a:tbl>
              <a:tblPr/>
              <a:tblGrid>
                <a:gridCol w="1437760">
                  <a:extLst>
                    <a:ext uri="{9D8B030D-6E8A-4147-A177-3AD203B41FA5}">
                      <a16:colId xmlns:a16="http://schemas.microsoft.com/office/drawing/2014/main" val="4105303149"/>
                    </a:ext>
                  </a:extLst>
                </a:gridCol>
                <a:gridCol w="821578">
                  <a:extLst>
                    <a:ext uri="{9D8B030D-6E8A-4147-A177-3AD203B41FA5}">
                      <a16:colId xmlns:a16="http://schemas.microsoft.com/office/drawing/2014/main" val="327535545"/>
                    </a:ext>
                  </a:extLst>
                </a:gridCol>
                <a:gridCol w="1499704">
                  <a:extLst>
                    <a:ext uri="{9D8B030D-6E8A-4147-A177-3AD203B41FA5}">
                      <a16:colId xmlns:a16="http://schemas.microsoft.com/office/drawing/2014/main" val="4011747126"/>
                    </a:ext>
                  </a:extLst>
                </a:gridCol>
                <a:gridCol w="821578">
                  <a:extLst>
                    <a:ext uri="{9D8B030D-6E8A-4147-A177-3AD203B41FA5}">
                      <a16:colId xmlns:a16="http://schemas.microsoft.com/office/drawing/2014/main" val="1723511012"/>
                    </a:ext>
                  </a:extLst>
                </a:gridCol>
              </a:tblGrid>
              <a:tr h="23801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 (A)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28196"/>
                  </a:ext>
                </a:extLst>
              </a:tr>
              <a:tr h="25388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492849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571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(a)</a:t>
                      </a:r>
                    </a:p>
                  </a:txBody>
                  <a:tcPr marL="9525" marR="571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247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698912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912745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57150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696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44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9EBD-3F77-21DF-45F7-1DE75AE0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9648D0-C405-7A4C-E3A4-55396874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20E7E7-85C2-20D9-11C5-545B486C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 lnSpcReduction="1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:10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Record debit and credit of a transaction in a journal entry and show the transaction effect in T-accounts</a:t>
            </a:r>
          </a:p>
          <a:p>
            <a:pPr marL="0" indent="0">
              <a:buNone/>
            </a:pPr>
            <a:r>
              <a:rPr lang="en-US" b="1" u="sng" dirty="0">
                <a:latin typeface="Garamond" panose="02020404030301010803" pitchFamily="18" charset="0"/>
              </a:rPr>
              <a:t>Record the journal entries of the transactions below and summarize the transactions in T-accounts. </a:t>
            </a:r>
          </a:p>
          <a:p>
            <a:pPr marL="514350" indent="-51435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The owners of </a:t>
            </a: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contribute $100 in cash in return of common stock.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purchase a machine to produce their premium ring collection. They pay $25 in cash. 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Garamond" panose="02020404030301010803" pitchFamily="18" charset="0"/>
              </a:rPr>
              <a:t>Withertop</a:t>
            </a:r>
            <a:r>
              <a:rPr lang="en-US" dirty="0">
                <a:latin typeface="Garamond" panose="02020404030301010803" pitchFamily="18" charset="0"/>
              </a:rPr>
              <a:t> Inc. also purchase $30 worth of raw materials. Half is paid cash and the rest is on credit. 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95D8C4-EBCE-0B16-EEE6-6CAEC740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1DA8155-375E-F891-6368-8C32AF40B6C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139299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98B8-1B6D-0305-BF08-A8B8EB06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412239-2A80-0F17-07C3-D008077A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For next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3B5EBE-720E-0DB8-9FC8-C0D26F539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defTabSz="1097280"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Complete the last in-class exercise (not the same as the in-class questions). </a:t>
            </a:r>
          </a:p>
          <a:p>
            <a:pPr marL="457200" lvl="1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Financial accounting Blackboard course page </a:t>
            </a: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Extra materials  Session 2 – slides</a:t>
            </a:r>
            <a:endParaRPr lang="en-US" b="1" dirty="0">
              <a:latin typeface="Garamond" panose="02020404030301010803" pitchFamily="18" charset="0"/>
            </a:endParaRPr>
          </a:p>
          <a:p>
            <a:pPr marL="514350" indent="-514350" defTabSz="1097280"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Solve exercises to chapter 1 </a:t>
            </a:r>
          </a:p>
          <a:p>
            <a:pPr marL="457200" lvl="1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Financial accounting Blackboard course page </a:t>
            </a: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Materials  Chapter 1  “Review session text”  </a:t>
            </a:r>
            <a:endParaRPr lang="en-US" b="1" dirty="0">
              <a:latin typeface="Garamond" panose="02020404030301010803" pitchFamily="18" charset="0"/>
            </a:endParaRPr>
          </a:p>
          <a:p>
            <a:pPr marL="514350" indent="-514350" defTabSz="1097280">
              <a:buAutoNum type="arabicPeriod"/>
            </a:pP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Solve exercises to chapter 2</a:t>
            </a:r>
          </a:p>
          <a:p>
            <a:pPr marL="457200" lvl="1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Financial accounting Blackboard course page </a:t>
            </a: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Materials  Chapter 2  “Review session text”  </a:t>
            </a:r>
          </a:p>
          <a:p>
            <a:pPr marL="457200" lvl="1" indent="0" defTabSz="1097280">
              <a:buNone/>
            </a:pPr>
            <a:endParaRPr lang="en-US" b="1" dirty="0">
              <a:latin typeface="Garamond" panose="02020404030301010803" pitchFamily="18" charset="0"/>
              <a:sym typeface="Wingdings" pitchFamily="2" charset="2"/>
            </a:endParaRPr>
          </a:p>
          <a:p>
            <a:pPr marL="457200" lvl="1" indent="0" defTabSz="1097280">
              <a:buNone/>
            </a:pPr>
            <a:endParaRPr lang="en-US" b="1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dirty="0">
              <a:latin typeface="Garamond" panose="02020404030301010803" pitchFamily="18" charset="0"/>
              <a:sym typeface="Wingdings" pitchFamily="2" charset="2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2C11F9-0574-572A-20D5-D5BC1BAF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2507C6A-B154-C899-4E74-0820319F8F7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518938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7823</TotalTime>
  <Words>2769</Words>
  <Application>Microsoft Macintosh PowerPoint</Application>
  <PresentationFormat>Widescreen</PresentationFormat>
  <Paragraphs>436</Paragraphs>
  <Slides>39</Slides>
  <Notes>38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Garamond</vt:lpstr>
      <vt:lpstr>Tema di Office</vt:lpstr>
      <vt:lpstr>30692 Financial Accounting (Module 1 – Session 2)</vt:lpstr>
      <vt:lpstr>Overview</vt:lpstr>
      <vt:lpstr>The conceptual framework</vt:lpstr>
      <vt:lpstr>The conceptual framework</vt:lpstr>
      <vt:lpstr>The conceptual framework</vt:lpstr>
      <vt:lpstr>Overview</vt:lpstr>
      <vt:lpstr>Small recap </vt:lpstr>
      <vt:lpstr>Assets</vt:lpstr>
      <vt:lpstr>Assets</vt:lpstr>
      <vt:lpstr>Liabilities</vt:lpstr>
      <vt:lpstr>Liabilities</vt:lpstr>
      <vt:lpstr>Owners’ equity</vt:lpstr>
      <vt:lpstr>Owners’ equity</vt:lpstr>
      <vt:lpstr>Overview</vt:lpstr>
      <vt:lpstr>The basic principles of accounting</vt:lpstr>
      <vt:lpstr>For recap: Conceptual construct of financial statements</vt:lpstr>
      <vt:lpstr>Small exercise</vt:lpstr>
      <vt:lpstr>The accounting cycle</vt:lpstr>
      <vt:lpstr>How do we keep account?</vt:lpstr>
      <vt:lpstr>Transactions: How do they arise?</vt:lpstr>
      <vt:lpstr>Transactions: Where do we record them?</vt:lpstr>
      <vt:lpstr>The four-step approach to learning how to record business transactions</vt:lpstr>
      <vt:lpstr>Step 1: Direction and the accounting equation</vt:lpstr>
      <vt:lpstr>Small exercise</vt:lpstr>
      <vt:lpstr>Small exercise</vt:lpstr>
      <vt:lpstr>Small exercise</vt:lpstr>
      <vt:lpstr>Small exercise</vt:lpstr>
      <vt:lpstr>Step 2: Adding numbers and accounts</vt:lpstr>
      <vt:lpstr>Small exercise</vt:lpstr>
      <vt:lpstr>Small exercise</vt:lpstr>
      <vt:lpstr>Step 3: Double-entry bookkeeping and journal entries</vt:lpstr>
      <vt:lpstr>Step 3: Double-entry bookkeeping and journal entries</vt:lpstr>
      <vt:lpstr>Step 3: Double-entry bookkeeping and journal entries</vt:lpstr>
      <vt:lpstr>Small exercise</vt:lpstr>
      <vt:lpstr>Small exercise</vt:lpstr>
      <vt:lpstr>Step 4: Posting journal entries to the ledger (T-accounts)</vt:lpstr>
      <vt:lpstr>Step 4: Posting journal entries to the ledger (T-accounts)</vt:lpstr>
      <vt:lpstr>Small exercise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30426 Accounting and financial statement analysis - Module 1</dc:title>
  <dc:creator>Luca S.</dc:creator>
  <cp:lastModifiedBy>Kasper Flyger Regenburg</cp:lastModifiedBy>
  <cp:revision>172</cp:revision>
  <cp:lastPrinted>2021-09-03T12:47:24Z</cp:lastPrinted>
  <dcterms:created xsi:type="dcterms:W3CDTF">2019-08-31T08:21:58Z</dcterms:created>
  <dcterms:modified xsi:type="dcterms:W3CDTF">2025-09-08T21:48:48Z</dcterms:modified>
</cp:coreProperties>
</file>