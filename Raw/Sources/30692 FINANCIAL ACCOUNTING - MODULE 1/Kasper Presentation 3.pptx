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sldIdLst>
    <p:sldId id="256" r:id="rId2"/>
    <p:sldId id="604" r:id="rId3"/>
    <p:sldId id="563" r:id="rId4"/>
    <p:sldId id="558" r:id="rId5"/>
    <p:sldId id="564" r:id="rId6"/>
    <p:sldId id="565" r:id="rId7"/>
    <p:sldId id="566" r:id="rId8"/>
    <p:sldId id="567" r:id="rId9"/>
    <p:sldId id="568" r:id="rId10"/>
    <p:sldId id="569" r:id="rId11"/>
    <p:sldId id="570" r:id="rId12"/>
    <p:sldId id="571" r:id="rId13"/>
    <p:sldId id="572" r:id="rId14"/>
    <p:sldId id="573" r:id="rId15"/>
    <p:sldId id="576" r:id="rId16"/>
    <p:sldId id="607" r:id="rId17"/>
    <p:sldId id="582" r:id="rId18"/>
    <p:sldId id="584" r:id="rId19"/>
    <p:sldId id="585" r:id="rId20"/>
    <p:sldId id="586" r:id="rId21"/>
    <p:sldId id="608" r:id="rId22"/>
    <p:sldId id="595" r:id="rId23"/>
    <p:sldId id="597" r:id="rId24"/>
    <p:sldId id="602" r:id="rId25"/>
    <p:sldId id="529" r:id="rId26"/>
    <p:sldId id="603" r:id="rId27"/>
    <p:sldId id="589" r:id="rId28"/>
    <p:sldId id="591" r:id="rId29"/>
    <p:sldId id="592" r:id="rId30"/>
    <p:sldId id="593" r:id="rId31"/>
    <p:sldId id="594" r:id="rId32"/>
    <p:sldId id="596" r:id="rId33"/>
    <p:sldId id="601" r:id="rId34"/>
    <p:sldId id="606" r:id="rId35"/>
    <p:sldId id="546" r:id="rId36"/>
  </p:sldIdLst>
  <p:sldSz cx="12192000" cy="6858000"/>
  <p:notesSz cx="7104063" cy="102346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Stile medio 4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350" autoAdjust="0"/>
    <p:restoredTop sz="86415" autoAdjust="0"/>
  </p:normalViewPr>
  <p:slideViewPr>
    <p:cSldViewPr snapToGrid="0">
      <p:cViewPr varScale="1">
        <p:scale>
          <a:sx n="105" d="100"/>
          <a:sy n="105" d="100"/>
        </p:scale>
        <p:origin x="22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42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8" cy="513508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3991" y="1"/>
            <a:ext cx="3078428" cy="513508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r">
              <a:defRPr sz="1300"/>
            </a:lvl1pPr>
          </a:lstStyle>
          <a:p>
            <a:fld id="{BE7658AA-419F-4D52-B99B-D6E7AEC0B52F}" type="datetimeFigureOut">
              <a:rPr lang="it-IT" smtClean="0"/>
              <a:t>10/09/25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7" tIns="49534" rIns="99067" bIns="49534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7" tIns="49534" rIns="99067" bIns="49534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3991" y="9721107"/>
            <a:ext cx="3078428" cy="513507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r">
              <a:defRPr sz="1300"/>
            </a:lvl1pPr>
          </a:lstStyle>
          <a:p>
            <a:fld id="{90428E0A-68A3-4969-8E44-8603FB83DD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256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780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D7398-964D-4CC3-B13F-858A531C6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609EA61-0590-BAAD-EAE6-35141CF3B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B6D92C5-1B70-8D0D-908B-5B39751F0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1D12945-BE7F-4E69-33A7-BE3F63E2F7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1134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7CD7F-9CFA-38A6-C892-E3F73BD1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D58A262-9283-97B6-C7A5-8C362CB9A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BB6497D-0939-0722-3AAA-7CC9EDCDD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E886CBF-56E4-4E38-2049-A1234391C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2761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9327-475A-0AD8-EC13-DD27CE22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C10FC89-A6F6-7BF8-3FE9-2576E9B81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D64DBBD-57A1-9306-C645-3BEC666AB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BED908-747F-8E3C-B89C-E9EA037852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8851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A246-A0CD-7911-79D8-BB6CA450C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1D9E34E-69CD-8A4A-6D44-CD71ECB08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703FC90-6CE0-2185-6374-F480717FE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E123CD2-9500-8BF1-2D5B-EDFD667A9D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6000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984C6-22F4-051D-E1D0-646F8617C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69FA8FA-3DAB-2CE5-8EBC-6FB9686E0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C17D30E-3D4A-8269-417A-40A0DFF6A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628652-6958-5E1A-EA30-BF6D41D8AF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994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1D4A-92B8-713D-11CD-9FD525CA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546D5B4-5AAD-75C4-C4BB-857BC34E2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8FC5B3E-C878-C1C0-60AE-97AD54A11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DF1404-4AF5-8E6F-E5AF-AF49624221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2179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DF74-B2D1-DDFD-B26A-3CE3EDE06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BC25E40-4C80-F71A-36B0-F51D0FCB0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796EB85-2DD1-4AFF-62DA-2086C0EC1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79F25F-DDAB-83EB-1A2F-A2B198275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797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217E5-F0DD-2FD4-FBC0-C09B0A78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A74CB9C-2FC9-B26C-67CD-17D743FF3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D69579E-6C8D-322B-CAAC-78CFC6A86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T-account template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</a:t>
            </a:r>
            <a:r>
              <a:rPr lang="it-IT" dirty="0" err="1"/>
              <a:t>Blackboard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can </a:t>
            </a:r>
            <a:r>
              <a:rPr lang="it-IT" dirty="0" err="1"/>
              <a:t>also</a:t>
            </a:r>
            <a:r>
              <a:rPr lang="it-IT" dirty="0"/>
              <a:t> do </a:t>
            </a:r>
            <a:r>
              <a:rPr lang="it-IT" dirty="0" err="1"/>
              <a:t>it</a:t>
            </a:r>
            <a:r>
              <a:rPr lang="it-IT" dirty="0"/>
              <a:t> in hand.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5B94592-FC43-A0D4-38AC-398544AB7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9506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BBF3C-D39B-6EDF-2652-114B5E714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0131603-DD0F-44D2-C608-10AA43205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C816A9B-442C-B419-337A-EDCC46656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2E859F-CFED-CDB6-9649-2637BB0A19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409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9AE8B-9AC5-7C00-5721-14A461BD2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8095C1C-15DC-101D-373A-FADCDB079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76CC65-2108-5DD7-0D40-6F74A53CD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D91C6E3-71B4-77E3-2FFC-D496F90F47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4767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D6525-F441-BC68-5DDB-CF79CF35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85BF09B-9D07-CD87-376F-C8515DE6E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F85C703-0826-3A8D-D7C5-50AB3FCC9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8C3449-7234-0156-103B-4517D48BC4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872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6ADFE-4D00-33F6-2FC6-96EB131FB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6832184-B0A0-2FBC-A4BB-87D20BE66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239F819-C783-C1E1-83C4-1EA1E6E9E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Answers</a:t>
            </a:r>
            <a:r>
              <a:rPr lang="it-IT" dirty="0"/>
              <a:t> on </a:t>
            </a:r>
            <a:r>
              <a:rPr lang="it-IT" dirty="0" err="1"/>
              <a:t>whiteboard</a:t>
            </a:r>
            <a:r>
              <a:rPr lang="it-IT" dirty="0"/>
              <a:t> and on </a:t>
            </a:r>
            <a:r>
              <a:rPr lang="it-IT" dirty="0" err="1"/>
              <a:t>Blackboard</a:t>
            </a:r>
            <a:r>
              <a:rPr lang="it-IT" dirty="0"/>
              <a:t> after class.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81E0F4-28A9-6D28-1B06-FACF93CE3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85895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916E-2A71-DECF-4ADE-890A3F53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F2CBB71-4C3E-026B-2E5E-4C2C43177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3BB99B1-9486-DD31-02EC-0FD89FDA1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583758-097A-A908-1830-C70B19BCA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6158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9D4D0-F5FA-4959-D837-266F4665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E562729-7FF0-00F0-2967-2D78AE532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0E76417-CB9A-5720-01C4-6F1157044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Answers</a:t>
            </a:r>
            <a:r>
              <a:rPr lang="it-IT" dirty="0"/>
              <a:t> on </a:t>
            </a:r>
            <a:r>
              <a:rPr lang="it-IT" dirty="0" err="1"/>
              <a:t>whiteboard</a:t>
            </a:r>
            <a:r>
              <a:rPr lang="it-IT" dirty="0"/>
              <a:t> and on </a:t>
            </a:r>
            <a:r>
              <a:rPr lang="it-IT" dirty="0" err="1"/>
              <a:t>Blackboard</a:t>
            </a:r>
            <a:r>
              <a:rPr lang="it-IT" dirty="0"/>
              <a:t> after class.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F879824-0B5E-8802-EE0E-3B4B7A1B1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4938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A650E-60C4-CC5F-A9EB-145553B7F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9131E01-ED2B-BE4D-4EA7-1D11D9227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2F0DCB-E5C6-220A-03D1-982B88B51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E4F43AE-067B-752C-E8C5-2D969F9166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07650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DF696-37F5-DE45-7923-E9BE9237F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AEF41C6-93C1-58AB-8CBC-30037ABD0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1A237E-B9D2-04A4-DA7B-0DF7AECD0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C5DD97F-3A11-2725-6BCF-9F023F1E5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2810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8628-DB95-E8B6-FDA1-50E0EC888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AFEB7F3-D5C8-04E0-9E0E-876FE7DE3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A8FA864-95D8-3C29-690D-7A9E9D06B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6BBADBF-9CB0-0A7B-30D5-14B8E28D9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47239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4CC29-BD9D-E509-B438-B66DA0FC0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772DE2B-5A37-A9AF-0412-8FD8111C4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11E44E3-2BA9-5863-74F9-8DF6DC6E3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1B97D9-0915-7EFD-DE3E-B150D1F94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79687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C0AA-281A-B45E-543B-7F8DCE5D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21E979E-C466-64F8-CE65-4FDD30A4F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FF4A6DC-2E08-CBB5-B0B2-341CDC93F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D850F9-17C1-BF43-2132-AA7CC4EE31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94908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E4FB8-1D7B-E163-556B-4B08E4BF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F88C141-F724-9CF5-9DA0-E30D5956B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54E29DE-8896-396E-675E-170DB4A48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D6B683-9263-1C38-2BAC-EB8E63DBE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36977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6402E-26CF-ED34-391C-0928577F8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66D726C-7695-DD48-3758-BAFCF01A5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2A1A189-BC87-2731-9D04-6A91F1D96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8435E2-2785-0844-1FD7-4EFCDDF94B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62365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B3D0-25E3-9726-523A-7C14129A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F7A73B7-83BD-8390-E320-47A4FBB51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31BCBF2-5591-121E-A81F-EC30F3BC8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23577E-B3CC-64E4-CC2D-7B5CB21CD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02682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62107-3492-3417-8158-50145D07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60A5521-6466-8C55-4AC8-E4D7FE532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E1E7535-420A-5629-482C-3872B9934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Linked</a:t>
            </a:r>
            <a:r>
              <a:rPr lang="it-IT" dirty="0"/>
              <a:t> to assets and liabilities, so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thus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to be </a:t>
            </a:r>
            <a:r>
              <a:rPr lang="it-IT" dirty="0" err="1"/>
              <a:t>measurable</a:t>
            </a:r>
            <a:r>
              <a:rPr lang="it-IT" dirty="0"/>
              <a:t>. 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F49517-E7A6-E016-1956-1097A9A7D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237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62107-3492-3417-8158-50145D07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60A5521-6466-8C55-4AC8-E4D7FE532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E1E7535-420A-5629-482C-3872B9934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F49517-E7A6-E016-1956-1097A9A7D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237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F248-5CB7-BF44-CCBB-8F7300AE3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65E0C22-56E2-8303-5EF8-2889E4FB9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8AEEFD3-4A41-9045-FB3E-0B212F2FD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Read page 113-114 of the book for a list of </a:t>
            </a:r>
            <a:r>
              <a:rPr lang="it-IT" dirty="0" err="1"/>
              <a:t>Chipotle’s</a:t>
            </a:r>
            <a:r>
              <a:rPr lang="it-IT" dirty="0"/>
              <a:t> </a:t>
            </a:r>
            <a:r>
              <a:rPr lang="it-IT" dirty="0" err="1"/>
              <a:t>expenses</a:t>
            </a:r>
            <a:r>
              <a:rPr lang="it-IT" dirty="0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AAF6438-6CDC-2DBD-74DC-68AE6B205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58636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F2D19-3DA3-F2EB-2976-9F360D3A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5120299-85A5-CCFF-8BAB-834615AD6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AAA5630-0531-FB2E-A8BC-E5EE0F177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58F377-5AC5-659A-C100-6A1A7A634D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27602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D8619-6A2D-581B-4E99-3D9D60C2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9AD0071-6479-A9E3-CE7B-A1172A1E5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4C75FF4-E25C-A755-5399-9DCD18B29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Notice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with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expenses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strictly</a:t>
            </a:r>
            <a:r>
              <a:rPr lang="it-IT" dirty="0"/>
              <a:t> assume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are the </a:t>
            </a:r>
            <a:r>
              <a:rPr lang="it-IT" dirty="0" err="1"/>
              <a:t>only</a:t>
            </a:r>
            <a:r>
              <a:rPr lang="it-IT" dirty="0"/>
              <a:t> one.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expand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later</a:t>
            </a:r>
            <a:r>
              <a:rPr lang="it-IT" dirty="0"/>
              <a:t>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EEAC22-5A3F-2084-2858-2B191248F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4993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C9FA4-702D-1F3D-9863-E1E0277D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43D8FBF-A2EF-246E-A778-00AB25BD3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0053C79-7F43-49E3-EE03-AEA5F6859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077DDB3-C590-8471-3451-D80C41D8E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58778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E25A-CC7E-9606-DE24-D3C428C6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C508AE3-0DC1-69DD-0CE8-A72C23434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DD81179-00A9-0E73-B6FA-D48798D75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04AE22-7950-FEF6-F634-745BF571E4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95688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86174-1F95-E11B-E703-77080FD6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A546A3B-CA9E-9AD2-9A0E-88309708D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33AACDE-DD29-49AD-5C49-06DF76F37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835E017-F8FD-8C82-794E-1EAB44F505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7256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2D7AC-FC17-7E04-9493-1700AFD62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FB99BB6-CC6C-6973-C1EC-AF5D41B2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8E3AFD1-D708-F67E-C215-8E8F2988D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of </a:t>
            </a:r>
            <a:r>
              <a:rPr lang="it-IT" dirty="0" err="1"/>
              <a:t>deferred</a:t>
            </a:r>
            <a:r>
              <a:rPr lang="it-IT" dirty="0"/>
              <a:t> revenue.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C7AC26-9924-9036-CA85-56E427AEF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72116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D75B-3249-D4FF-C600-9DA39237E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D32620B-82C7-0E58-43C0-551E0D202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D28385D-34FE-3920-3818-41326F954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9112443-F977-9E9B-D841-D0AB7234D7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72266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BEB58-2233-57F8-9696-829B0862D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75CE701-E8F5-DF1E-B63F-97CAD620C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C2C3B86-13E4-6CF4-D0C4-A7C8FA912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6A3F93-D055-DDE9-A6BB-051660AA0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22465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80C1-88A7-3A4A-055F-9EC19D7C4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2DECC0-98B4-AC22-7963-75402B009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842F226-BED8-B6CF-78DB-2C12B8608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EF21A3E-B25D-0B3E-7488-2586AC9BF5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6727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2992-3CBD-44C0-8330-393EB61B5379}" type="datetime1">
              <a:rPr lang="it-IT" smtClean="0"/>
              <a:t>10/09/25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106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72E1-AB19-4438-A9E4-CC335275A8E4}" type="datetime1">
              <a:rPr lang="it-IT" smtClean="0"/>
              <a:t>10/09/25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1712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6E74-961E-445D-A2BF-CEC7831DF110}" type="datetime1">
              <a:rPr lang="it-IT" smtClean="0"/>
              <a:t>10/09/25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226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73E9-1357-4F40-B3B8-B37DAECF2896}" type="datetime1">
              <a:rPr lang="it-IT" smtClean="0"/>
              <a:t>10/09/25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219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F168-6BD4-486C-8F19-A639E75B434D}" type="datetime1">
              <a:rPr lang="it-IT" smtClean="0"/>
              <a:t>10/09/25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180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26D53-1533-4BD6-A7EB-41B41E7EFB69}" type="datetime1">
              <a:rPr lang="it-IT" smtClean="0"/>
              <a:t>10/09/25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7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84C9-6246-4470-B18E-3C12CE210891}" type="datetime1">
              <a:rPr lang="it-IT" smtClean="0"/>
              <a:t>10/09/25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693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E8641-A484-45F8-8975-025F391C7A70}" type="datetime1">
              <a:rPr lang="it-IT" smtClean="0"/>
              <a:t>10/09/25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835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AF6-ADCF-47AC-A93D-9FE5AB6A7360}" type="datetime1">
              <a:rPr lang="it-IT" smtClean="0"/>
              <a:t>10/09/25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912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E502-F109-4FF9-AA0B-1B539F62B299}" type="datetime1">
              <a:rPr lang="it-IT" smtClean="0"/>
              <a:t>10/09/25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1078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623C8-3A6D-4A65-9FCE-C0153D1CF7F8}" type="datetime1">
              <a:rPr lang="it-IT" smtClean="0"/>
              <a:t>10/09/25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1879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BF50A-24DC-473A-ADA5-CBB4D27EAE85}" type="datetime1">
              <a:rPr lang="it-IT" smtClean="0"/>
              <a:t>10/09/25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845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92421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it-IT" dirty="0">
                <a:solidFill>
                  <a:srgbClr val="002060"/>
                </a:solidFill>
                <a:latin typeface="Garamond" panose="02020404030301010803" pitchFamily="18" charset="0"/>
              </a:rPr>
              <a:t>30692</a:t>
            </a:r>
            <a:br>
              <a:rPr lang="it-IT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it-IT" b="1" dirty="0">
                <a:solidFill>
                  <a:srgbClr val="002060"/>
                </a:solidFill>
                <a:latin typeface="Garamond" panose="02020404030301010803" pitchFamily="18" charset="0"/>
              </a:rPr>
              <a:t>Financial Accounting</a:t>
            </a:r>
            <a:br>
              <a:rPr lang="it-IT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it-IT" dirty="0">
                <a:solidFill>
                  <a:srgbClr val="002060"/>
                </a:solidFill>
                <a:latin typeface="Garamond" panose="02020404030301010803" pitchFamily="18" charset="0"/>
              </a:rPr>
              <a:t>(Module 1 – Session 3)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4403889"/>
            <a:ext cx="9144000" cy="1655762"/>
          </a:xfrm>
        </p:spPr>
        <p:txBody>
          <a:bodyPr>
            <a:normAutofit/>
          </a:bodyPr>
          <a:lstStyle/>
          <a:p>
            <a:endParaRPr lang="it-IT" sz="3200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r>
              <a:rPr lang="it-IT" sz="3200" dirty="0">
                <a:solidFill>
                  <a:srgbClr val="002060"/>
                </a:solidFill>
                <a:latin typeface="Garamond" panose="02020404030301010803" pitchFamily="18" charset="0"/>
              </a:rPr>
              <a:t>Academic </a:t>
            </a:r>
            <a:r>
              <a:rPr lang="it-IT" sz="3200" dirty="0" err="1">
                <a:solidFill>
                  <a:srgbClr val="002060"/>
                </a:solidFill>
                <a:latin typeface="Garamond" panose="02020404030301010803" pitchFamily="18" charset="0"/>
              </a:rPr>
              <a:t>year</a:t>
            </a:r>
            <a:r>
              <a:rPr lang="it-IT" sz="3200" dirty="0">
                <a:solidFill>
                  <a:srgbClr val="002060"/>
                </a:solidFill>
                <a:latin typeface="Garamond" panose="02020404030301010803" pitchFamily="18" charset="0"/>
              </a:rPr>
              <a:t> 2025-2026</a:t>
            </a:r>
          </a:p>
        </p:txBody>
      </p:sp>
      <p:pic>
        <p:nvPicPr>
          <p:cNvPr id="4" name="Immagin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E9C03A-61BB-6DD4-CEE3-1C54D8F63DD7}"/>
              </a:ext>
            </a:extLst>
          </p:cNvPr>
          <p:cNvSpPr txBox="1"/>
          <p:nvPr/>
        </p:nvSpPr>
        <p:spPr>
          <a:xfrm>
            <a:off x="4281832" y="5828560"/>
            <a:ext cx="3628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Kasper Regenburg</a:t>
            </a:r>
          </a:p>
          <a:p>
            <a:pPr algn="ctr"/>
            <a:r>
              <a:rPr lang="en-US" dirty="0"/>
              <a:t>Assistant Professor of Accounting</a:t>
            </a:r>
          </a:p>
        </p:txBody>
      </p:sp>
    </p:spTree>
    <p:extLst>
      <p:ext uri="{BB962C8B-B14F-4D97-AF65-F5344CB8AC3E}">
        <p14:creationId xmlns:p14="http://schemas.microsoft.com/office/powerpoint/2010/main" val="38875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A13B5-FF4B-72FE-0092-D95780A8A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1C560E-8158-8C60-BFC8-EC52F50A6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Overview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1BD1E2-AD03-2E99-056F-F3671845F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4AD242EB-7282-EF5B-47A6-F4AF7D6C6B57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2E89D5F1-036A-AB21-307D-1BFD6DE1711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C86FF544-76E7-119F-C9D0-1875E1A4C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In-class questions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Small recap: Principles of accounting and during the accounting period.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Review of exercises </a:t>
            </a:r>
          </a:p>
          <a:p>
            <a:pPr marL="514350" indent="-514350" algn="just"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Beginning year balances</a:t>
            </a:r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At the end of the accounting period (step 1 – prepare trial balance)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Revenue and expenses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operation cycle and more on accrual accounting</a:t>
            </a:r>
          </a:p>
        </p:txBody>
      </p:sp>
    </p:spTree>
    <p:extLst>
      <p:ext uri="{BB962C8B-B14F-4D97-AF65-F5344CB8AC3E}">
        <p14:creationId xmlns:p14="http://schemas.microsoft.com/office/powerpoint/2010/main" val="1581074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716A1-90FA-36FC-B851-60E89322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41E53B-54BD-515D-AACC-20C41CADC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recap: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9257D7-66D0-91ED-6309-E474001A0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Garamond" panose="02020404030301010803" pitchFamily="18" charset="0"/>
              </a:rPr>
              <a:t>Basic principles of accounting: </a:t>
            </a:r>
          </a:p>
          <a:p>
            <a:pPr lvl="1" algn="just"/>
            <a:r>
              <a:rPr lang="en-US" dirty="0">
                <a:latin typeface="Garamond" panose="02020404030301010803" pitchFamily="18" charset="0"/>
              </a:rPr>
              <a:t>Revenue recognition = When earned / realized</a:t>
            </a:r>
          </a:p>
          <a:p>
            <a:pPr lvl="1" algn="just"/>
            <a:r>
              <a:rPr lang="en-US" dirty="0" err="1">
                <a:latin typeface="Garamond" panose="02020404030301010803" pitchFamily="18" charset="0"/>
              </a:rPr>
              <a:t>Macthing</a:t>
            </a:r>
            <a:r>
              <a:rPr lang="en-US" dirty="0">
                <a:latin typeface="Garamond" panose="02020404030301010803" pitchFamily="18" charset="0"/>
              </a:rPr>
              <a:t> principle = Expenses should be recognized at same time when revenue that the expenses help generate is recognized</a:t>
            </a:r>
          </a:p>
          <a:p>
            <a:pPr lvl="1" algn="just"/>
            <a:r>
              <a:rPr lang="en-US" dirty="0">
                <a:latin typeface="Garamond" panose="02020404030301010803" pitchFamily="18" charset="0"/>
              </a:rPr>
              <a:t>Historical cost = Assets and liabilities recognized at cost the first time. </a:t>
            </a:r>
          </a:p>
          <a:p>
            <a:pPr lvl="1" algn="just"/>
            <a:endParaRPr lang="en-US" dirty="0">
              <a:latin typeface="Garamond" panose="02020404030301010803" pitchFamily="18" charset="0"/>
            </a:endParaRPr>
          </a:p>
          <a:p>
            <a:pPr algn="just"/>
            <a:r>
              <a:rPr lang="en-US" dirty="0">
                <a:latin typeface="Garamond" panose="02020404030301010803" pitchFamily="18" charset="0"/>
              </a:rPr>
              <a:t>During the accounting cycle and transactions: </a:t>
            </a:r>
          </a:p>
          <a:p>
            <a:pPr lvl="1" defTabSz="1097280"/>
            <a:r>
              <a:rPr lang="en-US" dirty="0">
                <a:latin typeface="Garamond" panose="02020404030301010803" pitchFamily="18" charset="0"/>
              </a:rPr>
              <a:t>Transactions can be external vs internal, affect two or more accounts (dual effects), and should always satisfy the accounting equation and debit = credit (double-entry bookkeeping).</a:t>
            </a:r>
          </a:p>
          <a:p>
            <a:pPr lvl="1" defTabSz="1097280"/>
            <a:r>
              <a:rPr lang="en-US" dirty="0">
                <a:latin typeface="Garamond" panose="02020404030301010803" pitchFamily="18" charset="0"/>
              </a:rPr>
              <a:t>Analyze transaction (direction, accounts, and number), record journal entries, and post effect on ledger (overview with T-accounts).  </a:t>
            </a:r>
            <a:endParaRPr lang="en-US" b="1" dirty="0">
              <a:latin typeface="Garamond" panose="02020404030301010803" pitchFamily="18" charset="0"/>
            </a:endParaRPr>
          </a:p>
          <a:p>
            <a:pPr lvl="1" algn="just"/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F97882-47DE-69C3-9D82-D0B6F54A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E5BC9F76-FB3C-3CD3-6684-F0A27AEB13B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341015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39EBD-3F77-21DF-45F7-1DE75AE09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9648D0-C405-7A4C-E3A4-553968740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20E7E7-85C2-20D9-11C5-545B486C6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450871"/>
            <a:ext cx="9434732" cy="5042004"/>
          </a:xfrm>
        </p:spPr>
        <p:txBody>
          <a:bodyPr>
            <a:normAutofit lnSpcReduction="10000"/>
          </a:bodyPr>
          <a:lstStyle/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Duration</a:t>
            </a:r>
            <a:r>
              <a:rPr lang="en-US" dirty="0">
                <a:latin typeface="Garamond" panose="02020404030301010803" pitchFamily="18" charset="0"/>
              </a:rPr>
              <a:t>:10 min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With?</a:t>
            </a:r>
            <a:r>
              <a:rPr lang="en-US" dirty="0">
                <a:latin typeface="Garamond" panose="02020404030301010803" pitchFamily="18" charset="0"/>
              </a:rPr>
              <a:t>: Alone or in pairs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: Record debit and credit of a transaction in a journal entry and show the transaction effect in T-accounts</a:t>
            </a: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Record the journal entries of the transactions below and summarize the transactions in T-accounts. </a:t>
            </a:r>
          </a:p>
          <a:p>
            <a:pPr marL="514350" indent="-514350"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The owners of </a:t>
            </a: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contribute $100 in cash in return of common stock. 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purchase a machine to produce their premium ring collection. They pay $25 in cash. 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also purchase $30 worth of raw materials. Half is paid cash and the rest is on credit. 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995D8C4-EBCE-0B16-EEE6-6CAEC740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4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C1DA8155-375E-F891-6368-8C32AF40B6C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285614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4874D-62AF-4616-8BF1-4512C0333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76E29A-47D0-A69A-B06E-C9602B3A1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6A8BDB-7796-FCE3-1D0A-EF3B8F27B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450871"/>
            <a:ext cx="9434732" cy="504200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The owners of </a:t>
            </a: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contribute $100 in cash in return of common stock. 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purchase a machine to produce their premium ring collection. They pay $25 in cash. 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also purchase $30 worth of raw materials. Half is paid cash and the rest is on credit.  </a:t>
            </a:r>
          </a:p>
          <a:p>
            <a:pPr marL="514350" indent="-514350">
              <a:buAutoNum type="arabicPeriod"/>
            </a:pPr>
            <a:endParaRPr lang="en-US" dirty="0">
              <a:latin typeface="Garamond" panose="02020404030301010803" pitchFamily="18" charset="0"/>
            </a:endParaRPr>
          </a:p>
          <a:p>
            <a:pPr marL="514350" indent="-514350"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CF75B7-3AAA-2545-3721-1BB0E1FB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5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B71B170F-522C-9BB2-D7A4-1DFC19145F8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BBA687-63D7-537B-A0E0-CA120CEB0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545130"/>
              </p:ext>
            </p:extLst>
          </p:nvPr>
        </p:nvGraphicFramePr>
        <p:xfrm>
          <a:off x="1378634" y="2349130"/>
          <a:ext cx="9188892" cy="1771764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981724">
                  <a:extLst>
                    <a:ext uri="{9D8B030D-6E8A-4147-A177-3AD203B41FA5}">
                      <a16:colId xmlns:a16="http://schemas.microsoft.com/office/drawing/2014/main" val="3749711826"/>
                    </a:ext>
                  </a:extLst>
                </a:gridCol>
                <a:gridCol w="4258945">
                  <a:extLst>
                    <a:ext uri="{9D8B030D-6E8A-4147-A177-3AD203B41FA5}">
                      <a16:colId xmlns:a16="http://schemas.microsoft.com/office/drawing/2014/main" val="3981021807"/>
                    </a:ext>
                  </a:extLst>
                </a:gridCol>
                <a:gridCol w="1963479">
                  <a:extLst>
                    <a:ext uri="{9D8B030D-6E8A-4147-A177-3AD203B41FA5}">
                      <a16:colId xmlns:a16="http://schemas.microsoft.com/office/drawing/2014/main" val="1787808539"/>
                    </a:ext>
                  </a:extLst>
                </a:gridCol>
                <a:gridCol w="1984744">
                  <a:extLst>
                    <a:ext uri="{9D8B030D-6E8A-4147-A177-3AD203B41FA5}">
                      <a16:colId xmlns:a16="http://schemas.microsoft.com/office/drawing/2014/main" val="3187836215"/>
                    </a:ext>
                  </a:extLst>
                </a:gridCol>
              </a:tblGrid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Debit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Credit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59743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(1)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Cash (+A)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100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95688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    Common stock (+SE)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100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67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14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2CB84-76A8-5637-93D2-E51F3B6F0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3C4F89-47D2-BAE4-E454-0BEA99265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992BCC-BAAF-01E2-A59B-805B0404D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450871"/>
            <a:ext cx="9434732" cy="504200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The owners of </a:t>
            </a: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contribute $100 in cash in return of common stock. 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purchase a machine to produce their premium ring collection. They pay $25 in cash. 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also purchase $30 worth of raw materials. Half is paid cash and the rest is on credit.  </a:t>
            </a:r>
          </a:p>
          <a:p>
            <a:pPr marL="514350" indent="-514350">
              <a:buAutoNum type="arabicPeriod"/>
            </a:pPr>
            <a:endParaRPr lang="en-US" dirty="0">
              <a:latin typeface="Garamond" panose="02020404030301010803" pitchFamily="18" charset="0"/>
            </a:endParaRPr>
          </a:p>
          <a:p>
            <a:pPr marL="514350" indent="-514350"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BC7962-78E8-3769-0125-03C2A89F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6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6F038F96-CDA5-CD5E-6133-4F8844BA896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23607F-CEFB-FD47-2228-CAB7A580E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765360"/>
              </p:ext>
            </p:extLst>
          </p:nvPr>
        </p:nvGraphicFramePr>
        <p:xfrm>
          <a:off x="1368243" y="3205899"/>
          <a:ext cx="9188892" cy="1771764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981724">
                  <a:extLst>
                    <a:ext uri="{9D8B030D-6E8A-4147-A177-3AD203B41FA5}">
                      <a16:colId xmlns:a16="http://schemas.microsoft.com/office/drawing/2014/main" val="3749711826"/>
                    </a:ext>
                  </a:extLst>
                </a:gridCol>
                <a:gridCol w="4258945">
                  <a:extLst>
                    <a:ext uri="{9D8B030D-6E8A-4147-A177-3AD203B41FA5}">
                      <a16:colId xmlns:a16="http://schemas.microsoft.com/office/drawing/2014/main" val="3981021807"/>
                    </a:ext>
                  </a:extLst>
                </a:gridCol>
                <a:gridCol w="1963479">
                  <a:extLst>
                    <a:ext uri="{9D8B030D-6E8A-4147-A177-3AD203B41FA5}">
                      <a16:colId xmlns:a16="http://schemas.microsoft.com/office/drawing/2014/main" val="1787808539"/>
                    </a:ext>
                  </a:extLst>
                </a:gridCol>
                <a:gridCol w="1984744">
                  <a:extLst>
                    <a:ext uri="{9D8B030D-6E8A-4147-A177-3AD203B41FA5}">
                      <a16:colId xmlns:a16="http://schemas.microsoft.com/office/drawing/2014/main" val="3187836215"/>
                    </a:ext>
                  </a:extLst>
                </a:gridCol>
              </a:tblGrid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Debit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Credit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59743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(2)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PPE (+A)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95688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    Cash (-A)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67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410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EF55-A6ED-BB72-AE99-1E03A216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05FE8C-FCF2-8FDE-013A-1E7DAC37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DF8620-6FFA-0D74-4EA4-A632F0708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450871"/>
            <a:ext cx="9434732" cy="504200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The owners of </a:t>
            </a: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contribute $100 in cash in return of common stock. 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purchase a machine to produce their premium ring collection. They pay $25 in cash. 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also purchase $30 worth of raw materials. Half is paid cash and the rest is on credit.  </a:t>
            </a:r>
          </a:p>
          <a:p>
            <a:pPr marL="514350" indent="-514350">
              <a:buAutoNum type="arabicPeriod"/>
            </a:pPr>
            <a:endParaRPr lang="en-US" dirty="0">
              <a:latin typeface="Garamond" panose="02020404030301010803" pitchFamily="18" charset="0"/>
            </a:endParaRPr>
          </a:p>
          <a:p>
            <a:pPr marL="514350" indent="-514350"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DCB31D0-F489-E688-160B-5A63E7CD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7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071876A6-4E2E-3AC0-8805-F2D9D56F92F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A763FE-F83B-4F74-C41C-577C69E91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054419"/>
              </p:ext>
            </p:extLst>
          </p:nvPr>
        </p:nvGraphicFramePr>
        <p:xfrm>
          <a:off x="1378634" y="4178129"/>
          <a:ext cx="9188892" cy="2362352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981724">
                  <a:extLst>
                    <a:ext uri="{9D8B030D-6E8A-4147-A177-3AD203B41FA5}">
                      <a16:colId xmlns:a16="http://schemas.microsoft.com/office/drawing/2014/main" val="3749711826"/>
                    </a:ext>
                  </a:extLst>
                </a:gridCol>
                <a:gridCol w="4258945">
                  <a:extLst>
                    <a:ext uri="{9D8B030D-6E8A-4147-A177-3AD203B41FA5}">
                      <a16:colId xmlns:a16="http://schemas.microsoft.com/office/drawing/2014/main" val="3981021807"/>
                    </a:ext>
                  </a:extLst>
                </a:gridCol>
                <a:gridCol w="1963479">
                  <a:extLst>
                    <a:ext uri="{9D8B030D-6E8A-4147-A177-3AD203B41FA5}">
                      <a16:colId xmlns:a16="http://schemas.microsoft.com/office/drawing/2014/main" val="1787808539"/>
                    </a:ext>
                  </a:extLst>
                </a:gridCol>
                <a:gridCol w="1984744">
                  <a:extLst>
                    <a:ext uri="{9D8B030D-6E8A-4147-A177-3AD203B41FA5}">
                      <a16:colId xmlns:a16="http://schemas.microsoft.com/office/drawing/2014/main" val="3187836215"/>
                    </a:ext>
                  </a:extLst>
                </a:gridCol>
              </a:tblGrid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Debit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Credit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59743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(3)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Inventory (+A)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30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95688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    Cash (-A)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67265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    Accounts payable (+L)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26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822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BFECB-E680-8EF7-DDDE-DBFBB1136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7061BA-0732-82DD-CCD3-D44D0A13E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9EE576-0F28-A9C2-1954-DD4FDB41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450871"/>
            <a:ext cx="9434732" cy="504200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159E5F-650F-9224-D1B9-56006EFA6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8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E8EAD17F-F3BE-3BFA-3230-06088577476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ECA27B-4897-660C-1EE3-F704F4B5C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279528"/>
              </p:ext>
            </p:extLst>
          </p:nvPr>
        </p:nvGraphicFramePr>
        <p:xfrm>
          <a:off x="1378634" y="1314227"/>
          <a:ext cx="9188892" cy="5315292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981724">
                  <a:extLst>
                    <a:ext uri="{9D8B030D-6E8A-4147-A177-3AD203B41FA5}">
                      <a16:colId xmlns:a16="http://schemas.microsoft.com/office/drawing/2014/main" val="3749711826"/>
                    </a:ext>
                  </a:extLst>
                </a:gridCol>
                <a:gridCol w="4258945">
                  <a:extLst>
                    <a:ext uri="{9D8B030D-6E8A-4147-A177-3AD203B41FA5}">
                      <a16:colId xmlns:a16="http://schemas.microsoft.com/office/drawing/2014/main" val="3981021807"/>
                    </a:ext>
                  </a:extLst>
                </a:gridCol>
                <a:gridCol w="1963479">
                  <a:extLst>
                    <a:ext uri="{9D8B030D-6E8A-4147-A177-3AD203B41FA5}">
                      <a16:colId xmlns:a16="http://schemas.microsoft.com/office/drawing/2014/main" val="1787808539"/>
                    </a:ext>
                  </a:extLst>
                </a:gridCol>
                <a:gridCol w="1984744">
                  <a:extLst>
                    <a:ext uri="{9D8B030D-6E8A-4147-A177-3AD203B41FA5}">
                      <a16:colId xmlns:a16="http://schemas.microsoft.com/office/drawing/2014/main" val="3187836215"/>
                    </a:ext>
                  </a:extLst>
                </a:gridCol>
              </a:tblGrid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Debit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Credit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59743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(1)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Cash (+A)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100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88464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    Common stock (+SE)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100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685874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(2)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PPE (+A)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485589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    Cash (-A)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619789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(3)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Inventory (+A)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30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95688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    Cash (-A)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67265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    Accounts payable (+L)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26666"/>
                  </a:ext>
                </a:extLst>
              </a:tr>
              <a:tr h="590588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155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155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626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433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81834-C0E1-DDA4-158E-81375B5A6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20B060-A190-114B-BE6B-CF000E23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6461CFD-0023-3192-726A-A4BF3A89B9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0877469"/>
              </p:ext>
            </p:extLst>
          </p:nvPr>
        </p:nvGraphicFramePr>
        <p:xfrm>
          <a:off x="1377269" y="1513838"/>
          <a:ext cx="9436097" cy="4542102"/>
        </p:xfrm>
        <a:graphic>
          <a:graphicData uri="http://schemas.openxmlformats.org/drawingml/2006/table">
            <a:tbl>
              <a:tblPr/>
              <a:tblGrid>
                <a:gridCol w="1542892">
                  <a:extLst>
                    <a:ext uri="{9D8B030D-6E8A-4147-A177-3AD203B41FA5}">
                      <a16:colId xmlns:a16="http://schemas.microsoft.com/office/drawing/2014/main" val="319159154"/>
                    </a:ext>
                  </a:extLst>
                </a:gridCol>
                <a:gridCol w="790261">
                  <a:extLst>
                    <a:ext uri="{9D8B030D-6E8A-4147-A177-3AD203B41FA5}">
                      <a16:colId xmlns:a16="http://schemas.microsoft.com/office/drawing/2014/main" val="1118223472"/>
                    </a:ext>
                  </a:extLst>
                </a:gridCol>
                <a:gridCol w="1354734">
                  <a:extLst>
                    <a:ext uri="{9D8B030D-6E8A-4147-A177-3AD203B41FA5}">
                      <a16:colId xmlns:a16="http://schemas.microsoft.com/office/drawing/2014/main" val="3576947450"/>
                    </a:ext>
                  </a:extLst>
                </a:gridCol>
                <a:gridCol w="790261">
                  <a:extLst>
                    <a:ext uri="{9D8B030D-6E8A-4147-A177-3AD203B41FA5}">
                      <a16:colId xmlns:a16="http://schemas.microsoft.com/office/drawing/2014/main" val="2634300200"/>
                    </a:ext>
                  </a:extLst>
                </a:gridCol>
                <a:gridCol w="275964">
                  <a:extLst>
                    <a:ext uri="{9D8B030D-6E8A-4147-A177-3AD203B41FA5}">
                      <a16:colId xmlns:a16="http://schemas.microsoft.com/office/drawing/2014/main" val="3229814548"/>
                    </a:ext>
                  </a:extLst>
                </a:gridCol>
                <a:gridCol w="275964">
                  <a:extLst>
                    <a:ext uri="{9D8B030D-6E8A-4147-A177-3AD203B41FA5}">
                      <a16:colId xmlns:a16="http://schemas.microsoft.com/office/drawing/2014/main" val="3986037164"/>
                    </a:ext>
                  </a:extLst>
                </a:gridCol>
                <a:gridCol w="1382958">
                  <a:extLst>
                    <a:ext uri="{9D8B030D-6E8A-4147-A177-3AD203B41FA5}">
                      <a16:colId xmlns:a16="http://schemas.microsoft.com/office/drawing/2014/main" val="1721336265"/>
                    </a:ext>
                  </a:extLst>
                </a:gridCol>
                <a:gridCol w="790261">
                  <a:extLst>
                    <a:ext uri="{9D8B030D-6E8A-4147-A177-3AD203B41FA5}">
                      <a16:colId xmlns:a16="http://schemas.microsoft.com/office/drawing/2014/main" val="4165364305"/>
                    </a:ext>
                  </a:extLst>
                </a:gridCol>
                <a:gridCol w="1442541">
                  <a:extLst>
                    <a:ext uri="{9D8B030D-6E8A-4147-A177-3AD203B41FA5}">
                      <a16:colId xmlns:a16="http://schemas.microsoft.com/office/drawing/2014/main" val="538484659"/>
                    </a:ext>
                  </a:extLst>
                </a:gridCol>
                <a:gridCol w="790261">
                  <a:extLst>
                    <a:ext uri="{9D8B030D-6E8A-4147-A177-3AD203B41FA5}">
                      <a16:colId xmlns:a16="http://schemas.microsoft.com/office/drawing/2014/main" val="1927557664"/>
                    </a:ext>
                  </a:extLst>
                </a:gridCol>
              </a:tblGrid>
              <a:tr h="188220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Asset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Equity and liab.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917761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78018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905233"/>
                  </a:ext>
                </a:extLst>
              </a:tr>
              <a:tr h="18822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Cash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Common stock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529670"/>
                  </a:ext>
                </a:extLst>
              </a:tr>
              <a:tr h="20076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848574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100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25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853499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15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189473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962835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60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614397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64495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101794"/>
                  </a:ext>
                </a:extLst>
              </a:tr>
              <a:tr h="18822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PPE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Accounts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370625"/>
                  </a:ext>
                </a:extLst>
              </a:tr>
              <a:tr h="20076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991674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(2)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15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(3)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30421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687924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065947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25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72445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672197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600820"/>
                  </a:ext>
                </a:extLst>
              </a:tr>
              <a:tr h="18822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Inventory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636447"/>
                  </a:ext>
                </a:extLst>
              </a:tr>
              <a:tr h="20076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163301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(3)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95081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152626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76134"/>
                  </a:ext>
                </a:extLst>
              </a:tr>
              <a:tr h="1756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30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23887"/>
                  </a:ext>
                </a:extLst>
              </a:tr>
            </a:tbl>
          </a:graphicData>
        </a:graphic>
      </p:graphicFrame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A96DB2-5702-C571-7280-7A3F8F949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9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9DFBF7FD-E82F-D29A-867B-2EB6AACA302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55AB2D-04AB-9B72-FF23-95237A382E25}"/>
              </a:ext>
            </a:extLst>
          </p:cNvPr>
          <p:cNvSpPr txBox="1"/>
          <p:nvPr/>
        </p:nvSpPr>
        <p:spPr>
          <a:xfrm>
            <a:off x="3782290" y="6255327"/>
            <a:ext cx="4998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Debit: 60 + 25 + 30 = 115       Credit: 100 + 15 = 115 </a:t>
            </a:r>
          </a:p>
        </p:txBody>
      </p:sp>
    </p:spTree>
    <p:extLst>
      <p:ext uri="{BB962C8B-B14F-4D97-AF65-F5344CB8AC3E}">
        <p14:creationId xmlns:p14="http://schemas.microsoft.com/office/powerpoint/2010/main" val="161652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29587-043D-C8B5-58C4-2A78D6F0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DC8C10-BCA7-1E2D-F938-B2B747294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Review of exercises for chapter 1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DB1A048-5405-FB59-057D-DCE2330AE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10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ECCA539E-AB7F-2176-098C-B66F61DFF27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8A1639E1-D4D6-6CE7-B028-FBEE2DE83B1D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3A22DA28-E0DB-AAA3-8ACB-BC2E1AA09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034" y="1603271"/>
            <a:ext cx="9434732" cy="5042004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dirty="0">
                <a:latin typeface="Garamond" panose="02020404030301010803" pitchFamily="18" charset="0"/>
              </a:rPr>
              <a:t>We will not go through exercises 1 and 2 </a:t>
            </a:r>
            <a:r>
              <a:rPr lang="en-US" dirty="0">
                <a:latin typeface="Garamond" panose="02020404030301010803" pitchFamily="18" charset="0"/>
                <a:sym typeface="Wingdings" pitchFamily="2" charset="2"/>
              </a:rPr>
              <a:t> The answers will be posted on the</a:t>
            </a:r>
            <a:endParaRPr lang="en-US" b="1" i="1" dirty="0">
              <a:latin typeface="Garamond" panose="02020404030301010803" pitchFamily="18" charset="0"/>
              <a:sym typeface="Wingdings" pitchFamily="2" charset="2"/>
            </a:endParaRPr>
          </a:p>
          <a:p>
            <a:pPr marL="0" indent="0" defTabSz="1097280">
              <a:buNone/>
            </a:pPr>
            <a:r>
              <a:rPr lang="en-US" b="1" i="1" dirty="0">
                <a:latin typeface="Garamond" panose="02020404030301010803" pitchFamily="18" charset="0"/>
                <a:sym typeface="Wingdings" pitchFamily="2" charset="2"/>
              </a:rPr>
              <a:t>Blackboard course page</a:t>
            </a:r>
            <a:r>
              <a:rPr lang="en-US" dirty="0">
                <a:latin typeface="Garamond" panose="02020404030301010803" pitchFamily="18" charset="0"/>
                <a:sym typeface="Wingdings" pitchFamily="2" charset="2"/>
              </a:rPr>
              <a:t>  </a:t>
            </a:r>
            <a:r>
              <a:rPr lang="en-US" b="1" i="1" dirty="0">
                <a:latin typeface="Garamond" panose="02020404030301010803" pitchFamily="18" charset="0"/>
                <a:sym typeface="Wingdings" pitchFamily="2" charset="2"/>
              </a:rPr>
              <a:t>Materials </a:t>
            </a:r>
            <a:r>
              <a:rPr lang="en-US" b="1" dirty="0">
                <a:latin typeface="Garamond" panose="02020404030301010803" pitchFamily="18" charset="0"/>
                <a:sym typeface="Wingdings" pitchFamily="2" charset="2"/>
              </a:rPr>
              <a:t> </a:t>
            </a:r>
            <a:r>
              <a:rPr lang="en-US" b="1" i="1" dirty="0">
                <a:latin typeface="Garamond" panose="02020404030301010803" pitchFamily="18" charset="0"/>
                <a:sym typeface="Wingdings" pitchFamily="2" charset="2"/>
              </a:rPr>
              <a:t>Review session solution.</a:t>
            </a: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575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DD88F-F85D-BA6D-D67E-EB711834D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5944D6-EC82-15C1-E97F-60C7F5FDB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Review of exercise 3 for chapter 1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14A408-9885-1A2B-DBFD-0292EBAA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11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9C5F274E-5FD8-0E73-5C1B-664BEB4502B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A9BE7E3D-B1E9-A935-DB6E-7B8492251A1E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E1721-B52D-633B-2D79-1191BE102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233" y="1353899"/>
            <a:ext cx="10656617" cy="390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91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B3782-57B3-E771-FFBE-945FD11E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F074F5-299C-63E3-A3AE-5FF7C0E43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Review of exercise 3 for chapter 1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A06360-3786-5D4E-4E23-880595DA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12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728AD5E9-20D1-DD1D-5D89-51B11594B89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5A22BA09-96BD-A3B2-1EE9-40AF700ED0AB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B81E6-1B0B-5BF6-8090-B538EE61C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764" y="1222271"/>
            <a:ext cx="8653818" cy="533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34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73674-66DD-CD67-D7F5-11AD15FD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CEE99F-9753-B2A7-AFCA-FF1020773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Review exercise 4 for chapter 1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CE319F-487B-7E47-F5C1-D58DB5B2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13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85113503-CEC9-E348-E6A6-0E688960C1B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91AF59C1-60DA-25D6-4CE7-2D721DE19C59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4121CF-3E27-9D7D-6378-AAC233991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634" y="1450871"/>
            <a:ext cx="10071838" cy="444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13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9740-9132-4F0A-D3B7-65EB3B5F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A4FD6A-D14D-79D3-F238-E36A45D9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Review exercise 1 for chapter 2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5EEB51-0DCD-4D8A-D9F3-83C4C539B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14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7EF95928-EC8D-ABD8-8CC5-DC55950B7FEF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47BF55-EA56-3C02-33D8-D988CF25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21" y="1450871"/>
            <a:ext cx="10899503" cy="36806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339D958-B9A4-6785-5E2A-887971E70B6B}"/>
              </a:ext>
            </a:extLst>
          </p:cNvPr>
          <p:cNvSpPr/>
          <p:nvPr/>
        </p:nvSpPr>
        <p:spPr>
          <a:xfrm>
            <a:off x="4830417" y="2405270"/>
            <a:ext cx="1520687" cy="377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A15094-A867-C0B7-5A33-12AD21CE0630}"/>
              </a:ext>
            </a:extLst>
          </p:cNvPr>
          <p:cNvSpPr/>
          <p:nvPr/>
        </p:nvSpPr>
        <p:spPr>
          <a:xfrm>
            <a:off x="7086600" y="2375453"/>
            <a:ext cx="1520687" cy="377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4BA22F-47C4-8DF7-FFC1-612B911F091B}"/>
              </a:ext>
            </a:extLst>
          </p:cNvPr>
          <p:cNvSpPr/>
          <p:nvPr/>
        </p:nvSpPr>
        <p:spPr>
          <a:xfrm>
            <a:off x="5158409" y="2902228"/>
            <a:ext cx="1520687" cy="463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FD45E-94FF-5014-B623-9F9DCB7D34D4}"/>
              </a:ext>
            </a:extLst>
          </p:cNvPr>
          <p:cNvSpPr/>
          <p:nvPr/>
        </p:nvSpPr>
        <p:spPr>
          <a:xfrm>
            <a:off x="5158409" y="3409950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14F929-A7FA-EB4B-AB78-9F3CECCCF3DC}"/>
              </a:ext>
            </a:extLst>
          </p:cNvPr>
          <p:cNvSpPr/>
          <p:nvPr/>
        </p:nvSpPr>
        <p:spPr>
          <a:xfrm>
            <a:off x="6993559" y="3406775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FE173A-0206-3527-A6BA-2A1E072D412F}"/>
              </a:ext>
            </a:extLst>
          </p:cNvPr>
          <p:cNvSpPr/>
          <p:nvPr/>
        </p:nvSpPr>
        <p:spPr>
          <a:xfrm>
            <a:off x="5028401" y="3687512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0A5BB3-F79F-37A9-8F7C-ACAE7FF5A14A}"/>
              </a:ext>
            </a:extLst>
          </p:cNvPr>
          <p:cNvSpPr/>
          <p:nvPr/>
        </p:nvSpPr>
        <p:spPr>
          <a:xfrm>
            <a:off x="7089811" y="3687512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60C3D1-B8C5-9A33-AE58-AAD20347FA5D}"/>
              </a:ext>
            </a:extLst>
          </p:cNvPr>
          <p:cNvSpPr/>
          <p:nvPr/>
        </p:nvSpPr>
        <p:spPr>
          <a:xfrm>
            <a:off x="5100590" y="4080543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48B928-D1D3-81CB-3FFC-899C8E7CFD0C}"/>
              </a:ext>
            </a:extLst>
          </p:cNvPr>
          <p:cNvSpPr/>
          <p:nvPr/>
        </p:nvSpPr>
        <p:spPr>
          <a:xfrm>
            <a:off x="9183305" y="4056480"/>
            <a:ext cx="1520687" cy="262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62D0A0-E04B-BFE0-0F60-10C4991B4E10}"/>
              </a:ext>
            </a:extLst>
          </p:cNvPr>
          <p:cNvSpPr/>
          <p:nvPr/>
        </p:nvSpPr>
        <p:spPr>
          <a:xfrm>
            <a:off x="5028401" y="4501356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D6AC1-AA0B-139C-127C-AE75C5840036}"/>
              </a:ext>
            </a:extLst>
          </p:cNvPr>
          <p:cNvSpPr/>
          <p:nvPr/>
        </p:nvSpPr>
        <p:spPr>
          <a:xfrm>
            <a:off x="6953454" y="4493334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17F247-5508-A36E-9D1D-1442EDEB46EC}"/>
              </a:ext>
            </a:extLst>
          </p:cNvPr>
          <p:cNvSpPr/>
          <p:nvPr/>
        </p:nvSpPr>
        <p:spPr>
          <a:xfrm>
            <a:off x="4972253" y="4766051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C2CE3F-E958-741C-BE4C-886271D8A916}"/>
              </a:ext>
            </a:extLst>
          </p:cNvPr>
          <p:cNvSpPr/>
          <p:nvPr/>
        </p:nvSpPr>
        <p:spPr>
          <a:xfrm>
            <a:off x="7137937" y="4766051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265499-5868-8E33-50DF-B369340B45D3}"/>
              </a:ext>
            </a:extLst>
          </p:cNvPr>
          <p:cNvSpPr/>
          <p:nvPr/>
        </p:nvSpPr>
        <p:spPr>
          <a:xfrm>
            <a:off x="9159242" y="4766051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4DE08-8D9B-FFBD-18EE-4D844828A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957FB2-4AD6-2336-6C6A-AF8DBDE4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Review of exercise 2 for chapter 2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8D0926-A709-C233-026E-487D0DAB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15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49A8339B-E884-DB38-F52A-0985B271D8B2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530241-A1E3-C030-EDBF-1A47DA8D3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179" y="1450871"/>
            <a:ext cx="10578041" cy="3648051"/>
          </a:xfrm>
          <a:prstGeom prst="rect">
            <a:avLst/>
          </a:prstGeom>
        </p:spPr>
      </p:pic>
      <p:pic>
        <p:nvPicPr>
          <p:cNvPr id="22" name="Immagine 3">
            <a:extLst>
              <a:ext uri="{FF2B5EF4-FFF2-40B4-BE49-F238E27FC236}">
                <a16:creationId xmlns:a16="http://schemas.microsoft.com/office/drawing/2014/main" id="{F17491CD-A664-E286-5438-82D3FF6ECE7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2523959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0D36-533D-09B2-529F-A29142C2F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F374CE-45DF-4C0C-61CE-406CA0815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Overview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6AB7EBC-6002-3302-6AE7-851F75E4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16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D6F711A-6209-857E-CC30-6A79FD799DFA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D24F23AF-B2AC-ADF5-5A7D-AAAEAF88DFF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A0092CC9-1A96-167A-D388-C20DB38B2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In-class questions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Small recap: Principles of accounting and during the accounting period.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Review of exercises </a:t>
            </a:r>
          </a:p>
          <a:p>
            <a:pPr marL="514350" indent="-514350" algn="just"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Beginning year balances</a:t>
            </a:r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At the end of the accounting period (step 1 – prepare trial balance)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Revenue and expenses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operation cycle and more on accrual accounting</a:t>
            </a:r>
          </a:p>
        </p:txBody>
      </p:sp>
    </p:spTree>
    <p:extLst>
      <p:ext uri="{BB962C8B-B14F-4D97-AF65-F5344CB8AC3E}">
        <p14:creationId xmlns:p14="http://schemas.microsoft.com/office/powerpoint/2010/main" val="108378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FA28F-8191-3BF1-B900-E4A80512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02E789-D4EF-8DF8-E335-83A469114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Beginning of year balances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898CEFC-BF04-0DE5-3C56-AADC4844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17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CBB3F352-DDE8-BCFA-B363-D99E79F5FD6A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648FE9D9-19C2-E302-CB73-CE88CB3EDAC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E10CB09-AD90-58A7-356C-81689C21F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6789589"/>
              </p:ext>
            </p:extLst>
          </p:nvPr>
        </p:nvGraphicFramePr>
        <p:xfrm>
          <a:off x="1009651" y="1448426"/>
          <a:ext cx="10661647" cy="5346504"/>
        </p:xfrm>
        <a:graphic>
          <a:graphicData uri="http://schemas.openxmlformats.org/drawingml/2006/table">
            <a:tbl>
              <a:tblPr/>
              <a:tblGrid>
                <a:gridCol w="1743281">
                  <a:extLst>
                    <a:ext uri="{9D8B030D-6E8A-4147-A177-3AD203B41FA5}">
                      <a16:colId xmlns:a16="http://schemas.microsoft.com/office/drawing/2014/main" val="2935613894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91672507"/>
                    </a:ext>
                  </a:extLst>
                </a:gridCol>
                <a:gridCol w="1530686">
                  <a:extLst>
                    <a:ext uri="{9D8B030D-6E8A-4147-A177-3AD203B41FA5}">
                      <a16:colId xmlns:a16="http://schemas.microsoft.com/office/drawing/2014/main" val="4193531757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4181199871"/>
                    </a:ext>
                  </a:extLst>
                </a:gridCol>
                <a:gridCol w="311806">
                  <a:extLst>
                    <a:ext uri="{9D8B030D-6E8A-4147-A177-3AD203B41FA5}">
                      <a16:colId xmlns:a16="http://schemas.microsoft.com/office/drawing/2014/main" val="3565661686"/>
                    </a:ext>
                  </a:extLst>
                </a:gridCol>
                <a:gridCol w="311806">
                  <a:extLst>
                    <a:ext uri="{9D8B030D-6E8A-4147-A177-3AD203B41FA5}">
                      <a16:colId xmlns:a16="http://schemas.microsoft.com/office/drawing/2014/main" val="358379187"/>
                    </a:ext>
                  </a:extLst>
                </a:gridCol>
                <a:gridCol w="1562575">
                  <a:extLst>
                    <a:ext uri="{9D8B030D-6E8A-4147-A177-3AD203B41FA5}">
                      <a16:colId xmlns:a16="http://schemas.microsoft.com/office/drawing/2014/main" val="2879789863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915025977"/>
                    </a:ext>
                  </a:extLst>
                </a:gridCol>
                <a:gridCol w="1629897">
                  <a:extLst>
                    <a:ext uri="{9D8B030D-6E8A-4147-A177-3AD203B41FA5}">
                      <a16:colId xmlns:a16="http://schemas.microsoft.com/office/drawing/2014/main" val="279501798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1215822533"/>
                    </a:ext>
                  </a:extLst>
                </a:gridCol>
              </a:tblGrid>
              <a:tr h="207521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Asset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Equity and liab.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83476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540654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Cash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Common stock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79408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68018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925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800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522998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255153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37147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830554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501518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995407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Inventory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Accounts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513260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59667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500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335111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8666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97795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281053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7321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520062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Property, plant, and equipment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Salaries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507828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846010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450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326627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3364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864997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164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337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BAD3-D433-E138-4A3C-6CCD33BF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B71213-EFA2-CF4F-F28D-F3DB6BEEB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Beginning of year balances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06FEF6-4302-C7CF-471B-203A5CA7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18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8A6F50AF-FCF5-802A-DC9C-6071469D6BCA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FD9D37D8-A89B-FE8C-2227-971506F6EE1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6826BE0-52AC-3CC8-9E98-B386CAB0DF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983828"/>
              </p:ext>
            </p:extLst>
          </p:nvPr>
        </p:nvGraphicFramePr>
        <p:xfrm>
          <a:off x="1009651" y="1448426"/>
          <a:ext cx="10661647" cy="5346504"/>
        </p:xfrm>
        <a:graphic>
          <a:graphicData uri="http://schemas.openxmlformats.org/drawingml/2006/table">
            <a:tbl>
              <a:tblPr/>
              <a:tblGrid>
                <a:gridCol w="1743281">
                  <a:extLst>
                    <a:ext uri="{9D8B030D-6E8A-4147-A177-3AD203B41FA5}">
                      <a16:colId xmlns:a16="http://schemas.microsoft.com/office/drawing/2014/main" val="2935613894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91672507"/>
                    </a:ext>
                  </a:extLst>
                </a:gridCol>
                <a:gridCol w="1530686">
                  <a:extLst>
                    <a:ext uri="{9D8B030D-6E8A-4147-A177-3AD203B41FA5}">
                      <a16:colId xmlns:a16="http://schemas.microsoft.com/office/drawing/2014/main" val="4193531757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4181199871"/>
                    </a:ext>
                  </a:extLst>
                </a:gridCol>
                <a:gridCol w="311806">
                  <a:extLst>
                    <a:ext uri="{9D8B030D-6E8A-4147-A177-3AD203B41FA5}">
                      <a16:colId xmlns:a16="http://schemas.microsoft.com/office/drawing/2014/main" val="3565661686"/>
                    </a:ext>
                  </a:extLst>
                </a:gridCol>
                <a:gridCol w="311806">
                  <a:extLst>
                    <a:ext uri="{9D8B030D-6E8A-4147-A177-3AD203B41FA5}">
                      <a16:colId xmlns:a16="http://schemas.microsoft.com/office/drawing/2014/main" val="358379187"/>
                    </a:ext>
                  </a:extLst>
                </a:gridCol>
                <a:gridCol w="1562575">
                  <a:extLst>
                    <a:ext uri="{9D8B030D-6E8A-4147-A177-3AD203B41FA5}">
                      <a16:colId xmlns:a16="http://schemas.microsoft.com/office/drawing/2014/main" val="2879789863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915025977"/>
                    </a:ext>
                  </a:extLst>
                </a:gridCol>
                <a:gridCol w="1629897">
                  <a:extLst>
                    <a:ext uri="{9D8B030D-6E8A-4147-A177-3AD203B41FA5}">
                      <a16:colId xmlns:a16="http://schemas.microsoft.com/office/drawing/2014/main" val="279501798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1215822533"/>
                    </a:ext>
                  </a:extLst>
                </a:gridCol>
              </a:tblGrid>
              <a:tr h="207521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Asset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Equity and liab.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83476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540654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Cash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Common stock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79408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68018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925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800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522998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200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150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255153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37147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830554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501518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995407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Inventory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Accounts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513260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59667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500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335111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150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8666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97795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281053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7321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520062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Property, plant, and equipment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Salaries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507828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846010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450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160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326627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3364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864997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164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100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2168-AD3C-27DC-248A-66C2010CC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610C0A-7F39-E931-24A2-CF263A9A8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Beginning of year balances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97D117A-675C-A275-20FC-D400EAF0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19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4C504487-793E-5BBA-67EA-6190FE90798B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1F009DAA-1713-C70A-9A81-BFFA88AAA83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7111639-B425-7962-70F5-8021CE99A4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09651" y="1448426"/>
          <a:ext cx="10661647" cy="5346504"/>
        </p:xfrm>
        <a:graphic>
          <a:graphicData uri="http://schemas.openxmlformats.org/drawingml/2006/table">
            <a:tbl>
              <a:tblPr/>
              <a:tblGrid>
                <a:gridCol w="1743281">
                  <a:extLst>
                    <a:ext uri="{9D8B030D-6E8A-4147-A177-3AD203B41FA5}">
                      <a16:colId xmlns:a16="http://schemas.microsoft.com/office/drawing/2014/main" val="2935613894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91672507"/>
                    </a:ext>
                  </a:extLst>
                </a:gridCol>
                <a:gridCol w="1530686">
                  <a:extLst>
                    <a:ext uri="{9D8B030D-6E8A-4147-A177-3AD203B41FA5}">
                      <a16:colId xmlns:a16="http://schemas.microsoft.com/office/drawing/2014/main" val="4193531757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4181199871"/>
                    </a:ext>
                  </a:extLst>
                </a:gridCol>
                <a:gridCol w="311806">
                  <a:extLst>
                    <a:ext uri="{9D8B030D-6E8A-4147-A177-3AD203B41FA5}">
                      <a16:colId xmlns:a16="http://schemas.microsoft.com/office/drawing/2014/main" val="3565661686"/>
                    </a:ext>
                  </a:extLst>
                </a:gridCol>
                <a:gridCol w="311806">
                  <a:extLst>
                    <a:ext uri="{9D8B030D-6E8A-4147-A177-3AD203B41FA5}">
                      <a16:colId xmlns:a16="http://schemas.microsoft.com/office/drawing/2014/main" val="358379187"/>
                    </a:ext>
                  </a:extLst>
                </a:gridCol>
                <a:gridCol w="1562575">
                  <a:extLst>
                    <a:ext uri="{9D8B030D-6E8A-4147-A177-3AD203B41FA5}">
                      <a16:colId xmlns:a16="http://schemas.microsoft.com/office/drawing/2014/main" val="2879789863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915025977"/>
                    </a:ext>
                  </a:extLst>
                </a:gridCol>
                <a:gridCol w="1629897">
                  <a:extLst>
                    <a:ext uri="{9D8B030D-6E8A-4147-A177-3AD203B41FA5}">
                      <a16:colId xmlns:a16="http://schemas.microsoft.com/office/drawing/2014/main" val="279501798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1215822533"/>
                    </a:ext>
                  </a:extLst>
                </a:gridCol>
              </a:tblGrid>
              <a:tr h="207521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Asset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Equity and liab.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83476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540654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Cash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Common stock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79408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68018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925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800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522998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200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150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255153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37147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830554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615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800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501518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995407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Inventory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Accounts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513260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59667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500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335111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150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8666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97795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375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281053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7321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520062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Property, plant, and equipment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Salaries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507828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846010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450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160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326627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3364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864997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250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140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1644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1132032-DC2C-A143-F899-9AB1E80958B2}"/>
              </a:ext>
            </a:extLst>
          </p:cNvPr>
          <p:cNvSpPr txBox="1"/>
          <p:nvPr/>
        </p:nvSpPr>
        <p:spPr>
          <a:xfrm>
            <a:off x="7793012" y="961705"/>
            <a:ext cx="344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800 + 300 + 140 = 1240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29DDF-E3C4-DD94-8513-3CBF3E07C39D}"/>
              </a:ext>
            </a:extLst>
          </p:cNvPr>
          <p:cNvSpPr txBox="1"/>
          <p:nvPr/>
        </p:nvSpPr>
        <p:spPr>
          <a:xfrm>
            <a:off x="7793012" y="606105"/>
            <a:ext cx="344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Debit: 615 + 375 + 250 = 1240</a:t>
            </a:r>
          </a:p>
        </p:txBody>
      </p:sp>
    </p:spTree>
    <p:extLst>
      <p:ext uri="{BB962C8B-B14F-4D97-AF65-F5344CB8AC3E}">
        <p14:creationId xmlns:p14="http://schemas.microsoft.com/office/powerpoint/2010/main" val="288272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4337C-7E7E-D734-471F-8A1DF887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4285EB-9FED-EEE0-FC82-B1BDB336A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Trial balance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60F8BB5-625C-F3FA-0F7F-92853BB0F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20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83980327-B2F5-0A85-E8DF-273599906F1F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B80135BC-15D0-FCED-42B5-AB033D24532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BCF6F2-2F83-55B5-AB28-A446CAA3ABBB}"/>
              </a:ext>
            </a:extLst>
          </p:cNvPr>
          <p:cNvSpPr txBox="1"/>
          <p:nvPr/>
        </p:nvSpPr>
        <p:spPr>
          <a:xfrm>
            <a:off x="7793012" y="961705"/>
            <a:ext cx="344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800 + 300 + 140 = 1240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4E415-4611-A9DD-7683-F2F8979443B5}"/>
              </a:ext>
            </a:extLst>
          </p:cNvPr>
          <p:cNvSpPr txBox="1"/>
          <p:nvPr/>
        </p:nvSpPr>
        <p:spPr>
          <a:xfrm>
            <a:off x="7793012" y="606105"/>
            <a:ext cx="344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Debit: 615 + 375 + 250 = 1240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E2821C2-81B6-1E0A-CBC9-D1C90682BE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1398590"/>
              </p:ext>
            </p:extLst>
          </p:nvPr>
        </p:nvGraphicFramePr>
        <p:xfrm>
          <a:off x="1866900" y="1686637"/>
          <a:ext cx="8458199" cy="4913552"/>
        </p:xfrm>
        <a:graphic>
          <a:graphicData uri="http://schemas.openxmlformats.org/drawingml/2006/table">
            <a:tbl>
              <a:tblPr firstRow="1">
                <a:tableStyleId>{0505E3EF-67EA-436B-97B2-0124C06EBD24}</a:tableStyleId>
              </a:tblPr>
              <a:tblGrid>
                <a:gridCol w="4211319">
                  <a:extLst>
                    <a:ext uri="{9D8B030D-6E8A-4147-A177-3AD203B41FA5}">
                      <a16:colId xmlns:a16="http://schemas.microsoft.com/office/drawing/2014/main" val="341412447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1921407887"/>
                    </a:ext>
                  </a:extLst>
                </a:gridCol>
                <a:gridCol w="2174240">
                  <a:extLst>
                    <a:ext uri="{9D8B030D-6E8A-4147-A177-3AD203B41FA5}">
                      <a16:colId xmlns:a16="http://schemas.microsoft.com/office/drawing/2014/main" val="2549086103"/>
                    </a:ext>
                  </a:extLst>
                </a:gridCol>
              </a:tblGrid>
              <a:tr h="570772">
                <a:tc>
                  <a:txBody>
                    <a:bodyPr/>
                    <a:lstStyle/>
                    <a:p>
                      <a:r>
                        <a:rPr lang="en-US" dirty="0"/>
                        <a:t>Company A – Trial Balance </a:t>
                      </a:r>
                    </a:p>
                    <a:p>
                      <a:r>
                        <a:rPr lang="en-US" dirty="0"/>
                        <a:t>Dec 31, 2025 (in millions of euros)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Debit</a:t>
                      </a:r>
                      <a:endParaRPr lang="en-US" sz="20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Credit</a:t>
                      </a:r>
                      <a:endParaRPr lang="en-US" sz="20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540498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dirty="0"/>
                        <a:t>Cash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615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50861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dirty="0"/>
                        <a:t>Inventory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937995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dirty="0"/>
                        <a:t>Property, plant, and equipment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71932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dirty="0"/>
                        <a:t>Salaries payable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959942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dirty="0"/>
                        <a:t>Accounts payable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586508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dirty="0"/>
                        <a:t>Common stock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539791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71772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i="1" dirty="0"/>
                        <a:t>Total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1240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1240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270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652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DD515-F561-6E7F-26AC-464DD4D65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035971-8662-3FCF-64D6-6C9CC9111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Overview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665EC5F-5869-D002-0843-236D9380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21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ACCCDF2B-3F5D-E8BE-5F4E-1EE207D77A29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88B58C9B-8745-B415-829E-75CEC2B2E26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C57006D4-7A7F-5953-B1E7-FD1394E04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In-class questions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Small recap: Principles of accounting and during the accounting period.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Review of exercises </a:t>
            </a:r>
          </a:p>
          <a:p>
            <a:pPr marL="514350" indent="-514350" algn="just">
              <a:buAutoNum type="arabicPeriod"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Beginning year balances</a:t>
            </a:r>
            <a:endParaRPr lang="en-US" dirty="0">
              <a:solidFill>
                <a:schemeClr val="bg1">
                  <a:lumMod val="75000"/>
                </a:schemeClr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At the end of the accounting period (step 1 – prepare trial balance)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Revenue and expenses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operation cycle and more on accrual accounting</a:t>
            </a:r>
          </a:p>
        </p:txBody>
      </p:sp>
    </p:spTree>
    <p:extLst>
      <p:ext uri="{BB962C8B-B14F-4D97-AF65-F5344CB8AC3E}">
        <p14:creationId xmlns:p14="http://schemas.microsoft.com/office/powerpoint/2010/main" val="998048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EA762-0901-E817-D087-43858B64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A6C25D-4191-587B-6EE6-E14D726C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3800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Expanding the debit and credit accounts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043836D-CC4A-6876-DB15-93B0B950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22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3E721269-589C-BC96-CA79-87C34760D7F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pic>
        <p:nvPicPr>
          <p:cNvPr id="6146" name="Picture 2" descr="A diagram illustrating the accounting equation: Assets = Liabilities + Stockholders' Equity, with details on contributed and earned capital.">
            <a:extLst>
              <a:ext uri="{FF2B5EF4-FFF2-40B4-BE49-F238E27FC236}">
                <a16:creationId xmlns:a16="http://schemas.microsoft.com/office/drawing/2014/main" id="{7608AEF4-B45A-F173-5E9F-893425E6E9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" r="27249"/>
          <a:stretch>
            <a:fillRect/>
          </a:stretch>
        </p:blipFill>
        <p:spPr bwMode="auto">
          <a:xfrm>
            <a:off x="1139209" y="1971040"/>
            <a:ext cx="7567912" cy="274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222B22B-1B6C-F63A-414E-27F0D723D97F}"/>
              </a:ext>
            </a:extLst>
          </p:cNvPr>
          <p:cNvSpPr/>
          <p:nvPr/>
        </p:nvSpPr>
        <p:spPr>
          <a:xfrm>
            <a:off x="8463280" y="3596640"/>
            <a:ext cx="147320" cy="18288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83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6F918-F1D6-8B83-1202-F3FD1D4CD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C8D746-1986-C62C-0D5A-EABD2AAE0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3800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Expanding the debit and credit accounts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6FA48A0-DFC0-00B3-D027-B28C5854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23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AF029A03-4F33-A859-F946-53B88120CA5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pic>
        <p:nvPicPr>
          <p:cNvPr id="6146" name="Picture 2" descr="A diagram illustrating the accounting equation: Assets = Liabilities + Stockholders' Equity, with details on contributed and earned capital.">
            <a:extLst>
              <a:ext uri="{FF2B5EF4-FFF2-40B4-BE49-F238E27FC236}">
                <a16:creationId xmlns:a16="http://schemas.microsoft.com/office/drawing/2014/main" id="{B574402B-1AFE-A0B7-3619-FE861E413F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" r="-1661"/>
          <a:stretch>
            <a:fillRect/>
          </a:stretch>
        </p:blipFill>
        <p:spPr bwMode="auto">
          <a:xfrm>
            <a:off x="1139208" y="1971040"/>
            <a:ext cx="10575272" cy="274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568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961F-01B4-958A-9F62-FDED1ED2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59426-923F-BE9D-5B87-811E8573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Revenue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D58082-A55B-41BE-5D4A-B74DC5A98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Definition:</a:t>
            </a:r>
            <a:r>
              <a:rPr lang="en-US" dirty="0">
                <a:latin typeface="Garamond" panose="02020404030301010803" pitchFamily="18" charset="0"/>
              </a:rPr>
              <a:t>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Inflows or other enhancements of assets of an entity or settlements of its liabilities (or a combination of both) from delivering or producing goods, rendering services, or other activities that constitute the entity's ongoing major or central operations.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Order in the income statement:</a:t>
            </a:r>
            <a:r>
              <a:rPr lang="en-US" dirty="0">
                <a:latin typeface="Garamond" panose="02020404030301010803" pitchFamily="18" charset="0"/>
              </a:rPr>
              <a:t> Core revenue(s) at the top, other revenue in ”other income”.  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b="1" u="sng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265EB1-4314-9259-D654-36DA52ED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24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CA8AAAF3-62FD-BF7E-AAFE-AE4571A1DAD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67541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961F-01B4-958A-9F62-FDED1ED2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59426-923F-BE9D-5B87-811E8573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Expenses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D58082-A55B-41BE-5D4A-B74DC5A98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Definition:</a:t>
            </a:r>
            <a:r>
              <a:rPr lang="en-US" dirty="0">
                <a:latin typeface="Garamond" panose="02020404030301010803" pitchFamily="18" charset="0"/>
              </a:rPr>
              <a:t>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Outflows or other using up of assets or incurrences of liabilities (or a combination of both) from delivering or producing goods, rendering services, or carrying out other activities that constitute the entity’s ongoing major or central operations.</a:t>
            </a: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Order in the income statement:</a:t>
            </a:r>
            <a:r>
              <a:rPr lang="en-US" dirty="0">
                <a:latin typeface="Garamond" panose="02020404030301010803" pitchFamily="18" charset="0"/>
              </a:rPr>
              <a:t> Operating section: Typically ordered how closely the expense varies with the revenue. Other section, sometimes with financial items grouped, and taxes. 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b="1" u="sng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265EB1-4314-9259-D654-36DA52ED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25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CA8AAAF3-62FD-BF7E-AAFE-AE4571A1DAD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1950197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30F81-8E1C-1DE2-A76E-EDCA8C1D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232DA-8929-FDE3-0513-0C06EB91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Expenses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625C99-1C0A-84E7-77F0-859D32B39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Examples</a:t>
            </a:r>
            <a:endParaRPr lang="en-US" dirty="0">
              <a:latin typeface="Garamond" panose="02020404030301010803" pitchFamily="18" charset="0"/>
            </a:endParaRP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Cost of goods sold/cost of sales,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Salary expense,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Rent expense,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Other operating expenses,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Income tax expense,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Depreciation expense, and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Interest expenses. 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b="1" u="sng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57A594-D7FD-B3BF-1BC9-1CD7A68F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26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3F5E2648-0790-FC06-53BA-2A335DBF486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3339565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DAAA-318C-2629-FF98-7E10C215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669353-5263-C6C2-3BD9-6CFF7EFD3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3800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operating cycle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DD6C77C-21C1-1698-B7B8-5D43DEC9C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27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2166CA95-1050-4B78-7203-59B2EFBE3AFD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C2F3BE3C-CE89-5BE4-F767-9455DF22A9E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2AED54B5-944A-76AF-3F49-C22E3881F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39ED93-5956-1D5D-2DA3-ACDAA940D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354" y="1417873"/>
            <a:ext cx="7772400" cy="52112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EA7CDC-0478-2386-7929-DA7F8284CC8D}"/>
              </a:ext>
            </a:extLst>
          </p:cNvPr>
          <p:cNvSpPr/>
          <p:nvPr/>
        </p:nvSpPr>
        <p:spPr>
          <a:xfrm>
            <a:off x="7653394" y="2506898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AA31B3-F776-B7CF-81D3-82CDAB55040F}"/>
              </a:ext>
            </a:extLst>
          </p:cNvPr>
          <p:cNvSpPr/>
          <p:nvPr/>
        </p:nvSpPr>
        <p:spPr>
          <a:xfrm>
            <a:off x="9743440" y="4063523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BB7AB2-8AF9-DF09-5B1E-EA2CA580D3A2}"/>
              </a:ext>
            </a:extLst>
          </p:cNvPr>
          <p:cNvSpPr/>
          <p:nvPr/>
        </p:nvSpPr>
        <p:spPr>
          <a:xfrm>
            <a:off x="7414634" y="5630238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27804A-561F-4E91-815B-B4F0547A9E36}"/>
              </a:ext>
            </a:extLst>
          </p:cNvPr>
          <p:cNvSpPr/>
          <p:nvPr/>
        </p:nvSpPr>
        <p:spPr>
          <a:xfrm>
            <a:off x="1519702" y="409098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8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F1DB6-25F3-1DC9-DD2F-15CD54E6F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832AD8-9E31-365F-7792-5F9920E06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3800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operating cycle: Accrual accounting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829479-FF97-79BD-C24B-1119956F1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28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8EFB6962-E264-89CA-07F6-BE2698A253DB}"/>
              </a:ext>
            </a:extLst>
          </p:cNvPr>
          <p:cNvSpPr txBox="1">
            <a:spLocks/>
          </p:cNvSpPr>
          <p:nvPr/>
        </p:nvSpPr>
        <p:spPr>
          <a:xfrm>
            <a:off x="1833717" y="1387054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9E42AA23-A18D-D18C-A1AC-036946C5776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67A694-5832-B7F3-827E-6417AF703435}"/>
              </a:ext>
            </a:extLst>
          </p:cNvPr>
          <p:cNvCxnSpPr>
            <a:cxnSpLocks/>
          </p:cNvCxnSpPr>
          <p:nvPr/>
        </p:nvCxnSpPr>
        <p:spPr>
          <a:xfrm>
            <a:off x="436209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952000-7F0B-9738-BBF5-7AC16A2788C4}"/>
              </a:ext>
            </a:extLst>
          </p:cNvPr>
          <p:cNvCxnSpPr>
            <a:cxnSpLocks/>
          </p:cNvCxnSpPr>
          <p:nvPr/>
        </p:nvCxnSpPr>
        <p:spPr>
          <a:xfrm>
            <a:off x="823305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E28F0B-ED8D-CF97-4ECF-F844F7B9B449}"/>
              </a:ext>
            </a:extLst>
          </p:cNvPr>
          <p:cNvSpPr txBox="1"/>
          <p:nvPr/>
        </p:nvSpPr>
        <p:spPr>
          <a:xfrm>
            <a:off x="1851122" y="1420283"/>
            <a:ext cx="193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Last  year </a:t>
            </a:r>
            <a:br>
              <a:rPr lang="en-US" dirty="0"/>
            </a:br>
            <a:r>
              <a:rPr lang="en-US" dirty="0"/>
              <a:t>2023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715C59-CE03-C3F3-4175-76DA6AB01487}"/>
              </a:ext>
            </a:extLst>
          </p:cNvPr>
          <p:cNvSpPr txBox="1"/>
          <p:nvPr/>
        </p:nvSpPr>
        <p:spPr>
          <a:xfrm>
            <a:off x="5632923" y="1387054"/>
            <a:ext cx="1222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year</a:t>
            </a:r>
            <a:br>
              <a:rPr lang="en-US" dirty="0"/>
            </a:br>
            <a:r>
              <a:rPr lang="en-US" dirty="0"/>
              <a:t>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07D757-E194-A578-61E4-2BF04F60C788}"/>
              </a:ext>
            </a:extLst>
          </p:cNvPr>
          <p:cNvSpPr txBox="1"/>
          <p:nvPr/>
        </p:nvSpPr>
        <p:spPr>
          <a:xfrm>
            <a:off x="9226283" y="1420010"/>
            <a:ext cx="122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year 2025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50F66B-DD14-B3EB-92B3-BBFEA3EE980A}"/>
              </a:ext>
            </a:extLst>
          </p:cNvPr>
          <p:cNvSpPr/>
          <p:nvPr/>
        </p:nvSpPr>
        <p:spPr>
          <a:xfrm>
            <a:off x="1602528" y="6022024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084AEB-D83C-CE6A-95B6-3004147AFEEF}"/>
              </a:ext>
            </a:extLst>
          </p:cNvPr>
          <p:cNvSpPr/>
          <p:nvPr/>
        </p:nvSpPr>
        <p:spPr>
          <a:xfrm>
            <a:off x="4081780" y="6022024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83A5B9-0FAE-3BC3-110D-D930F5E3A030}"/>
              </a:ext>
            </a:extLst>
          </p:cNvPr>
          <p:cNvSpPr/>
          <p:nvPr/>
        </p:nvSpPr>
        <p:spPr>
          <a:xfrm>
            <a:off x="6479752" y="6022024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DD4EBC-A747-C239-03C9-FD5DC93D5431}"/>
              </a:ext>
            </a:extLst>
          </p:cNvPr>
          <p:cNvSpPr/>
          <p:nvPr/>
        </p:nvSpPr>
        <p:spPr>
          <a:xfrm>
            <a:off x="8826923" y="6022023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0EA0BE-0C33-7515-9D58-344AAEE80594}"/>
              </a:ext>
            </a:extLst>
          </p:cNvPr>
          <p:cNvSpPr txBox="1"/>
          <p:nvPr/>
        </p:nvSpPr>
        <p:spPr>
          <a:xfrm>
            <a:off x="2097405" y="613791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goods from supplier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A7EB43-DA90-2528-DDD0-B039521F12E8}"/>
              </a:ext>
            </a:extLst>
          </p:cNvPr>
          <p:cNvSpPr txBox="1"/>
          <p:nvPr/>
        </p:nvSpPr>
        <p:spPr>
          <a:xfrm>
            <a:off x="45459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Payment to supplier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1E27EF-0BC3-8438-1D9B-BC2A0D2CA5C1}"/>
              </a:ext>
            </a:extLst>
          </p:cNvPr>
          <p:cNvSpPr txBox="1"/>
          <p:nvPr/>
        </p:nvSpPr>
        <p:spPr>
          <a:xfrm>
            <a:off x="695388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Sells product to customer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59ACCF-D628-C177-BBEE-2679173DC7A4}"/>
              </a:ext>
            </a:extLst>
          </p:cNvPr>
          <p:cNvSpPr txBox="1"/>
          <p:nvPr/>
        </p:nvSpPr>
        <p:spPr>
          <a:xfrm>
            <a:off x="93211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cash from customer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EECC93-5561-4136-7C14-A19C518DA285}"/>
              </a:ext>
            </a:extLst>
          </p:cNvPr>
          <p:cNvSpPr/>
          <p:nvPr/>
        </p:nvSpPr>
        <p:spPr>
          <a:xfrm>
            <a:off x="1526492" y="20941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4171184-8ACD-95E7-E9A8-75D4B8193153}"/>
              </a:ext>
            </a:extLst>
          </p:cNvPr>
          <p:cNvSpPr/>
          <p:nvPr/>
        </p:nvSpPr>
        <p:spPr>
          <a:xfrm>
            <a:off x="2284763" y="21030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FA14A2-9AF0-E00C-8083-F979197741BE}"/>
              </a:ext>
            </a:extLst>
          </p:cNvPr>
          <p:cNvSpPr/>
          <p:nvPr/>
        </p:nvSpPr>
        <p:spPr>
          <a:xfrm>
            <a:off x="3043034" y="20941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112789-1D0D-A751-C38E-94AF5494DEB7}"/>
              </a:ext>
            </a:extLst>
          </p:cNvPr>
          <p:cNvSpPr/>
          <p:nvPr/>
        </p:nvSpPr>
        <p:spPr>
          <a:xfrm>
            <a:off x="3761903" y="21030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6C2713-E647-07B7-75AB-35A00DAB7383}"/>
              </a:ext>
            </a:extLst>
          </p:cNvPr>
          <p:cNvSpPr txBox="1"/>
          <p:nvPr/>
        </p:nvSpPr>
        <p:spPr>
          <a:xfrm>
            <a:off x="1526492" y="3525520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95CEC-CD0B-D6D7-D978-E40FB5C6420B}"/>
              </a:ext>
            </a:extLst>
          </p:cNvPr>
          <p:cNvSpPr txBox="1"/>
          <p:nvPr/>
        </p:nvSpPr>
        <p:spPr>
          <a:xfrm>
            <a:off x="1536652" y="3850640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EB4BEA-CACA-FABE-66C0-E384D90CC01A}"/>
              </a:ext>
            </a:extLst>
          </p:cNvPr>
          <p:cNvSpPr txBox="1"/>
          <p:nvPr/>
        </p:nvSpPr>
        <p:spPr>
          <a:xfrm>
            <a:off x="1536652" y="4492176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= -10 + 20 =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93A407-8AEF-9506-4B6B-10C28044FBF1}"/>
              </a:ext>
            </a:extLst>
          </p:cNvPr>
          <p:cNvSpPr txBox="1"/>
          <p:nvPr/>
        </p:nvSpPr>
        <p:spPr>
          <a:xfrm>
            <a:off x="1556972" y="4167056"/>
            <a:ext cx="28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= 20 - 10 = 10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D2FEB228-9118-EC82-A9E7-ABEFACE68660}"/>
              </a:ext>
            </a:extLst>
          </p:cNvPr>
          <p:cNvSpPr/>
          <p:nvPr/>
        </p:nvSpPr>
        <p:spPr>
          <a:xfrm>
            <a:off x="4099382" y="3598021"/>
            <a:ext cx="259715" cy="1010868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4F0A5-D2D6-2FA0-0A5F-8E2D7C32C09E}"/>
              </a:ext>
            </a:extLst>
          </p:cNvPr>
          <p:cNvSpPr txBox="1"/>
          <p:nvPr/>
        </p:nvSpPr>
        <p:spPr>
          <a:xfrm>
            <a:off x="4468495" y="3843038"/>
            <a:ext cx="232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Income statement</a:t>
            </a:r>
          </a:p>
        </p:txBody>
      </p:sp>
    </p:spTree>
    <p:extLst>
      <p:ext uri="{BB962C8B-B14F-4D97-AF65-F5344CB8AC3E}">
        <p14:creationId xmlns:p14="http://schemas.microsoft.com/office/powerpoint/2010/main" val="87366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8" grpId="0" animBg="1"/>
      <p:bldP spid="39" grpId="0" animBg="1"/>
      <p:bldP spid="40" grpId="0" animBg="1"/>
      <p:bldP spid="41" grpId="0" animBg="1"/>
      <p:bldP spid="3" grpId="0"/>
      <p:bldP spid="5" grpId="0"/>
      <p:bldP spid="8" grpId="0"/>
      <p:bldP spid="9" grpId="0"/>
      <p:bldP spid="10" grpId="0" animBg="1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27B96-920B-6401-BB8E-DACE65DBB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4CB3278-F9C7-8BDE-60C3-5C7DF280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29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9F929B2A-FE8E-3F6F-BD23-127F81B821E1}"/>
              </a:ext>
            </a:extLst>
          </p:cNvPr>
          <p:cNvSpPr txBox="1">
            <a:spLocks/>
          </p:cNvSpPr>
          <p:nvPr/>
        </p:nvSpPr>
        <p:spPr>
          <a:xfrm>
            <a:off x="1833717" y="1387054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F644BE2B-027F-B219-7262-821E6E3B339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B9C4FC-5708-4917-997E-1429AEE00417}"/>
              </a:ext>
            </a:extLst>
          </p:cNvPr>
          <p:cNvCxnSpPr>
            <a:cxnSpLocks/>
          </p:cNvCxnSpPr>
          <p:nvPr/>
        </p:nvCxnSpPr>
        <p:spPr>
          <a:xfrm>
            <a:off x="436209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D1C015-E386-A23A-BAD0-711317A68D6B}"/>
              </a:ext>
            </a:extLst>
          </p:cNvPr>
          <p:cNvCxnSpPr>
            <a:cxnSpLocks/>
          </p:cNvCxnSpPr>
          <p:nvPr/>
        </p:nvCxnSpPr>
        <p:spPr>
          <a:xfrm>
            <a:off x="823305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BF75F12-F952-B491-6E5F-F425489D4D02}"/>
              </a:ext>
            </a:extLst>
          </p:cNvPr>
          <p:cNvSpPr txBox="1"/>
          <p:nvPr/>
        </p:nvSpPr>
        <p:spPr>
          <a:xfrm>
            <a:off x="1851122" y="1420283"/>
            <a:ext cx="193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Last  year </a:t>
            </a:r>
            <a:br>
              <a:rPr lang="en-US" dirty="0"/>
            </a:br>
            <a:r>
              <a:rPr lang="en-US" dirty="0"/>
              <a:t>2023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49D44C-F154-296B-0DAB-2877E66AA82C}"/>
              </a:ext>
            </a:extLst>
          </p:cNvPr>
          <p:cNvSpPr txBox="1"/>
          <p:nvPr/>
        </p:nvSpPr>
        <p:spPr>
          <a:xfrm>
            <a:off x="5632923" y="1387054"/>
            <a:ext cx="1222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year</a:t>
            </a:r>
            <a:br>
              <a:rPr lang="en-US" dirty="0"/>
            </a:br>
            <a:r>
              <a:rPr lang="en-US" dirty="0"/>
              <a:t>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A25F6C-C4D3-3130-CA40-CA7523AA3040}"/>
              </a:ext>
            </a:extLst>
          </p:cNvPr>
          <p:cNvSpPr txBox="1"/>
          <p:nvPr/>
        </p:nvSpPr>
        <p:spPr>
          <a:xfrm>
            <a:off x="9226283" y="1420010"/>
            <a:ext cx="122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year 2025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5E94E3-EF66-07A9-025D-D256A913A8F9}"/>
              </a:ext>
            </a:extLst>
          </p:cNvPr>
          <p:cNvSpPr/>
          <p:nvPr/>
        </p:nvSpPr>
        <p:spPr>
          <a:xfrm>
            <a:off x="1602528" y="6022024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79B847-8E45-D64A-B946-DB79382D861B}"/>
              </a:ext>
            </a:extLst>
          </p:cNvPr>
          <p:cNvSpPr/>
          <p:nvPr/>
        </p:nvSpPr>
        <p:spPr>
          <a:xfrm>
            <a:off x="4081780" y="6022024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18DFD6-2E2E-823F-1F62-F041902B648C}"/>
              </a:ext>
            </a:extLst>
          </p:cNvPr>
          <p:cNvSpPr/>
          <p:nvPr/>
        </p:nvSpPr>
        <p:spPr>
          <a:xfrm>
            <a:off x="6479752" y="6022024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11DC3B-BB13-3EF0-6061-B0A726AFDFBE}"/>
              </a:ext>
            </a:extLst>
          </p:cNvPr>
          <p:cNvSpPr/>
          <p:nvPr/>
        </p:nvSpPr>
        <p:spPr>
          <a:xfrm>
            <a:off x="8826923" y="6022023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0F2266-509A-B997-AD41-34073AF06AB2}"/>
              </a:ext>
            </a:extLst>
          </p:cNvPr>
          <p:cNvSpPr txBox="1"/>
          <p:nvPr/>
        </p:nvSpPr>
        <p:spPr>
          <a:xfrm>
            <a:off x="2097405" y="613791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goods from supplier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629061-5FC2-5D8D-E513-EC6DBD6F7B5E}"/>
              </a:ext>
            </a:extLst>
          </p:cNvPr>
          <p:cNvSpPr txBox="1"/>
          <p:nvPr/>
        </p:nvSpPr>
        <p:spPr>
          <a:xfrm>
            <a:off x="45459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Payment to supplier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6E12D8-CD72-EA6C-150A-6DC01B49A079}"/>
              </a:ext>
            </a:extLst>
          </p:cNvPr>
          <p:cNvSpPr txBox="1"/>
          <p:nvPr/>
        </p:nvSpPr>
        <p:spPr>
          <a:xfrm>
            <a:off x="695388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Sells product to customer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346B0C-7C73-EB53-67F7-DD01EB7EA958}"/>
              </a:ext>
            </a:extLst>
          </p:cNvPr>
          <p:cNvSpPr txBox="1"/>
          <p:nvPr/>
        </p:nvSpPr>
        <p:spPr>
          <a:xfrm>
            <a:off x="93211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cash from customer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A83EA4-1F13-E179-2083-21FDC6D94FE1}"/>
              </a:ext>
            </a:extLst>
          </p:cNvPr>
          <p:cNvSpPr/>
          <p:nvPr/>
        </p:nvSpPr>
        <p:spPr>
          <a:xfrm>
            <a:off x="1526492" y="20941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29EA80-5424-7AB2-62C5-81C9A5A67F94}"/>
              </a:ext>
            </a:extLst>
          </p:cNvPr>
          <p:cNvSpPr/>
          <p:nvPr/>
        </p:nvSpPr>
        <p:spPr>
          <a:xfrm>
            <a:off x="2284763" y="21030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26AACC-9ABE-8866-9E78-0AC9B17F1C12}"/>
              </a:ext>
            </a:extLst>
          </p:cNvPr>
          <p:cNvSpPr/>
          <p:nvPr/>
        </p:nvSpPr>
        <p:spPr>
          <a:xfrm>
            <a:off x="3043034" y="20941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BBB3E0-0B7C-4D3E-F813-B843820BB233}"/>
              </a:ext>
            </a:extLst>
          </p:cNvPr>
          <p:cNvSpPr/>
          <p:nvPr/>
        </p:nvSpPr>
        <p:spPr>
          <a:xfrm>
            <a:off x="3761903" y="21030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ADC79D-6329-9BDC-5DE1-E28CB775019C}"/>
              </a:ext>
            </a:extLst>
          </p:cNvPr>
          <p:cNvSpPr/>
          <p:nvPr/>
        </p:nvSpPr>
        <p:spPr>
          <a:xfrm>
            <a:off x="2268172" y="27037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CABB6C-35FE-192D-8F7B-92FDC6175F01}"/>
              </a:ext>
            </a:extLst>
          </p:cNvPr>
          <p:cNvSpPr/>
          <p:nvPr/>
        </p:nvSpPr>
        <p:spPr>
          <a:xfrm>
            <a:off x="3026443" y="27126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EF580E-24F2-6A2E-AE2F-C065923AA0D0}"/>
              </a:ext>
            </a:extLst>
          </p:cNvPr>
          <p:cNvSpPr/>
          <p:nvPr/>
        </p:nvSpPr>
        <p:spPr>
          <a:xfrm>
            <a:off x="3784714" y="27037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7A1666A-F84C-3A0F-4C27-CF30FFA758CA}"/>
              </a:ext>
            </a:extLst>
          </p:cNvPr>
          <p:cNvSpPr/>
          <p:nvPr/>
        </p:nvSpPr>
        <p:spPr>
          <a:xfrm>
            <a:off x="4564543" y="27126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5A53F4-547B-AA98-CA93-F66859A8CDB7}"/>
              </a:ext>
            </a:extLst>
          </p:cNvPr>
          <p:cNvSpPr txBox="1"/>
          <p:nvPr/>
        </p:nvSpPr>
        <p:spPr>
          <a:xfrm>
            <a:off x="1526492" y="3525520"/>
            <a:ext cx="263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2 x 20= 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9CD968-68DC-55EF-40CA-84DD2071BE96}"/>
              </a:ext>
            </a:extLst>
          </p:cNvPr>
          <p:cNvSpPr txBox="1"/>
          <p:nvPr/>
        </p:nvSpPr>
        <p:spPr>
          <a:xfrm>
            <a:off x="1536652" y="3850640"/>
            <a:ext cx="254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2 x 10 = 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0C61D5-1317-5018-36B4-AD0B9A7CA9A1}"/>
              </a:ext>
            </a:extLst>
          </p:cNvPr>
          <p:cNvSpPr txBox="1"/>
          <p:nvPr/>
        </p:nvSpPr>
        <p:spPr>
          <a:xfrm>
            <a:off x="1536652" y="4492176"/>
            <a:ext cx="280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= -10 + 20 – 10 =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9175D0-E949-8427-8960-94D01D751788}"/>
              </a:ext>
            </a:extLst>
          </p:cNvPr>
          <p:cNvSpPr txBox="1"/>
          <p:nvPr/>
        </p:nvSpPr>
        <p:spPr>
          <a:xfrm>
            <a:off x="1556972" y="4167056"/>
            <a:ext cx="28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= 40 - 20 = 20</a:t>
            </a:r>
          </a:p>
        </p:txBody>
      </p:sp>
      <p:sp>
        <p:nvSpPr>
          <p:cNvPr id="30" name="Titolo 1">
            <a:extLst>
              <a:ext uri="{FF2B5EF4-FFF2-40B4-BE49-F238E27FC236}">
                <a16:creationId xmlns:a16="http://schemas.microsoft.com/office/drawing/2014/main" id="{A4B1979C-3AE1-80C4-E707-7B4446F6F458}"/>
              </a:ext>
            </a:extLst>
          </p:cNvPr>
          <p:cNvSpPr txBox="1">
            <a:spLocks/>
          </p:cNvSpPr>
          <p:nvPr/>
        </p:nvSpPr>
        <p:spPr>
          <a:xfrm>
            <a:off x="1378634" y="365125"/>
            <a:ext cx="98380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>
                <a:solidFill>
                  <a:srgbClr val="002060"/>
                </a:solidFill>
                <a:latin typeface="Garamond" panose="02020404030301010803" pitchFamily="18" charset="0"/>
              </a:rPr>
              <a:t>The operating cycle: Accrual accounting</a:t>
            </a: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86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10" grpId="0"/>
      <p:bldP spid="11" grpId="0"/>
      <p:bldP spid="12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C6A24-C980-DED4-3044-4B6AA9F8D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695CB1-35A2-FAF9-5915-3E72B6D8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30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680BBE7B-9A04-787C-5B3D-EA4E78F50308}"/>
              </a:ext>
            </a:extLst>
          </p:cNvPr>
          <p:cNvSpPr txBox="1">
            <a:spLocks/>
          </p:cNvSpPr>
          <p:nvPr/>
        </p:nvSpPr>
        <p:spPr>
          <a:xfrm>
            <a:off x="1833717" y="1387054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A21E4EDA-4CA1-9FFE-B86C-92CFEBEFDB2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8CAFC4-2FC2-01EA-1D0A-BEA1C4FBA80F}"/>
              </a:ext>
            </a:extLst>
          </p:cNvPr>
          <p:cNvCxnSpPr>
            <a:cxnSpLocks/>
          </p:cNvCxnSpPr>
          <p:nvPr/>
        </p:nvCxnSpPr>
        <p:spPr>
          <a:xfrm>
            <a:off x="436209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566D43-73F3-599E-D727-261A95BFD952}"/>
              </a:ext>
            </a:extLst>
          </p:cNvPr>
          <p:cNvCxnSpPr>
            <a:cxnSpLocks/>
          </p:cNvCxnSpPr>
          <p:nvPr/>
        </p:nvCxnSpPr>
        <p:spPr>
          <a:xfrm>
            <a:off x="823305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BF176E9-B0CA-8034-F0FB-5C870A5D108D}"/>
              </a:ext>
            </a:extLst>
          </p:cNvPr>
          <p:cNvSpPr txBox="1"/>
          <p:nvPr/>
        </p:nvSpPr>
        <p:spPr>
          <a:xfrm>
            <a:off x="1851122" y="1420283"/>
            <a:ext cx="193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Last  year </a:t>
            </a:r>
            <a:br>
              <a:rPr lang="en-US" dirty="0"/>
            </a:br>
            <a:r>
              <a:rPr lang="en-US" dirty="0"/>
              <a:t>2023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8CB92B-3BEC-6EF3-8C1E-E88A3E97902C}"/>
              </a:ext>
            </a:extLst>
          </p:cNvPr>
          <p:cNvSpPr txBox="1"/>
          <p:nvPr/>
        </p:nvSpPr>
        <p:spPr>
          <a:xfrm>
            <a:off x="5632923" y="1387054"/>
            <a:ext cx="1222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year</a:t>
            </a:r>
            <a:br>
              <a:rPr lang="en-US" dirty="0"/>
            </a:br>
            <a:r>
              <a:rPr lang="en-US" dirty="0"/>
              <a:t>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2F9226-2AA0-4EF6-5F5E-48ECB8294185}"/>
              </a:ext>
            </a:extLst>
          </p:cNvPr>
          <p:cNvSpPr txBox="1"/>
          <p:nvPr/>
        </p:nvSpPr>
        <p:spPr>
          <a:xfrm>
            <a:off x="9226283" y="1420010"/>
            <a:ext cx="122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year 2025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6638BC-333D-9429-F85D-698543098AAA}"/>
              </a:ext>
            </a:extLst>
          </p:cNvPr>
          <p:cNvSpPr/>
          <p:nvPr/>
        </p:nvSpPr>
        <p:spPr>
          <a:xfrm>
            <a:off x="1602528" y="6022024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4E1046-8DDC-C07C-174B-074D7BBBFD6B}"/>
              </a:ext>
            </a:extLst>
          </p:cNvPr>
          <p:cNvSpPr/>
          <p:nvPr/>
        </p:nvSpPr>
        <p:spPr>
          <a:xfrm>
            <a:off x="4081780" y="6022024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803ED7-1B91-3FF0-6456-1B735AB2902E}"/>
              </a:ext>
            </a:extLst>
          </p:cNvPr>
          <p:cNvSpPr/>
          <p:nvPr/>
        </p:nvSpPr>
        <p:spPr>
          <a:xfrm>
            <a:off x="6479752" y="6022024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99012-788A-F104-030F-40585A6B4633}"/>
              </a:ext>
            </a:extLst>
          </p:cNvPr>
          <p:cNvSpPr/>
          <p:nvPr/>
        </p:nvSpPr>
        <p:spPr>
          <a:xfrm>
            <a:off x="8826923" y="6022023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AA36DB-A587-D0B5-AD0B-B8FF402050EA}"/>
              </a:ext>
            </a:extLst>
          </p:cNvPr>
          <p:cNvSpPr txBox="1"/>
          <p:nvPr/>
        </p:nvSpPr>
        <p:spPr>
          <a:xfrm>
            <a:off x="2097405" y="613791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goods from supplier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A4010C-A4C4-7E3A-8E24-7253E7C051DC}"/>
              </a:ext>
            </a:extLst>
          </p:cNvPr>
          <p:cNvSpPr txBox="1"/>
          <p:nvPr/>
        </p:nvSpPr>
        <p:spPr>
          <a:xfrm>
            <a:off x="45459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Payment to supplier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D1F828-44C9-17DC-8319-A919BA8FB5D0}"/>
              </a:ext>
            </a:extLst>
          </p:cNvPr>
          <p:cNvSpPr txBox="1"/>
          <p:nvPr/>
        </p:nvSpPr>
        <p:spPr>
          <a:xfrm>
            <a:off x="695388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Sells product to customer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D3EE92-7CC4-3FD8-2C88-21FE1C90DA23}"/>
              </a:ext>
            </a:extLst>
          </p:cNvPr>
          <p:cNvSpPr txBox="1"/>
          <p:nvPr/>
        </p:nvSpPr>
        <p:spPr>
          <a:xfrm>
            <a:off x="93211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cash from customer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4D1E32-8CFD-DE3E-3FB0-4532FB641C31}"/>
              </a:ext>
            </a:extLst>
          </p:cNvPr>
          <p:cNvSpPr/>
          <p:nvPr/>
        </p:nvSpPr>
        <p:spPr>
          <a:xfrm>
            <a:off x="1526492" y="20941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3A4A7D-32D6-F99F-9245-BFB47AE75EDF}"/>
              </a:ext>
            </a:extLst>
          </p:cNvPr>
          <p:cNvSpPr/>
          <p:nvPr/>
        </p:nvSpPr>
        <p:spPr>
          <a:xfrm>
            <a:off x="2284763" y="21030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6D1A8F-A8F7-820F-3CB1-495728B73F7A}"/>
              </a:ext>
            </a:extLst>
          </p:cNvPr>
          <p:cNvSpPr/>
          <p:nvPr/>
        </p:nvSpPr>
        <p:spPr>
          <a:xfrm>
            <a:off x="3043034" y="20941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6466305-8DF1-2640-95E2-D165916854F0}"/>
              </a:ext>
            </a:extLst>
          </p:cNvPr>
          <p:cNvSpPr/>
          <p:nvPr/>
        </p:nvSpPr>
        <p:spPr>
          <a:xfrm>
            <a:off x="3761903" y="21030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AB7EDB-B96B-94E3-C1FB-12987E0BB97D}"/>
              </a:ext>
            </a:extLst>
          </p:cNvPr>
          <p:cNvSpPr/>
          <p:nvPr/>
        </p:nvSpPr>
        <p:spPr>
          <a:xfrm>
            <a:off x="2268172" y="27037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EEE6EA-A48B-672C-0187-8B18ACE676D7}"/>
              </a:ext>
            </a:extLst>
          </p:cNvPr>
          <p:cNvSpPr/>
          <p:nvPr/>
        </p:nvSpPr>
        <p:spPr>
          <a:xfrm>
            <a:off x="3026443" y="27126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E32DA8B-94AD-ED7B-DF32-9A4EDE810B54}"/>
              </a:ext>
            </a:extLst>
          </p:cNvPr>
          <p:cNvSpPr/>
          <p:nvPr/>
        </p:nvSpPr>
        <p:spPr>
          <a:xfrm>
            <a:off x="3784714" y="27037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C045A41-B78F-2106-0EEA-1D7F1744A013}"/>
              </a:ext>
            </a:extLst>
          </p:cNvPr>
          <p:cNvSpPr/>
          <p:nvPr/>
        </p:nvSpPr>
        <p:spPr>
          <a:xfrm>
            <a:off x="4564543" y="27126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7BDFC8D-0EE7-0F05-BB47-FFA097D62095}"/>
              </a:ext>
            </a:extLst>
          </p:cNvPr>
          <p:cNvSpPr/>
          <p:nvPr/>
        </p:nvSpPr>
        <p:spPr>
          <a:xfrm>
            <a:off x="3802332" y="334380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4BF34DE-FDCB-BF2F-16E6-9AFEEBD8AE7D}"/>
              </a:ext>
            </a:extLst>
          </p:cNvPr>
          <p:cNvSpPr/>
          <p:nvPr/>
        </p:nvSpPr>
        <p:spPr>
          <a:xfrm>
            <a:off x="4560603" y="335269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4CD0B-64D9-1EF8-C62B-17355F2FE180}"/>
              </a:ext>
            </a:extLst>
          </p:cNvPr>
          <p:cNvSpPr/>
          <p:nvPr/>
        </p:nvSpPr>
        <p:spPr>
          <a:xfrm>
            <a:off x="5318874" y="334380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C5EB9D6-57AA-603A-A695-6E06F06E1942}"/>
              </a:ext>
            </a:extLst>
          </p:cNvPr>
          <p:cNvSpPr/>
          <p:nvPr/>
        </p:nvSpPr>
        <p:spPr>
          <a:xfrm>
            <a:off x="6037743" y="335269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9275EC-F124-466E-3789-FAAD4A1CAE68}"/>
              </a:ext>
            </a:extLst>
          </p:cNvPr>
          <p:cNvSpPr txBox="1"/>
          <p:nvPr/>
        </p:nvSpPr>
        <p:spPr>
          <a:xfrm>
            <a:off x="1526492" y="3525520"/>
            <a:ext cx="263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2 x 20 = 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1ACA5-A154-0888-F7ED-0B8F113861CA}"/>
              </a:ext>
            </a:extLst>
          </p:cNvPr>
          <p:cNvSpPr txBox="1"/>
          <p:nvPr/>
        </p:nvSpPr>
        <p:spPr>
          <a:xfrm>
            <a:off x="1536652" y="3850640"/>
            <a:ext cx="254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2 x 10 =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38AFE-972B-55B0-B54A-A6AA7F03E236}"/>
              </a:ext>
            </a:extLst>
          </p:cNvPr>
          <p:cNvSpPr txBox="1"/>
          <p:nvPr/>
        </p:nvSpPr>
        <p:spPr>
          <a:xfrm>
            <a:off x="1536652" y="4492176"/>
            <a:ext cx="280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= -10 + 20 – 10 =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58353-EF93-BACF-0FDF-B01C92DB3A74}"/>
              </a:ext>
            </a:extLst>
          </p:cNvPr>
          <p:cNvSpPr txBox="1"/>
          <p:nvPr/>
        </p:nvSpPr>
        <p:spPr>
          <a:xfrm>
            <a:off x="1556972" y="4167056"/>
            <a:ext cx="28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= 40 - 20 = 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3B4B05-6DF2-32D2-C726-872F1EBEE4D7}"/>
              </a:ext>
            </a:extLst>
          </p:cNvPr>
          <p:cNvSpPr txBox="1"/>
          <p:nvPr/>
        </p:nvSpPr>
        <p:spPr>
          <a:xfrm>
            <a:off x="1516332" y="4847776"/>
            <a:ext cx="2802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Inventory = 10</a:t>
            </a:r>
          </a:p>
          <a:p>
            <a:r>
              <a:rPr lang="en-US" dirty="0"/>
              <a:t>Accounts payable = 10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86AA10-DA27-2E35-322F-DC34B512E62A}"/>
              </a:ext>
            </a:extLst>
          </p:cNvPr>
          <p:cNvSpPr txBox="1"/>
          <p:nvPr/>
        </p:nvSpPr>
        <p:spPr>
          <a:xfrm>
            <a:off x="4731643" y="3982390"/>
            <a:ext cx="263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F20956-20E4-A080-D062-DBFF5649ED59}"/>
              </a:ext>
            </a:extLst>
          </p:cNvPr>
          <p:cNvSpPr txBox="1"/>
          <p:nvPr/>
        </p:nvSpPr>
        <p:spPr>
          <a:xfrm>
            <a:off x="4741803" y="4307510"/>
            <a:ext cx="254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73BBC7-CF49-2011-7415-6F84FF4B38BA}"/>
              </a:ext>
            </a:extLst>
          </p:cNvPr>
          <p:cNvSpPr txBox="1"/>
          <p:nvPr/>
        </p:nvSpPr>
        <p:spPr>
          <a:xfrm>
            <a:off x="4741803" y="4902672"/>
            <a:ext cx="280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= 20 + 20 – 10 = 30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1A4B6E-ADD7-FDBD-9B20-CEBD0DB25AEB}"/>
              </a:ext>
            </a:extLst>
          </p:cNvPr>
          <p:cNvSpPr txBox="1"/>
          <p:nvPr/>
        </p:nvSpPr>
        <p:spPr>
          <a:xfrm>
            <a:off x="4747212" y="4583616"/>
            <a:ext cx="28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= 10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D7F17C08-69DD-E159-5769-6B30A541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5" name="Titolo 1">
            <a:extLst>
              <a:ext uri="{FF2B5EF4-FFF2-40B4-BE49-F238E27FC236}">
                <a16:creationId xmlns:a16="http://schemas.microsoft.com/office/drawing/2014/main" id="{C72E46F6-BA96-640D-B0CD-805D1E5D9942}"/>
              </a:ext>
            </a:extLst>
          </p:cNvPr>
          <p:cNvSpPr txBox="1">
            <a:spLocks/>
          </p:cNvSpPr>
          <p:nvPr/>
        </p:nvSpPr>
        <p:spPr>
          <a:xfrm>
            <a:off x="1378634" y="365125"/>
            <a:ext cx="98380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>
                <a:solidFill>
                  <a:srgbClr val="002060"/>
                </a:solidFill>
                <a:latin typeface="Garamond" panose="02020404030301010803" pitchFamily="18" charset="0"/>
              </a:rPr>
              <a:t>The operating cycle: Accrual accounting</a:t>
            </a: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4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3" grpId="0"/>
      <p:bldP spid="5" grpId="0"/>
      <p:bldP spid="8" grpId="0"/>
      <p:bldP spid="9" grpId="0"/>
      <p:bldP spid="18" grpId="0"/>
      <p:bldP spid="19" grpId="0"/>
      <p:bldP spid="20" grpId="0"/>
      <p:bldP spid="30" grpId="0"/>
      <p:bldP spid="3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02DC-6224-8002-C943-9C7B3FFC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DCEB0AA-57C9-EE8F-A171-1C666D43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31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AC38FAB2-B579-AA85-DC86-0EB0FA2442CC}"/>
              </a:ext>
            </a:extLst>
          </p:cNvPr>
          <p:cNvSpPr txBox="1">
            <a:spLocks/>
          </p:cNvSpPr>
          <p:nvPr/>
        </p:nvSpPr>
        <p:spPr>
          <a:xfrm>
            <a:off x="1833717" y="1387054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DBBBE93C-0C03-2758-2BB6-B58F4C640FE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B8940D-79A8-E241-96B2-64C4C096BDD6}"/>
              </a:ext>
            </a:extLst>
          </p:cNvPr>
          <p:cNvCxnSpPr>
            <a:cxnSpLocks/>
          </p:cNvCxnSpPr>
          <p:nvPr/>
        </p:nvCxnSpPr>
        <p:spPr>
          <a:xfrm>
            <a:off x="436209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77B5BB-894E-AADC-0AA5-24BE985543DF}"/>
              </a:ext>
            </a:extLst>
          </p:cNvPr>
          <p:cNvCxnSpPr>
            <a:cxnSpLocks/>
          </p:cNvCxnSpPr>
          <p:nvPr/>
        </p:nvCxnSpPr>
        <p:spPr>
          <a:xfrm>
            <a:off x="823305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D0506C-10F7-D723-1437-ED42716939C9}"/>
              </a:ext>
            </a:extLst>
          </p:cNvPr>
          <p:cNvSpPr txBox="1"/>
          <p:nvPr/>
        </p:nvSpPr>
        <p:spPr>
          <a:xfrm>
            <a:off x="1851122" y="1420283"/>
            <a:ext cx="193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Last  year </a:t>
            </a:r>
            <a:br>
              <a:rPr lang="en-US" dirty="0"/>
            </a:br>
            <a:r>
              <a:rPr lang="en-US" dirty="0"/>
              <a:t>2023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8F6FF0-ADBA-F293-34C8-579C9E078255}"/>
              </a:ext>
            </a:extLst>
          </p:cNvPr>
          <p:cNvSpPr txBox="1"/>
          <p:nvPr/>
        </p:nvSpPr>
        <p:spPr>
          <a:xfrm>
            <a:off x="5632923" y="1387054"/>
            <a:ext cx="1222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year</a:t>
            </a:r>
            <a:br>
              <a:rPr lang="en-US" dirty="0"/>
            </a:br>
            <a:r>
              <a:rPr lang="en-US" dirty="0"/>
              <a:t>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AD7418-919B-008A-AC4C-0F84EFC24B33}"/>
              </a:ext>
            </a:extLst>
          </p:cNvPr>
          <p:cNvSpPr txBox="1"/>
          <p:nvPr/>
        </p:nvSpPr>
        <p:spPr>
          <a:xfrm>
            <a:off x="9226283" y="1420010"/>
            <a:ext cx="122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year 2025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38CA4B-3AFC-57A9-4C45-7063FFC7D2BF}"/>
              </a:ext>
            </a:extLst>
          </p:cNvPr>
          <p:cNvSpPr/>
          <p:nvPr/>
        </p:nvSpPr>
        <p:spPr>
          <a:xfrm>
            <a:off x="1602528" y="6022024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EACCCC-00DD-2A5A-5BE3-3D7202AF0B2D}"/>
              </a:ext>
            </a:extLst>
          </p:cNvPr>
          <p:cNvSpPr/>
          <p:nvPr/>
        </p:nvSpPr>
        <p:spPr>
          <a:xfrm>
            <a:off x="4081780" y="6022024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7FCA74-9098-A02D-5224-2E347B4BB094}"/>
              </a:ext>
            </a:extLst>
          </p:cNvPr>
          <p:cNvSpPr/>
          <p:nvPr/>
        </p:nvSpPr>
        <p:spPr>
          <a:xfrm>
            <a:off x="6479752" y="6022024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1E6E9E-86A6-79D8-E95C-0FCE64A5C832}"/>
              </a:ext>
            </a:extLst>
          </p:cNvPr>
          <p:cNvSpPr/>
          <p:nvPr/>
        </p:nvSpPr>
        <p:spPr>
          <a:xfrm>
            <a:off x="8826923" y="6022023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6A6C41-3579-A5AC-774B-804FA4AE3F62}"/>
              </a:ext>
            </a:extLst>
          </p:cNvPr>
          <p:cNvSpPr txBox="1"/>
          <p:nvPr/>
        </p:nvSpPr>
        <p:spPr>
          <a:xfrm>
            <a:off x="2097405" y="613791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goods from supplier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FD6FBB-2053-8146-C0DB-A644601A1366}"/>
              </a:ext>
            </a:extLst>
          </p:cNvPr>
          <p:cNvSpPr txBox="1"/>
          <p:nvPr/>
        </p:nvSpPr>
        <p:spPr>
          <a:xfrm>
            <a:off x="45459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Payment to supplier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B775AB-352D-4FC8-DF42-57EF98C4619F}"/>
              </a:ext>
            </a:extLst>
          </p:cNvPr>
          <p:cNvSpPr txBox="1"/>
          <p:nvPr/>
        </p:nvSpPr>
        <p:spPr>
          <a:xfrm>
            <a:off x="695388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Sells product to customer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4C83C9-77F4-C2FB-EE38-F7484C1792A7}"/>
              </a:ext>
            </a:extLst>
          </p:cNvPr>
          <p:cNvSpPr txBox="1"/>
          <p:nvPr/>
        </p:nvSpPr>
        <p:spPr>
          <a:xfrm>
            <a:off x="93211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cash from customer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7053ED-1644-42E5-AD82-544EE83850CA}"/>
              </a:ext>
            </a:extLst>
          </p:cNvPr>
          <p:cNvSpPr/>
          <p:nvPr/>
        </p:nvSpPr>
        <p:spPr>
          <a:xfrm>
            <a:off x="1526492" y="20941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2202C7-08D7-E9FF-3DC8-0ACAA2B40B72}"/>
              </a:ext>
            </a:extLst>
          </p:cNvPr>
          <p:cNvSpPr/>
          <p:nvPr/>
        </p:nvSpPr>
        <p:spPr>
          <a:xfrm>
            <a:off x="2284763" y="21030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FA1E6-EE14-B327-082F-DC3D4CB0C38D}"/>
              </a:ext>
            </a:extLst>
          </p:cNvPr>
          <p:cNvSpPr/>
          <p:nvPr/>
        </p:nvSpPr>
        <p:spPr>
          <a:xfrm>
            <a:off x="3043034" y="20941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06C1F7-9A6C-BA8D-7433-168E94FFE69E}"/>
              </a:ext>
            </a:extLst>
          </p:cNvPr>
          <p:cNvSpPr/>
          <p:nvPr/>
        </p:nvSpPr>
        <p:spPr>
          <a:xfrm>
            <a:off x="3761903" y="21030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91646C9-91DB-5B37-37E1-ABB2A7D0F66D}"/>
              </a:ext>
            </a:extLst>
          </p:cNvPr>
          <p:cNvSpPr/>
          <p:nvPr/>
        </p:nvSpPr>
        <p:spPr>
          <a:xfrm>
            <a:off x="2268172" y="27037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A30933-F486-7777-DEFA-D7A3F26D3B56}"/>
              </a:ext>
            </a:extLst>
          </p:cNvPr>
          <p:cNvSpPr/>
          <p:nvPr/>
        </p:nvSpPr>
        <p:spPr>
          <a:xfrm>
            <a:off x="3026443" y="27126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EA630EA-7E67-1309-7729-E41C332F0A29}"/>
              </a:ext>
            </a:extLst>
          </p:cNvPr>
          <p:cNvSpPr/>
          <p:nvPr/>
        </p:nvSpPr>
        <p:spPr>
          <a:xfrm>
            <a:off x="3784714" y="27037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8CE02DA-EAE6-D45E-5E68-AC7B058B2DCE}"/>
              </a:ext>
            </a:extLst>
          </p:cNvPr>
          <p:cNvSpPr/>
          <p:nvPr/>
        </p:nvSpPr>
        <p:spPr>
          <a:xfrm>
            <a:off x="4564543" y="27126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DD44D7-4D63-C57D-1F3F-C797547C0D56}"/>
              </a:ext>
            </a:extLst>
          </p:cNvPr>
          <p:cNvSpPr/>
          <p:nvPr/>
        </p:nvSpPr>
        <p:spPr>
          <a:xfrm>
            <a:off x="3802332" y="334380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636AF81-70A0-9A08-823C-F953A34D3369}"/>
              </a:ext>
            </a:extLst>
          </p:cNvPr>
          <p:cNvSpPr/>
          <p:nvPr/>
        </p:nvSpPr>
        <p:spPr>
          <a:xfrm>
            <a:off x="4560603" y="335269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0C1B05B-339F-DD75-15C1-7FD09F55E656}"/>
              </a:ext>
            </a:extLst>
          </p:cNvPr>
          <p:cNvSpPr/>
          <p:nvPr/>
        </p:nvSpPr>
        <p:spPr>
          <a:xfrm>
            <a:off x="5318874" y="334380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5618DF-6D07-0A6E-8E8B-6AAA117FB5FC}"/>
              </a:ext>
            </a:extLst>
          </p:cNvPr>
          <p:cNvSpPr/>
          <p:nvPr/>
        </p:nvSpPr>
        <p:spPr>
          <a:xfrm>
            <a:off x="6037743" y="335269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5804F31-7A07-654D-0C9A-29284895E2D8}"/>
              </a:ext>
            </a:extLst>
          </p:cNvPr>
          <p:cNvSpPr/>
          <p:nvPr/>
        </p:nvSpPr>
        <p:spPr>
          <a:xfrm>
            <a:off x="4564332" y="395340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4DC03D2-9893-E675-6200-D461F3FDA8C3}"/>
              </a:ext>
            </a:extLst>
          </p:cNvPr>
          <p:cNvSpPr/>
          <p:nvPr/>
        </p:nvSpPr>
        <p:spPr>
          <a:xfrm>
            <a:off x="5322603" y="396229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8479A0-AE3E-F3CD-EC13-A994BC69CF29}"/>
              </a:ext>
            </a:extLst>
          </p:cNvPr>
          <p:cNvSpPr/>
          <p:nvPr/>
        </p:nvSpPr>
        <p:spPr>
          <a:xfrm>
            <a:off x="6050394" y="395340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3AB3591-0268-1B86-EBD7-938ED903EF74}"/>
              </a:ext>
            </a:extLst>
          </p:cNvPr>
          <p:cNvSpPr/>
          <p:nvPr/>
        </p:nvSpPr>
        <p:spPr>
          <a:xfrm>
            <a:off x="6799743" y="396229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58C03D0-0488-5097-C10D-4EE7F34CA2B2}"/>
              </a:ext>
            </a:extLst>
          </p:cNvPr>
          <p:cNvSpPr/>
          <p:nvPr/>
        </p:nvSpPr>
        <p:spPr>
          <a:xfrm>
            <a:off x="5317878" y="458078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BDC8594-03FE-3BEC-59DC-97ED4F3A81D2}"/>
              </a:ext>
            </a:extLst>
          </p:cNvPr>
          <p:cNvSpPr/>
          <p:nvPr/>
        </p:nvSpPr>
        <p:spPr>
          <a:xfrm>
            <a:off x="6055829" y="458967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0EB248C-E429-9C6D-0FFF-63FECB657453}"/>
              </a:ext>
            </a:extLst>
          </p:cNvPr>
          <p:cNvSpPr/>
          <p:nvPr/>
        </p:nvSpPr>
        <p:spPr>
          <a:xfrm>
            <a:off x="6803940" y="458078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77C57D0-C1E7-9D2B-D797-E53FB527846C}"/>
              </a:ext>
            </a:extLst>
          </p:cNvPr>
          <p:cNvSpPr/>
          <p:nvPr/>
        </p:nvSpPr>
        <p:spPr>
          <a:xfrm>
            <a:off x="7532969" y="458967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AC7002-4BA5-9C56-4906-410CD5E6200B}"/>
              </a:ext>
            </a:extLst>
          </p:cNvPr>
          <p:cNvSpPr/>
          <p:nvPr/>
        </p:nvSpPr>
        <p:spPr>
          <a:xfrm>
            <a:off x="7531052" y="513196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28DBD17-0836-1684-1A2B-8E6D1EFA8B59}"/>
              </a:ext>
            </a:extLst>
          </p:cNvPr>
          <p:cNvSpPr/>
          <p:nvPr/>
        </p:nvSpPr>
        <p:spPr>
          <a:xfrm>
            <a:off x="8360443" y="514085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7246BF3-1FBD-3C38-41CD-9533831F4120}"/>
              </a:ext>
            </a:extLst>
          </p:cNvPr>
          <p:cNvSpPr/>
          <p:nvPr/>
        </p:nvSpPr>
        <p:spPr>
          <a:xfrm>
            <a:off x="9118714" y="513196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C1983DD-54F7-25E9-5CC6-A8438D47B206}"/>
              </a:ext>
            </a:extLst>
          </p:cNvPr>
          <p:cNvSpPr/>
          <p:nvPr/>
        </p:nvSpPr>
        <p:spPr>
          <a:xfrm>
            <a:off x="9837583" y="514085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9609B-DACA-BE67-9F5F-CB7A31D8B7F6}"/>
              </a:ext>
            </a:extLst>
          </p:cNvPr>
          <p:cNvSpPr txBox="1"/>
          <p:nvPr/>
        </p:nvSpPr>
        <p:spPr>
          <a:xfrm>
            <a:off x="1211764" y="3780519"/>
            <a:ext cx="263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2 x 20 = 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324F78-7099-74B3-B8CD-A03B4486BD04}"/>
              </a:ext>
            </a:extLst>
          </p:cNvPr>
          <p:cNvSpPr txBox="1"/>
          <p:nvPr/>
        </p:nvSpPr>
        <p:spPr>
          <a:xfrm>
            <a:off x="1221924" y="4105639"/>
            <a:ext cx="254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2 x 10 =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03CF0-88A8-EE32-D8A8-FC299CC0EE92}"/>
              </a:ext>
            </a:extLst>
          </p:cNvPr>
          <p:cNvSpPr txBox="1"/>
          <p:nvPr/>
        </p:nvSpPr>
        <p:spPr>
          <a:xfrm>
            <a:off x="1242244" y="4422055"/>
            <a:ext cx="28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= 40 - 20 = 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6AD73-1BD1-F1F6-07EC-17321E5B3553}"/>
              </a:ext>
            </a:extLst>
          </p:cNvPr>
          <p:cNvSpPr txBox="1"/>
          <p:nvPr/>
        </p:nvSpPr>
        <p:spPr>
          <a:xfrm>
            <a:off x="5175967" y="1912224"/>
            <a:ext cx="263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3 x 20 = 60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526B9B-3EB7-4D2E-415D-CC2CB76E0CD2}"/>
              </a:ext>
            </a:extLst>
          </p:cNvPr>
          <p:cNvSpPr txBox="1"/>
          <p:nvPr/>
        </p:nvSpPr>
        <p:spPr>
          <a:xfrm>
            <a:off x="5186127" y="2237344"/>
            <a:ext cx="254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3 x 10 = 30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3A3497-933E-72D0-3D6C-B3B3E4D45930}"/>
              </a:ext>
            </a:extLst>
          </p:cNvPr>
          <p:cNvSpPr txBox="1"/>
          <p:nvPr/>
        </p:nvSpPr>
        <p:spPr>
          <a:xfrm>
            <a:off x="5206447" y="2553760"/>
            <a:ext cx="28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= 60 – 30 = 30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F2E42A-FC35-64F6-EECF-90F58C0A44BA}"/>
              </a:ext>
            </a:extLst>
          </p:cNvPr>
          <p:cNvSpPr txBox="1"/>
          <p:nvPr/>
        </p:nvSpPr>
        <p:spPr>
          <a:xfrm>
            <a:off x="1242244" y="4757675"/>
            <a:ext cx="280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= -10 + 20 – 10 = 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76C80B-43A0-D61D-CC0E-71CD27F1F9C9}"/>
              </a:ext>
            </a:extLst>
          </p:cNvPr>
          <p:cNvSpPr txBox="1"/>
          <p:nvPr/>
        </p:nvSpPr>
        <p:spPr>
          <a:xfrm>
            <a:off x="5197652" y="2851615"/>
            <a:ext cx="280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= 4 x 20 – 3 x 10 = 50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51106C-5AE4-B2B8-70BA-FC460B6E7C8E}"/>
              </a:ext>
            </a:extLst>
          </p:cNvPr>
          <p:cNvSpPr txBox="1"/>
          <p:nvPr/>
        </p:nvSpPr>
        <p:spPr>
          <a:xfrm>
            <a:off x="4961861" y="5212502"/>
            <a:ext cx="2802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Inventory = 10</a:t>
            </a:r>
          </a:p>
          <a:p>
            <a:r>
              <a:rPr lang="en-US" dirty="0"/>
              <a:t>Accounts payable = 10 </a:t>
            </a:r>
          </a:p>
        </p:txBody>
      </p:sp>
      <p:sp>
        <p:nvSpPr>
          <p:cNvPr id="35" name="Titolo 1">
            <a:extLst>
              <a:ext uri="{FF2B5EF4-FFF2-40B4-BE49-F238E27FC236}">
                <a16:creationId xmlns:a16="http://schemas.microsoft.com/office/drawing/2014/main" id="{FD441F50-28F8-7F05-4CDE-BCDCFA1806F2}"/>
              </a:ext>
            </a:extLst>
          </p:cNvPr>
          <p:cNvSpPr txBox="1">
            <a:spLocks/>
          </p:cNvSpPr>
          <p:nvPr/>
        </p:nvSpPr>
        <p:spPr>
          <a:xfrm>
            <a:off x="1378634" y="365125"/>
            <a:ext cx="98380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>
                <a:solidFill>
                  <a:srgbClr val="002060"/>
                </a:solidFill>
                <a:latin typeface="Garamond" panose="02020404030301010803" pitchFamily="18" charset="0"/>
              </a:rPr>
              <a:t>The operating cycle: Accrual accounting</a:t>
            </a: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93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9" grpId="0"/>
      <p:bldP spid="18" grpId="0"/>
      <p:bldP spid="19" grpId="0"/>
      <p:bldP spid="30" grpId="0"/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EBE1-9721-E8E4-54F8-E9DBA2CB1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252C89-1F93-A2FB-5247-1B12B787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3800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operating cycle: Accrual accounting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F1507C3-DD9A-3D37-0BB2-FF713480B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32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9625F028-D031-C1ED-B3DD-589775F35143}"/>
              </a:ext>
            </a:extLst>
          </p:cNvPr>
          <p:cNvSpPr txBox="1">
            <a:spLocks/>
          </p:cNvSpPr>
          <p:nvPr/>
        </p:nvSpPr>
        <p:spPr>
          <a:xfrm>
            <a:off x="1833717" y="1387054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92697FA9-B78E-9340-3971-154EE438F41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7F7618-BAA2-35AF-6304-6EC93DF82756}"/>
              </a:ext>
            </a:extLst>
          </p:cNvPr>
          <p:cNvCxnSpPr>
            <a:cxnSpLocks/>
          </p:cNvCxnSpPr>
          <p:nvPr/>
        </p:nvCxnSpPr>
        <p:spPr>
          <a:xfrm>
            <a:off x="436209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16DFB8-DAAF-370C-739E-CBFFFF3C3B8E}"/>
              </a:ext>
            </a:extLst>
          </p:cNvPr>
          <p:cNvCxnSpPr>
            <a:cxnSpLocks/>
          </p:cNvCxnSpPr>
          <p:nvPr/>
        </p:nvCxnSpPr>
        <p:spPr>
          <a:xfrm>
            <a:off x="823305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34AB033-6EAA-E5B3-6C2A-E19FB078A377}"/>
              </a:ext>
            </a:extLst>
          </p:cNvPr>
          <p:cNvSpPr txBox="1"/>
          <p:nvPr/>
        </p:nvSpPr>
        <p:spPr>
          <a:xfrm>
            <a:off x="1851122" y="1420283"/>
            <a:ext cx="193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Last  year </a:t>
            </a:r>
            <a:br>
              <a:rPr lang="en-US" dirty="0"/>
            </a:br>
            <a:r>
              <a:rPr lang="en-US" dirty="0"/>
              <a:t>2023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847132-96D6-1488-EDEB-651FFBF8670C}"/>
              </a:ext>
            </a:extLst>
          </p:cNvPr>
          <p:cNvSpPr txBox="1"/>
          <p:nvPr/>
        </p:nvSpPr>
        <p:spPr>
          <a:xfrm>
            <a:off x="5632923" y="1387054"/>
            <a:ext cx="1222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year</a:t>
            </a:r>
            <a:br>
              <a:rPr lang="en-US" dirty="0"/>
            </a:br>
            <a:r>
              <a:rPr lang="en-US" dirty="0"/>
              <a:t>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842F12-57F3-A90F-BE19-6D32935C1FF1}"/>
              </a:ext>
            </a:extLst>
          </p:cNvPr>
          <p:cNvSpPr txBox="1"/>
          <p:nvPr/>
        </p:nvSpPr>
        <p:spPr>
          <a:xfrm>
            <a:off x="9226283" y="1420010"/>
            <a:ext cx="122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year 2025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3B3582-B57D-9BD6-D933-AA5AF52C0E97}"/>
              </a:ext>
            </a:extLst>
          </p:cNvPr>
          <p:cNvSpPr/>
          <p:nvPr/>
        </p:nvSpPr>
        <p:spPr>
          <a:xfrm>
            <a:off x="1602528" y="6022024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AB0631-D9A9-BFFE-6E5A-082F96B899C3}"/>
              </a:ext>
            </a:extLst>
          </p:cNvPr>
          <p:cNvSpPr/>
          <p:nvPr/>
        </p:nvSpPr>
        <p:spPr>
          <a:xfrm>
            <a:off x="4081780" y="6022024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44801A-9B51-D455-E057-ABB6D5740962}"/>
              </a:ext>
            </a:extLst>
          </p:cNvPr>
          <p:cNvSpPr/>
          <p:nvPr/>
        </p:nvSpPr>
        <p:spPr>
          <a:xfrm>
            <a:off x="6479752" y="6022024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82267A-0FDD-B9D7-7AEC-15546DDB9668}"/>
              </a:ext>
            </a:extLst>
          </p:cNvPr>
          <p:cNvSpPr/>
          <p:nvPr/>
        </p:nvSpPr>
        <p:spPr>
          <a:xfrm>
            <a:off x="8826923" y="6022023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787DAD-C312-F8EF-B0C0-5424B24A0496}"/>
              </a:ext>
            </a:extLst>
          </p:cNvPr>
          <p:cNvSpPr txBox="1"/>
          <p:nvPr/>
        </p:nvSpPr>
        <p:spPr>
          <a:xfrm>
            <a:off x="2097405" y="613791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goods from supplier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8DD7AA-B49D-A98F-C07B-B107337DF063}"/>
              </a:ext>
            </a:extLst>
          </p:cNvPr>
          <p:cNvSpPr txBox="1"/>
          <p:nvPr/>
        </p:nvSpPr>
        <p:spPr>
          <a:xfrm>
            <a:off x="45459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Payment to supplier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67ECA7-8544-42CC-823F-2317476E8245}"/>
              </a:ext>
            </a:extLst>
          </p:cNvPr>
          <p:cNvSpPr txBox="1"/>
          <p:nvPr/>
        </p:nvSpPr>
        <p:spPr>
          <a:xfrm>
            <a:off x="695388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Sells product to customer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3DADB5-2E98-8815-3CFC-F80DE8B3F7E7}"/>
              </a:ext>
            </a:extLst>
          </p:cNvPr>
          <p:cNvSpPr txBox="1"/>
          <p:nvPr/>
        </p:nvSpPr>
        <p:spPr>
          <a:xfrm>
            <a:off x="93211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cash from customer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5CBABD-98FF-6E61-CE80-4B6BC48BC77A}"/>
              </a:ext>
            </a:extLst>
          </p:cNvPr>
          <p:cNvSpPr/>
          <p:nvPr/>
        </p:nvSpPr>
        <p:spPr>
          <a:xfrm>
            <a:off x="5430637" y="2085075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AA6BDA-DB91-90C4-5D49-4625FD661658}"/>
              </a:ext>
            </a:extLst>
          </p:cNvPr>
          <p:cNvSpPr/>
          <p:nvPr/>
        </p:nvSpPr>
        <p:spPr>
          <a:xfrm>
            <a:off x="8605943" y="2111170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656FA8-5B3B-39A8-020A-59EB7BA0AEC7}"/>
              </a:ext>
            </a:extLst>
          </p:cNvPr>
          <p:cNvSpPr/>
          <p:nvPr/>
        </p:nvSpPr>
        <p:spPr>
          <a:xfrm>
            <a:off x="6309201" y="2085075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DED4F71-7E6C-FE0B-11FA-088FFD2A4870}"/>
              </a:ext>
            </a:extLst>
          </p:cNvPr>
          <p:cNvSpPr/>
          <p:nvPr/>
        </p:nvSpPr>
        <p:spPr>
          <a:xfrm>
            <a:off x="3632177" y="2085076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DFB52-F9BC-1EB4-471A-A962A9B8E1B7}"/>
              </a:ext>
            </a:extLst>
          </p:cNvPr>
          <p:cNvSpPr txBox="1"/>
          <p:nvPr/>
        </p:nvSpPr>
        <p:spPr>
          <a:xfrm>
            <a:off x="1661542" y="2735916"/>
            <a:ext cx="2981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Deferred revenue (L) = 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0AF21-B272-9AE2-25CD-97099636BF57}"/>
              </a:ext>
            </a:extLst>
          </p:cNvPr>
          <p:cNvSpPr txBox="1"/>
          <p:nvPr/>
        </p:nvSpPr>
        <p:spPr>
          <a:xfrm>
            <a:off x="4958863" y="2791682"/>
            <a:ext cx="26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Accounts payable (L) =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D37CF-8E7A-E404-CE87-7811BD90C20D}"/>
              </a:ext>
            </a:extLst>
          </p:cNvPr>
          <p:cNvSpPr txBox="1"/>
          <p:nvPr/>
        </p:nvSpPr>
        <p:spPr>
          <a:xfrm>
            <a:off x="1661542" y="3028949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(A) = 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EE316-9393-769C-B61F-19AA80757628}"/>
              </a:ext>
            </a:extLst>
          </p:cNvPr>
          <p:cNvSpPr txBox="1"/>
          <p:nvPr/>
        </p:nvSpPr>
        <p:spPr>
          <a:xfrm>
            <a:off x="4939467" y="3349358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8F36EF-177D-3EB8-B67D-80B1AD912E34}"/>
              </a:ext>
            </a:extLst>
          </p:cNvPr>
          <p:cNvSpPr txBox="1"/>
          <p:nvPr/>
        </p:nvSpPr>
        <p:spPr>
          <a:xfrm>
            <a:off x="4939467" y="3660075"/>
            <a:ext cx="3208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(SE)= 20 - 10 = 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60A9A0-75EA-D2C5-767D-C74A94333F0A}"/>
              </a:ext>
            </a:extLst>
          </p:cNvPr>
          <p:cNvSpPr txBox="1"/>
          <p:nvPr/>
        </p:nvSpPr>
        <p:spPr>
          <a:xfrm>
            <a:off x="4939467" y="3059668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20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29F3D2-CFD3-5EAC-EC12-BEB281407B9C}"/>
              </a:ext>
            </a:extLst>
          </p:cNvPr>
          <p:cNvSpPr txBox="1"/>
          <p:nvPr/>
        </p:nvSpPr>
        <p:spPr>
          <a:xfrm>
            <a:off x="4939466" y="3949765"/>
            <a:ext cx="329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Deferred revenue (L) = 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D28F7B-9D5F-A6BB-969A-60B45DDC5904}"/>
              </a:ext>
            </a:extLst>
          </p:cNvPr>
          <p:cNvSpPr txBox="1"/>
          <p:nvPr/>
        </p:nvSpPr>
        <p:spPr>
          <a:xfrm>
            <a:off x="4958731" y="4257330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(A) = 20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AF2BEC-F26C-E4A9-936A-841906B202F1}"/>
              </a:ext>
            </a:extLst>
          </p:cNvPr>
          <p:cNvSpPr txBox="1"/>
          <p:nvPr/>
        </p:nvSpPr>
        <p:spPr>
          <a:xfrm>
            <a:off x="8413263" y="2761202"/>
            <a:ext cx="26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Accounts payable (L) =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81A496-251A-E4DE-A29A-261B3ADE1243}"/>
              </a:ext>
            </a:extLst>
          </p:cNvPr>
          <p:cNvSpPr txBox="1"/>
          <p:nvPr/>
        </p:nvSpPr>
        <p:spPr>
          <a:xfrm>
            <a:off x="8444419" y="3071919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(A) = 10</a:t>
            </a:r>
          </a:p>
        </p:txBody>
      </p:sp>
    </p:spTree>
    <p:extLst>
      <p:ext uri="{BB962C8B-B14F-4D97-AF65-F5344CB8AC3E}">
        <p14:creationId xmlns:p14="http://schemas.microsoft.com/office/powerpoint/2010/main" val="47860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3" grpId="0"/>
      <p:bldP spid="5" grpId="0"/>
      <p:bldP spid="8" grpId="0"/>
      <p:bldP spid="12" grpId="0"/>
      <p:bldP spid="17" grpId="0"/>
      <p:bldP spid="18" grpId="0"/>
      <p:bldP spid="19" grpId="0"/>
      <p:bldP spid="20" grpId="0"/>
      <p:bldP spid="30" grpId="0"/>
      <p:bldP spid="3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B14BF-DB0C-68AB-84A4-F2821739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188F44-3EB6-DC6F-F991-188B03B5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3800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Accrual accounting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8FF7F1-84B9-D066-4958-FB5559BC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33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B10AFCFC-9BCF-6703-6C70-D72593898D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940628"/>
              </p:ext>
            </p:extLst>
          </p:nvPr>
        </p:nvGraphicFramePr>
        <p:xfrm>
          <a:off x="628650" y="1585913"/>
          <a:ext cx="10933113" cy="439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595">
                  <a:extLst>
                    <a:ext uri="{9D8B030D-6E8A-4147-A177-3AD203B41FA5}">
                      <a16:colId xmlns:a16="http://schemas.microsoft.com/office/drawing/2014/main" val="3126344164"/>
                    </a:ext>
                  </a:extLst>
                </a:gridCol>
                <a:gridCol w="4564685">
                  <a:extLst>
                    <a:ext uri="{9D8B030D-6E8A-4147-A177-3AD203B41FA5}">
                      <a16:colId xmlns:a16="http://schemas.microsoft.com/office/drawing/2014/main" val="3718300966"/>
                    </a:ext>
                  </a:extLst>
                </a:gridCol>
                <a:gridCol w="4809833">
                  <a:extLst>
                    <a:ext uri="{9D8B030D-6E8A-4147-A177-3AD203B41FA5}">
                      <a16:colId xmlns:a16="http://schemas.microsoft.com/office/drawing/2014/main" val="1190122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Asset account</a:t>
                      </a:r>
                      <a:endParaRPr lang="en-US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Liability account</a:t>
                      </a:r>
                      <a:endParaRPr lang="en-US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595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Cash flow </a:t>
                      </a:r>
                      <a:r>
                        <a:rPr lang="en-US" b="1" u="sng" dirty="0"/>
                        <a:t>before</a:t>
                      </a:r>
                      <a:r>
                        <a:rPr lang="en-US" u="none" dirty="0"/>
                        <a:t> revenue or expense incurs</a:t>
                      </a:r>
                      <a:endParaRPr lang="en-US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R"/>
                      </a:pPr>
                      <a:r>
                        <a:rPr lang="en-US" b="1" dirty="0"/>
                        <a:t>Deferred expense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Cash outflow in period 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Expense in period t+1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dirty="0"/>
                        <a:t>Examples: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Prepaid rent or insurance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Property, plant, and equipment (which we depreciate)</a:t>
                      </a:r>
                      <a:endParaRPr lang="en-US" b="0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2) Deferred revenue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Cash inflow in period 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Revenue in period t+1</a:t>
                      </a:r>
                    </a:p>
                    <a:p>
                      <a:r>
                        <a:rPr lang="en-US" b="1" dirty="0"/>
                        <a:t>Examples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u="none" dirty="0"/>
                        <a:t>Prepaid revenue (when a customers pays before in advance).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u="none" dirty="0"/>
                        <a:t>Gift cards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u="none" dirty="0"/>
                        <a:t>Rental collected in advance</a:t>
                      </a:r>
                      <a:endParaRPr lang="en-US" b="0" i="0" u="none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796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Cash flow </a:t>
                      </a:r>
                      <a:r>
                        <a:rPr lang="en-US" b="1" u="sng" dirty="0"/>
                        <a:t>after</a:t>
                      </a:r>
                      <a:r>
                        <a:rPr lang="en-US" u="none" dirty="0"/>
                        <a:t> revenue or expense incurs</a:t>
                      </a:r>
                      <a:endParaRPr lang="en-US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3) Accrued asset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Revenue in period 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Cash inflow in period t+1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dirty="0"/>
                        <a:t>Examples: </a:t>
                      </a:r>
                      <a:endParaRPr lang="en-US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Accounts receivable</a:t>
                      </a:r>
                      <a:endParaRPr lang="en-US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Other receivables</a:t>
                      </a:r>
                      <a:endParaRPr lang="en-US" b="0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4) Accrued liability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Expense in period 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Cash outflow in period t+1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dirty="0"/>
                        <a:t>Examples: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Payroll, utilities, taxes (certain payments)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32642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95E8E22-935D-CC5C-C0FE-74F02C07C85B}"/>
              </a:ext>
            </a:extLst>
          </p:cNvPr>
          <p:cNvSpPr txBox="1"/>
          <p:nvPr/>
        </p:nvSpPr>
        <p:spPr>
          <a:xfrm>
            <a:off x="4546600" y="6123543"/>
            <a:ext cx="543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current year,    t+1 = next year</a:t>
            </a:r>
          </a:p>
        </p:txBody>
      </p:sp>
    </p:spTree>
    <p:extLst>
      <p:ext uri="{BB962C8B-B14F-4D97-AF65-F5344CB8AC3E}">
        <p14:creationId xmlns:p14="http://schemas.microsoft.com/office/powerpoint/2010/main" val="17888415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6DB5-EFAA-736B-283E-8D11CD760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3473C2-F6CB-4A04-A660-2D491E1B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026DE0-E930-5413-99A9-A0AE85B50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450871"/>
            <a:ext cx="9434732" cy="5042004"/>
          </a:xfrm>
        </p:spPr>
        <p:txBody>
          <a:bodyPr>
            <a:normAutofit fontScale="85000" lnSpcReduction="20000"/>
          </a:bodyPr>
          <a:lstStyle/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Duration</a:t>
            </a:r>
            <a:r>
              <a:rPr lang="en-US" dirty="0">
                <a:latin typeface="Garamond" panose="02020404030301010803" pitchFamily="18" charset="0"/>
              </a:rPr>
              <a:t>: 5 min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With?</a:t>
            </a:r>
            <a:r>
              <a:rPr lang="en-US" dirty="0">
                <a:latin typeface="Garamond" panose="02020404030301010803" pitchFamily="18" charset="0"/>
              </a:rPr>
              <a:t>: Alone or in pairs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: Determine the revenue, expense, income, and cash effect of operation transactions. 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defTabSz="1097280"/>
            <a:r>
              <a:rPr lang="en-US" sz="3000" dirty="0">
                <a:latin typeface="Garamond" panose="02020404030301010803" pitchFamily="18" charset="0"/>
              </a:rPr>
              <a:t>Bananas Consulting Group (BCG) receive a prepayment of $14,520 for services that they expect to provide early next year. </a:t>
            </a:r>
          </a:p>
          <a:p>
            <a:pPr defTabSz="1097280"/>
            <a:r>
              <a:rPr lang="en-US" sz="3000" dirty="0">
                <a:latin typeface="Garamond" panose="02020404030301010803" pitchFamily="18" charset="0"/>
              </a:rPr>
              <a:t>BCG provide consulting services worth $17,400 for the client </a:t>
            </a:r>
            <a:r>
              <a:rPr lang="en-US" sz="3000" dirty="0" err="1">
                <a:latin typeface="Garamond" panose="02020404030301010803" pitchFamily="18" charset="0"/>
              </a:rPr>
              <a:t>McHansy</a:t>
            </a:r>
            <a:r>
              <a:rPr lang="en-US" sz="3000" dirty="0">
                <a:latin typeface="Garamond" panose="02020404030301010803" pitchFamily="18" charset="0"/>
              </a:rPr>
              <a:t>. </a:t>
            </a:r>
            <a:r>
              <a:rPr lang="en-US" sz="3000" dirty="0" err="1">
                <a:latin typeface="Garamond" panose="02020404030301010803" pitchFamily="18" charset="0"/>
              </a:rPr>
              <a:t>McHansy</a:t>
            </a:r>
            <a:r>
              <a:rPr lang="en-US" sz="3000" dirty="0">
                <a:latin typeface="Garamond" panose="02020404030301010803" pitchFamily="18" charset="0"/>
              </a:rPr>
              <a:t> pay half now and defer the rest of the pay to the next month. </a:t>
            </a:r>
          </a:p>
          <a:p>
            <a:pPr defTabSz="1097280"/>
            <a:r>
              <a:rPr lang="en-US" sz="3000" dirty="0">
                <a:latin typeface="Garamond" panose="02020404030301010803" pitchFamily="18" charset="0"/>
              </a:rPr>
              <a:t>The sum of wages to the BCG consultants for the </a:t>
            </a:r>
            <a:r>
              <a:rPr lang="en-US" sz="3000" dirty="0" err="1">
                <a:latin typeface="Garamond" panose="02020404030301010803" pitchFamily="18" charset="0"/>
              </a:rPr>
              <a:t>McHansy</a:t>
            </a:r>
            <a:r>
              <a:rPr lang="en-US" sz="3000" dirty="0">
                <a:latin typeface="Garamond" panose="02020404030301010803" pitchFamily="18" charset="0"/>
              </a:rPr>
              <a:t> delivery is $8.900.</a:t>
            </a:r>
          </a:p>
          <a:p>
            <a:pPr marL="0" indent="0" defTabSz="1097280">
              <a:buNone/>
            </a:pPr>
            <a:endParaRPr lang="en-US" sz="2400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Record the journal entries for BCG and show the T-accounts. </a:t>
            </a: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BA003F-B2A7-473C-7FEF-AE6FB311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34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DAA96FFD-8378-2421-71FF-D54C9AAB94C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27224106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098B8-1B6D-0305-BF08-A8B8EB067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412239-2A80-0F17-07C3-D008077A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For next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3B5EBE-720E-0DB8-9FC8-C0D26F539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defTabSz="1097280"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Read chapter 3 </a:t>
            </a:r>
          </a:p>
          <a:p>
            <a:pPr marL="514350" indent="-514350" defTabSz="1097280">
              <a:buAutoNum type="arabicPeriod"/>
            </a:pPr>
            <a:endParaRPr lang="en-US" b="1" dirty="0">
              <a:latin typeface="Garamond" panose="02020404030301010803" pitchFamily="18" charset="0"/>
              <a:sym typeface="Wingdings" pitchFamily="2" charset="2"/>
            </a:endParaRPr>
          </a:p>
          <a:p>
            <a:pPr marL="457200" lvl="1" indent="0" defTabSz="1097280">
              <a:buNone/>
            </a:pPr>
            <a:endParaRPr lang="en-US" b="1" dirty="0">
              <a:latin typeface="Garamond" panose="02020404030301010803" pitchFamily="18" charset="0"/>
              <a:sym typeface="Wingdings" pitchFamily="2" charset="2"/>
            </a:endParaRPr>
          </a:p>
          <a:p>
            <a:pPr marL="457200" lvl="1" indent="0" defTabSz="1097280">
              <a:buNone/>
            </a:pPr>
            <a:endParaRPr lang="en-US" b="1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b="1" dirty="0">
              <a:latin typeface="Garamond" panose="02020404030301010803" pitchFamily="18" charset="0"/>
              <a:sym typeface="Wingdings" pitchFamily="2" charset="2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A2C11F9-0574-572A-20D5-D5BC1BAF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35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C2507C6A-B154-C899-4E74-0820319F8F7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25189384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9899</TotalTime>
  <Words>2922</Words>
  <Application>Microsoft Macintosh PowerPoint</Application>
  <PresentationFormat>Widescreen</PresentationFormat>
  <Paragraphs>1220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Garamond</vt:lpstr>
      <vt:lpstr>Tema di Office</vt:lpstr>
      <vt:lpstr>30692 Financial Accounting (Module 1 – Session 3)</vt:lpstr>
      <vt:lpstr>Overview</vt:lpstr>
      <vt:lpstr>Small recap: </vt:lpstr>
      <vt:lpstr>Small exercise</vt:lpstr>
      <vt:lpstr>Small exercise</vt:lpstr>
      <vt:lpstr>Small exercise</vt:lpstr>
      <vt:lpstr>Small exercise</vt:lpstr>
      <vt:lpstr>Small exercise</vt:lpstr>
      <vt:lpstr>Small exercise</vt:lpstr>
      <vt:lpstr>Review of exercises for chapter 1 </vt:lpstr>
      <vt:lpstr>Review of exercise 3 for chapter 1 </vt:lpstr>
      <vt:lpstr>Review of exercise 3 for chapter 1 </vt:lpstr>
      <vt:lpstr>Review exercise 4 for chapter 1 </vt:lpstr>
      <vt:lpstr>Review exercise 1 for chapter 2 </vt:lpstr>
      <vt:lpstr>Review of exercise 2 for chapter 2 </vt:lpstr>
      <vt:lpstr>Overview</vt:lpstr>
      <vt:lpstr>Beginning of year balances</vt:lpstr>
      <vt:lpstr>Beginning of year balances</vt:lpstr>
      <vt:lpstr>Beginning of year balances</vt:lpstr>
      <vt:lpstr>Trial balance</vt:lpstr>
      <vt:lpstr>Overview</vt:lpstr>
      <vt:lpstr>Expanding the debit and credit accounts </vt:lpstr>
      <vt:lpstr>Expanding the debit and credit accounts </vt:lpstr>
      <vt:lpstr>Revenue</vt:lpstr>
      <vt:lpstr>Expenses</vt:lpstr>
      <vt:lpstr>Expenses</vt:lpstr>
      <vt:lpstr>The operating cycle </vt:lpstr>
      <vt:lpstr>The operating cycle: Accrual accounting</vt:lpstr>
      <vt:lpstr>PowerPoint Presentation</vt:lpstr>
      <vt:lpstr>PowerPoint Presentation</vt:lpstr>
      <vt:lpstr>PowerPoint Presentation</vt:lpstr>
      <vt:lpstr>The operating cycle: Accrual accounting</vt:lpstr>
      <vt:lpstr>Accrual accounting</vt:lpstr>
      <vt:lpstr>Small exercise</vt:lpstr>
      <vt:lpstr>For 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30426 Accounting and financial statement analysis - Module 1</dc:title>
  <dc:creator>Luca S.</dc:creator>
  <cp:lastModifiedBy>Kasper Flyger Regenburg</cp:lastModifiedBy>
  <cp:revision>217</cp:revision>
  <cp:lastPrinted>2021-09-03T12:47:24Z</cp:lastPrinted>
  <dcterms:created xsi:type="dcterms:W3CDTF">2019-08-31T08:21:58Z</dcterms:created>
  <dcterms:modified xsi:type="dcterms:W3CDTF">2025-09-10T19:48:59Z</dcterms:modified>
</cp:coreProperties>
</file>