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256" r:id="rId2"/>
    <p:sldId id="258" r:id="rId3"/>
    <p:sldId id="481" r:id="rId4"/>
    <p:sldId id="482" r:id="rId5"/>
    <p:sldId id="260" r:id="rId6"/>
    <p:sldId id="261" r:id="rId7"/>
    <p:sldId id="473" r:id="rId8"/>
    <p:sldId id="474" r:id="rId9"/>
    <p:sldId id="475" r:id="rId10"/>
    <p:sldId id="476" r:id="rId11"/>
    <p:sldId id="477" r:id="rId12"/>
    <p:sldId id="478" r:id="rId13"/>
    <p:sldId id="483" r:id="rId14"/>
    <p:sldId id="484" r:id="rId15"/>
    <p:sldId id="479" r:id="rId16"/>
    <p:sldId id="480" r:id="rId17"/>
    <p:sldId id="485" r:id="rId18"/>
    <p:sldId id="486" r:id="rId19"/>
    <p:sldId id="487" r:id="rId20"/>
    <p:sldId id="488" r:id="rId21"/>
    <p:sldId id="489" r:id="rId22"/>
    <p:sldId id="490" r:id="rId23"/>
    <p:sldId id="522" r:id="rId24"/>
    <p:sldId id="523" r:id="rId25"/>
    <p:sldId id="491" r:id="rId26"/>
    <p:sldId id="492" r:id="rId27"/>
    <p:sldId id="493" r:id="rId28"/>
    <p:sldId id="494" r:id="rId29"/>
    <p:sldId id="496" r:id="rId30"/>
    <p:sldId id="497" r:id="rId31"/>
    <p:sldId id="498" r:id="rId32"/>
    <p:sldId id="495" r:id="rId33"/>
    <p:sldId id="499" r:id="rId34"/>
    <p:sldId id="501" r:id="rId35"/>
    <p:sldId id="500" r:id="rId36"/>
    <p:sldId id="502" r:id="rId37"/>
    <p:sldId id="503" r:id="rId38"/>
    <p:sldId id="504" r:id="rId39"/>
    <p:sldId id="505" r:id="rId40"/>
    <p:sldId id="506" r:id="rId41"/>
    <p:sldId id="507" r:id="rId42"/>
    <p:sldId id="508" r:id="rId43"/>
    <p:sldId id="509" r:id="rId44"/>
    <p:sldId id="510" r:id="rId45"/>
    <p:sldId id="511" r:id="rId46"/>
    <p:sldId id="512" r:id="rId47"/>
    <p:sldId id="513" r:id="rId48"/>
    <p:sldId id="514" r:id="rId49"/>
    <p:sldId id="515" r:id="rId50"/>
    <p:sldId id="516" r:id="rId51"/>
    <p:sldId id="519" r:id="rId52"/>
    <p:sldId id="520" r:id="rId53"/>
    <p:sldId id="521" r:id="rId54"/>
    <p:sldId id="517" r:id="rId55"/>
    <p:sldId id="518" r:id="rId56"/>
    <p:sldId id="524" r:id="rId57"/>
  </p:sldIdLst>
  <p:sldSz cx="12192000" cy="6858000"/>
  <p:notesSz cx="7104063" cy="102346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ile medio 4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Stile medio 4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19" autoAdjust="0"/>
    <p:restoredTop sz="82717" autoAdjust="0"/>
  </p:normalViewPr>
  <p:slideViewPr>
    <p:cSldViewPr snapToGrid="0">
      <p:cViewPr varScale="1">
        <p:scale>
          <a:sx n="100" d="100"/>
          <a:sy n="100" d="100"/>
        </p:scale>
        <p:origin x="272" y="160"/>
      </p:cViewPr>
      <p:guideLst/>
    </p:cSldViewPr>
  </p:slideViewPr>
  <p:notesTextViewPr>
    <p:cViewPr>
      <p:scale>
        <a:sx n="1" d="1"/>
        <a:sy n="1" d="1"/>
      </p:scale>
      <p:origin x="0" y="0"/>
    </p:cViewPr>
  </p:notesTextViewPr>
  <p:notesViewPr>
    <p:cSldViewPr snapToGrid="0">
      <p:cViewPr varScale="1">
        <p:scale>
          <a:sx n="52" d="100"/>
          <a:sy n="52" d="100"/>
        </p:scale>
        <p:origin x="28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1"/>
            <a:ext cx="3078428" cy="513508"/>
          </a:xfrm>
          <a:prstGeom prst="rect">
            <a:avLst/>
          </a:prstGeom>
        </p:spPr>
        <p:txBody>
          <a:bodyPr vert="horz" lIns="99067" tIns="49534" rIns="99067" bIns="49534" rtlCol="0"/>
          <a:lstStyle>
            <a:lvl1pPr algn="l">
              <a:defRPr sz="1300"/>
            </a:lvl1pPr>
          </a:lstStyle>
          <a:p>
            <a:endParaRPr lang="it-IT"/>
          </a:p>
        </p:txBody>
      </p:sp>
      <p:sp>
        <p:nvSpPr>
          <p:cNvPr id="3" name="Segnaposto data 2"/>
          <p:cNvSpPr>
            <a:spLocks noGrp="1"/>
          </p:cNvSpPr>
          <p:nvPr>
            <p:ph type="dt" idx="1"/>
          </p:nvPr>
        </p:nvSpPr>
        <p:spPr>
          <a:xfrm>
            <a:off x="4023991" y="1"/>
            <a:ext cx="3078428" cy="513508"/>
          </a:xfrm>
          <a:prstGeom prst="rect">
            <a:avLst/>
          </a:prstGeom>
        </p:spPr>
        <p:txBody>
          <a:bodyPr vert="horz" lIns="99067" tIns="49534" rIns="99067" bIns="49534" rtlCol="0"/>
          <a:lstStyle>
            <a:lvl1pPr algn="r">
              <a:defRPr sz="1300"/>
            </a:lvl1pPr>
          </a:lstStyle>
          <a:p>
            <a:fld id="{BE7658AA-419F-4D52-B99B-D6E7AEC0B52F}" type="datetimeFigureOut">
              <a:rPr lang="it-IT" smtClean="0"/>
              <a:t>02/09/25</a:t>
            </a:fld>
            <a:endParaRPr lang="it-IT"/>
          </a:p>
        </p:txBody>
      </p:sp>
      <p:sp>
        <p:nvSpPr>
          <p:cNvPr id="4" name="Segnaposto immagine diapositiva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67" tIns="49534" rIns="99067" bIns="49534" rtlCol="0" anchor="ctr"/>
          <a:lstStyle/>
          <a:p>
            <a:endParaRPr lang="it-IT"/>
          </a:p>
        </p:txBody>
      </p:sp>
      <p:sp>
        <p:nvSpPr>
          <p:cNvPr id="5" name="Segnaposto note 4"/>
          <p:cNvSpPr>
            <a:spLocks noGrp="1"/>
          </p:cNvSpPr>
          <p:nvPr>
            <p:ph type="body" sz="quarter" idx="3"/>
          </p:nvPr>
        </p:nvSpPr>
        <p:spPr>
          <a:xfrm>
            <a:off x="710407" y="4925408"/>
            <a:ext cx="5683250" cy="4029879"/>
          </a:xfrm>
          <a:prstGeom prst="rect">
            <a:avLst/>
          </a:prstGeom>
        </p:spPr>
        <p:txBody>
          <a:bodyPr vert="horz" lIns="99067" tIns="49534" rIns="99067" bIns="49534" rtlCol="0"/>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721107"/>
            <a:ext cx="3078428" cy="513507"/>
          </a:xfrm>
          <a:prstGeom prst="rect">
            <a:avLst/>
          </a:prstGeom>
        </p:spPr>
        <p:txBody>
          <a:bodyPr vert="horz" lIns="99067" tIns="49534" rIns="99067" bIns="49534" rtlCol="0" anchor="b"/>
          <a:lstStyle>
            <a:lvl1pPr algn="l">
              <a:defRPr sz="1300"/>
            </a:lvl1pPr>
          </a:lstStyle>
          <a:p>
            <a:endParaRPr lang="it-IT"/>
          </a:p>
        </p:txBody>
      </p:sp>
      <p:sp>
        <p:nvSpPr>
          <p:cNvPr id="7" name="Segnaposto numero diapositiva 6"/>
          <p:cNvSpPr>
            <a:spLocks noGrp="1"/>
          </p:cNvSpPr>
          <p:nvPr>
            <p:ph type="sldNum" sz="quarter" idx="5"/>
          </p:nvPr>
        </p:nvSpPr>
        <p:spPr>
          <a:xfrm>
            <a:off x="4023991" y="9721107"/>
            <a:ext cx="3078428" cy="513507"/>
          </a:xfrm>
          <a:prstGeom prst="rect">
            <a:avLst/>
          </a:prstGeom>
        </p:spPr>
        <p:txBody>
          <a:bodyPr vert="horz" lIns="99067" tIns="49534" rIns="99067" bIns="49534" rtlCol="0" anchor="b"/>
          <a:lstStyle>
            <a:lvl1pPr algn="r">
              <a:defRPr sz="1300"/>
            </a:lvl1pPr>
          </a:lstStyle>
          <a:p>
            <a:fld id="{90428E0A-68A3-4969-8E44-8603FB83DD5F}" type="slidenum">
              <a:rPr lang="it-IT" smtClean="0"/>
              <a:t>‹#›</a:t>
            </a:fld>
            <a:endParaRPr lang="it-IT"/>
          </a:p>
        </p:txBody>
      </p:sp>
    </p:spTree>
    <p:extLst>
      <p:ext uri="{BB962C8B-B14F-4D97-AF65-F5344CB8AC3E}">
        <p14:creationId xmlns:p14="http://schemas.microsoft.com/office/powerpoint/2010/main" val="159256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fld id="{90428E0A-68A3-4969-8E44-8603FB83DD5F}" type="slidenum">
              <a:rPr lang="it-IT" smtClean="0"/>
              <a:t>1</a:t>
            </a:fld>
            <a:endParaRPr lang="it-IT"/>
          </a:p>
        </p:txBody>
      </p:sp>
    </p:spTree>
    <p:extLst>
      <p:ext uri="{BB962C8B-B14F-4D97-AF65-F5344CB8AC3E}">
        <p14:creationId xmlns:p14="http://schemas.microsoft.com/office/powerpoint/2010/main" val="312780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90428E0A-68A3-4969-8E44-8603FB83DD5F}" type="slidenum">
              <a:rPr lang="it-IT" smtClean="0"/>
              <a:t>2</a:t>
            </a:fld>
            <a:endParaRPr lang="it-IT"/>
          </a:p>
        </p:txBody>
      </p:sp>
    </p:spTree>
    <p:extLst>
      <p:ext uri="{BB962C8B-B14F-4D97-AF65-F5344CB8AC3E}">
        <p14:creationId xmlns:p14="http://schemas.microsoft.com/office/powerpoint/2010/main" val="2934399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087F6-F483-E349-BE1B-72A2B119194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74B4A93-E8B0-A9D0-CA97-5214AA4DAF3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AB27359-5AD2-708A-99AD-899C79C4620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FD09E4F-5E47-C7A1-3F6B-AA86220F3D70}"/>
              </a:ext>
            </a:extLst>
          </p:cNvPr>
          <p:cNvSpPr>
            <a:spLocks noGrp="1"/>
          </p:cNvSpPr>
          <p:nvPr>
            <p:ph type="sldNum" sz="quarter" idx="10"/>
          </p:nvPr>
        </p:nvSpPr>
        <p:spPr/>
        <p:txBody>
          <a:bodyPr/>
          <a:lstStyle/>
          <a:p>
            <a:fld id="{90428E0A-68A3-4969-8E44-8603FB83DD5F}" type="slidenum">
              <a:rPr lang="it-IT" smtClean="0"/>
              <a:t>3</a:t>
            </a:fld>
            <a:endParaRPr lang="it-IT"/>
          </a:p>
        </p:txBody>
      </p:sp>
    </p:spTree>
    <p:extLst>
      <p:ext uri="{BB962C8B-B14F-4D97-AF65-F5344CB8AC3E}">
        <p14:creationId xmlns:p14="http://schemas.microsoft.com/office/powerpoint/2010/main" val="3748165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ED52A-28B4-5EF4-92B9-65CA9527480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674CB30-493F-D19B-A800-8101694C1CC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D892179-4DA8-5291-939B-502D134C126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E67A306-E5A8-3F28-5DEF-03B817C9C951}"/>
              </a:ext>
            </a:extLst>
          </p:cNvPr>
          <p:cNvSpPr>
            <a:spLocks noGrp="1"/>
          </p:cNvSpPr>
          <p:nvPr>
            <p:ph type="sldNum" sz="quarter" idx="10"/>
          </p:nvPr>
        </p:nvSpPr>
        <p:spPr/>
        <p:txBody>
          <a:bodyPr/>
          <a:lstStyle/>
          <a:p>
            <a:fld id="{90428E0A-68A3-4969-8E44-8603FB83DD5F}" type="slidenum">
              <a:rPr lang="it-IT" smtClean="0"/>
              <a:t>4</a:t>
            </a:fld>
            <a:endParaRPr lang="it-IT"/>
          </a:p>
        </p:txBody>
      </p:sp>
    </p:spTree>
    <p:extLst>
      <p:ext uri="{BB962C8B-B14F-4D97-AF65-F5344CB8AC3E}">
        <p14:creationId xmlns:p14="http://schemas.microsoft.com/office/powerpoint/2010/main" val="1021025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89AA-317E-2012-9BD4-8033DA3F84B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3FB1A15-4FDB-934C-3686-D7F67A5A126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6366DCB-C6C2-F74A-E365-AD240544FC0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E8E3146-3391-18F9-D55D-6D7EDCA0FB07}"/>
              </a:ext>
            </a:extLst>
          </p:cNvPr>
          <p:cNvSpPr>
            <a:spLocks noGrp="1"/>
          </p:cNvSpPr>
          <p:nvPr>
            <p:ph type="sldNum" sz="quarter" idx="10"/>
          </p:nvPr>
        </p:nvSpPr>
        <p:spPr/>
        <p:txBody>
          <a:bodyPr/>
          <a:lstStyle/>
          <a:p>
            <a:fld id="{90428E0A-68A3-4969-8E44-8603FB83DD5F}" type="slidenum">
              <a:rPr lang="it-IT" smtClean="0"/>
              <a:t>5</a:t>
            </a:fld>
            <a:endParaRPr lang="it-IT"/>
          </a:p>
        </p:txBody>
      </p:sp>
    </p:spTree>
    <p:extLst>
      <p:ext uri="{BB962C8B-B14F-4D97-AF65-F5344CB8AC3E}">
        <p14:creationId xmlns:p14="http://schemas.microsoft.com/office/powerpoint/2010/main" val="1266542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327B4-36DF-CA53-3687-9C0F6109E6C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4C2313D-930A-E466-4900-673630D5C70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E5A2F7A-395C-FFE5-B432-A9B4A0E9EAB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9BD2D32-448F-50D7-8E8A-60F6CFD94B1A}"/>
              </a:ext>
            </a:extLst>
          </p:cNvPr>
          <p:cNvSpPr>
            <a:spLocks noGrp="1"/>
          </p:cNvSpPr>
          <p:nvPr>
            <p:ph type="sldNum" sz="quarter" idx="10"/>
          </p:nvPr>
        </p:nvSpPr>
        <p:spPr/>
        <p:txBody>
          <a:bodyPr/>
          <a:lstStyle/>
          <a:p>
            <a:fld id="{90428E0A-68A3-4969-8E44-8603FB83DD5F}" type="slidenum">
              <a:rPr lang="it-IT" smtClean="0"/>
              <a:t>6</a:t>
            </a:fld>
            <a:endParaRPr lang="it-IT"/>
          </a:p>
        </p:txBody>
      </p:sp>
    </p:spTree>
    <p:extLst>
      <p:ext uri="{BB962C8B-B14F-4D97-AF65-F5344CB8AC3E}">
        <p14:creationId xmlns:p14="http://schemas.microsoft.com/office/powerpoint/2010/main" val="360567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7D4A1-C128-2C10-F692-EA19A8A7179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DBE64CC-F803-4127-A53D-38CB3BEAC1C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10F18E6-26F1-909B-5D22-B2EB6A536952}"/>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04EEA79-2463-C071-E784-34B6079E32F8}"/>
              </a:ext>
            </a:extLst>
          </p:cNvPr>
          <p:cNvSpPr>
            <a:spLocks noGrp="1"/>
          </p:cNvSpPr>
          <p:nvPr>
            <p:ph type="sldNum" sz="quarter" idx="10"/>
          </p:nvPr>
        </p:nvSpPr>
        <p:spPr/>
        <p:txBody>
          <a:bodyPr/>
          <a:lstStyle/>
          <a:p>
            <a:fld id="{90428E0A-68A3-4969-8E44-8603FB83DD5F}" type="slidenum">
              <a:rPr lang="it-IT" smtClean="0"/>
              <a:t>7</a:t>
            </a:fld>
            <a:endParaRPr lang="it-IT"/>
          </a:p>
        </p:txBody>
      </p:sp>
    </p:spTree>
    <p:extLst>
      <p:ext uri="{BB962C8B-B14F-4D97-AF65-F5344CB8AC3E}">
        <p14:creationId xmlns:p14="http://schemas.microsoft.com/office/powerpoint/2010/main" val="1434207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7AC1B-0E4C-67C4-75C8-3FE1CDA798B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CA1BCB5-2493-AABB-9110-8CF91A75990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CF200B-A7F2-3C4F-D360-7FA34906D8D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F60A3F16-6AA8-862B-1207-1F74C8BEADD3}"/>
              </a:ext>
            </a:extLst>
          </p:cNvPr>
          <p:cNvSpPr>
            <a:spLocks noGrp="1"/>
          </p:cNvSpPr>
          <p:nvPr>
            <p:ph type="sldNum" sz="quarter" idx="10"/>
          </p:nvPr>
        </p:nvSpPr>
        <p:spPr/>
        <p:txBody>
          <a:bodyPr/>
          <a:lstStyle/>
          <a:p>
            <a:fld id="{90428E0A-68A3-4969-8E44-8603FB83DD5F}" type="slidenum">
              <a:rPr lang="it-IT" smtClean="0"/>
              <a:t>8</a:t>
            </a:fld>
            <a:endParaRPr lang="it-IT"/>
          </a:p>
        </p:txBody>
      </p:sp>
    </p:spTree>
    <p:extLst>
      <p:ext uri="{BB962C8B-B14F-4D97-AF65-F5344CB8AC3E}">
        <p14:creationId xmlns:p14="http://schemas.microsoft.com/office/powerpoint/2010/main" val="529111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8895E-5696-DCDF-BA06-1FC776E2BD0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53CADB2-869F-4431-C978-674414DB9CF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C54D289-3E69-DE3B-E953-1103A9C77C89}"/>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FE212C7-F07E-BF35-FCA5-D18B6E8E0E7E}"/>
              </a:ext>
            </a:extLst>
          </p:cNvPr>
          <p:cNvSpPr>
            <a:spLocks noGrp="1"/>
          </p:cNvSpPr>
          <p:nvPr>
            <p:ph type="sldNum" sz="quarter" idx="10"/>
          </p:nvPr>
        </p:nvSpPr>
        <p:spPr/>
        <p:txBody>
          <a:bodyPr/>
          <a:lstStyle/>
          <a:p>
            <a:fld id="{90428E0A-68A3-4969-8E44-8603FB83DD5F}" type="slidenum">
              <a:rPr lang="it-IT" smtClean="0"/>
              <a:t>9</a:t>
            </a:fld>
            <a:endParaRPr lang="it-IT"/>
          </a:p>
        </p:txBody>
      </p:sp>
    </p:spTree>
    <p:extLst>
      <p:ext uri="{BB962C8B-B14F-4D97-AF65-F5344CB8AC3E}">
        <p14:creationId xmlns:p14="http://schemas.microsoft.com/office/powerpoint/2010/main" val="2934394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B97C-747C-7971-BB4C-9403A7F4A21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C451E7A-4A82-43C4-BF28-6BF0100BEF5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3DC451E-65FA-E62A-202B-FF8145BFF3E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FF4C0DD-758B-F848-73AC-70A2EB320FD6}"/>
              </a:ext>
            </a:extLst>
          </p:cNvPr>
          <p:cNvSpPr>
            <a:spLocks noGrp="1"/>
          </p:cNvSpPr>
          <p:nvPr>
            <p:ph type="sldNum" sz="quarter" idx="10"/>
          </p:nvPr>
        </p:nvSpPr>
        <p:spPr/>
        <p:txBody>
          <a:bodyPr/>
          <a:lstStyle/>
          <a:p>
            <a:fld id="{90428E0A-68A3-4969-8E44-8603FB83DD5F}" type="slidenum">
              <a:rPr lang="it-IT" smtClean="0"/>
              <a:t>10</a:t>
            </a:fld>
            <a:endParaRPr lang="it-IT"/>
          </a:p>
        </p:txBody>
      </p:sp>
    </p:spTree>
    <p:extLst>
      <p:ext uri="{BB962C8B-B14F-4D97-AF65-F5344CB8AC3E}">
        <p14:creationId xmlns:p14="http://schemas.microsoft.com/office/powerpoint/2010/main" val="3406441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B81FA-E488-E798-E68B-98D87E824EA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F431855-AAD4-0689-54F4-691BEDEFA0B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21F887A-6A8C-9E23-F9F8-9288CAC0BC1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88ACD6D-2C6B-4928-251B-8BA9F10E6F43}"/>
              </a:ext>
            </a:extLst>
          </p:cNvPr>
          <p:cNvSpPr>
            <a:spLocks noGrp="1"/>
          </p:cNvSpPr>
          <p:nvPr>
            <p:ph type="sldNum" sz="quarter" idx="10"/>
          </p:nvPr>
        </p:nvSpPr>
        <p:spPr/>
        <p:txBody>
          <a:bodyPr/>
          <a:lstStyle/>
          <a:p>
            <a:fld id="{90428E0A-68A3-4969-8E44-8603FB83DD5F}" type="slidenum">
              <a:rPr lang="it-IT" smtClean="0"/>
              <a:t>11</a:t>
            </a:fld>
            <a:endParaRPr lang="it-IT"/>
          </a:p>
        </p:txBody>
      </p:sp>
    </p:spTree>
    <p:extLst>
      <p:ext uri="{BB962C8B-B14F-4D97-AF65-F5344CB8AC3E}">
        <p14:creationId xmlns:p14="http://schemas.microsoft.com/office/powerpoint/2010/main" val="150767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74B4A-6B96-30A8-3A02-1134FD85A56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CAEF8C-98F0-2A63-D96D-F7D9EE04FEC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45EEDC3-FE82-A178-28EE-884EB747814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1393169-AF6C-925C-3DE7-5B7DA5C3CA89}"/>
              </a:ext>
            </a:extLst>
          </p:cNvPr>
          <p:cNvSpPr>
            <a:spLocks noGrp="1"/>
          </p:cNvSpPr>
          <p:nvPr>
            <p:ph type="sldNum" sz="quarter" idx="10"/>
          </p:nvPr>
        </p:nvSpPr>
        <p:spPr/>
        <p:txBody>
          <a:bodyPr/>
          <a:lstStyle/>
          <a:p>
            <a:fld id="{90428E0A-68A3-4969-8E44-8603FB83DD5F}" type="slidenum">
              <a:rPr lang="it-IT" smtClean="0"/>
              <a:t>12</a:t>
            </a:fld>
            <a:endParaRPr lang="it-IT"/>
          </a:p>
        </p:txBody>
      </p:sp>
    </p:spTree>
    <p:extLst>
      <p:ext uri="{BB962C8B-B14F-4D97-AF65-F5344CB8AC3E}">
        <p14:creationId xmlns:p14="http://schemas.microsoft.com/office/powerpoint/2010/main" val="490807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60CAB-5E16-8C62-7BF1-2FA206991DC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3C794ED-8542-2C9C-F89D-581BC0E9500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164E7D0-7C2C-572D-FFE0-DFE127CA46B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D128FDE-A037-B271-04D5-213D13FF0B06}"/>
              </a:ext>
            </a:extLst>
          </p:cNvPr>
          <p:cNvSpPr>
            <a:spLocks noGrp="1"/>
          </p:cNvSpPr>
          <p:nvPr>
            <p:ph type="sldNum" sz="quarter" idx="10"/>
          </p:nvPr>
        </p:nvSpPr>
        <p:spPr/>
        <p:txBody>
          <a:bodyPr/>
          <a:lstStyle/>
          <a:p>
            <a:fld id="{90428E0A-68A3-4969-8E44-8603FB83DD5F}" type="slidenum">
              <a:rPr lang="it-IT" smtClean="0"/>
              <a:t>13</a:t>
            </a:fld>
            <a:endParaRPr lang="it-IT"/>
          </a:p>
        </p:txBody>
      </p:sp>
    </p:spTree>
    <p:extLst>
      <p:ext uri="{BB962C8B-B14F-4D97-AF65-F5344CB8AC3E}">
        <p14:creationId xmlns:p14="http://schemas.microsoft.com/office/powerpoint/2010/main" val="1110907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69B9F-524D-97D0-B8D3-8BC1BBD117C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6B25B86-A52B-D03E-2AED-CB890C4050B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F85FD29-7783-3EC1-E991-A77A631006B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5EB075A-35E5-5083-2E01-A4F6FF47AB52}"/>
              </a:ext>
            </a:extLst>
          </p:cNvPr>
          <p:cNvSpPr>
            <a:spLocks noGrp="1"/>
          </p:cNvSpPr>
          <p:nvPr>
            <p:ph type="sldNum" sz="quarter" idx="10"/>
          </p:nvPr>
        </p:nvSpPr>
        <p:spPr/>
        <p:txBody>
          <a:bodyPr/>
          <a:lstStyle/>
          <a:p>
            <a:fld id="{90428E0A-68A3-4969-8E44-8603FB83DD5F}" type="slidenum">
              <a:rPr lang="it-IT" smtClean="0"/>
              <a:t>14</a:t>
            </a:fld>
            <a:endParaRPr lang="it-IT"/>
          </a:p>
        </p:txBody>
      </p:sp>
    </p:spTree>
    <p:extLst>
      <p:ext uri="{BB962C8B-B14F-4D97-AF65-F5344CB8AC3E}">
        <p14:creationId xmlns:p14="http://schemas.microsoft.com/office/powerpoint/2010/main" val="2213506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414C3-9966-4A47-628E-33E481627B1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243247-EA26-157B-8B42-C92D29B1D353}"/>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9B9EC5A-E9F8-3384-6A8B-509A1DE9D0D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85E42840-DB63-5E7C-04AB-3888E64539FA}"/>
              </a:ext>
            </a:extLst>
          </p:cNvPr>
          <p:cNvSpPr>
            <a:spLocks noGrp="1"/>
          </p:cNvSpPr>
          <p:nvPr>
            <p:ph type="sldNum" sz="quarter" idx="10"/>
          </p:nvPr>
        </p:nvSpPr>
        <p:spPr/>
        <p:txBody>
          <a:bodyPr/>
          <a:lstStyle/>
          <a:p>
            <a:fld id="{90428E0A-68A3-4969-8E44-8603FB83DD5F}" type="slidenum">
              <a:rPr lang="it-IT" smtClean="0"/>
              <a:t>15</a:t>
            </a:fld>
            <a:endParaRPr lang="it-IT"/>
          </a:p>
        </p:txBody>
      </p:sp>
    </p:spTree>
    <p:extLst>
      <p:ext uri="{BB962C8B-B14F-4D97-AF65-F5344CB8AC3E}">
        <p14:creationId xmlns:p14="http://schemas.microsoft.com/office/powerpoint/2010/main" val="581925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4A819-9483-8E19-60FE-AC84EA0970D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5EB3F1E-2BD3-6152-3A87-0A5910DE274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8183D15-E6A7-FBDF-809E-014A52DDE9A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6737528-0C91-1852-E71F-0BD6AF31A408}"/>
              </a:ext>
            </a:extLst>
          </p:cNvPr>
          <p:cNvSpPr>
            <a:spLocks noGrp="1"/>
          </p:cNvSpPr>
          <p:nvPr>
            <p:ph type="sldNum" sz="quarter" idx="10"/>
          </p:nvPr>
        </p:nvSpPr>
        <p:spPr/>
        <p:txBody>
          <a:bodyPr/>
          <a:lstStyle/>
          <a:p>
            <a:fld id="{90428E0A-68A3-4969-8E44-8603FB83DD5F}" type="slidenum">
              <a:rPr lang="it-IT" smtClean="0"/>
              <a:t>16</a:t>
            </a:fld>
            <a:endParaRPr lang="it-IT"/>
          </a:p>
        </p:txBody>
      </p:sp>
    </p:spTree>
    <p:extLst>
      <p:ext uri="{BB962C8B-B14F-4D97-AF65-F5344CB8AC3E}">
        <p14:creationId xmlns:p14="http://schemas.microsoft.com/office/powerpoint/2010/main" val="1321023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29CD0-2015-D71B-2A2F-851698C139B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B6926F6-A235-096C-9CB0-D05B29160D3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67FA6FB-8BFF-52F8-1F8F-4DC6E3779734}"/>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4BD289E-0B16-394A-17BD-4E67D577EAAE}"/>
              </a:ext>
            </a:extLst>
          </p:cNvPr>
          <p:cNvSpPr>
            <a:spLocks noGrp="1"/>
          </p:cNvSpPr>
          <p:nvPr>
            <p:ph type="sldNum" sz="quarter" idx="10"/>
          </p:nvPr>
        </p:nvSpPr>
        <p:spPr/>
        <p:txBody>
          <a:bodyPr/>
          <a:lstStyle/>
          <a:p>
            <a:fld id="{90428E0A-68A3-4969-8E44-8603FB83DD5F}" type="slidenum">
              <a:rPr lang="it-IT" smtClean="0"/>
              <a:t>17</a:t>
            </a:fld>
            <a:endParaRPr lang="it-IT"/>
          </a:p>
        </p:txBody>
      </p:sp>
    </p:spTree>
    <p:extLst>
      <p:ext uri="{BB962C8B-B14F-4D97-AF65-F5344CB8AC3E}">
        <p14:creationId xmlns:p14="http://schemas.microsoft.com/office/powerpoint/2010/main" val="3842394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9DC8F-7219-3C5B-88D2-60AC9DF7859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E6E5D05-BAA1-FF68-3E91-86AFEDE12A0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E649207-1990-A9F0-22E5-9295E4DFB13A}"/>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2F176EB-B637-8DB0-D6D4-6C54185CF58E}"/>
              </a:ext>
            </a:extLst>
          </p:cNvPr>
          <p:cNvSpPr>
            <a:spLocks noGrp="1"/>
          </p:cNvSpPr>
          <p:nvPr>
            <p:ph type="sldNum" sz="quarter" idx="10"/>
          </p:nvPr>
        </p:nvSpPr>
        <p:spPr/>
        <p:txBody>
          <a:bodyPr/>
          <a:lstStyle/>
          <a:p>
            <a:fld id="{90428E0A-68A3-4969-8E44-8603FB83DD5F}" type="slidenum">
              <a:rPr lang="it-IT" smtClean="0"/>
              <a:t>18</a:t>
            </a:fld>
            <a:endParaRPr lang="it-IT"/>
          </a:p>
        </p:txBody>
      </p:sp>
    </p:spTree>
    <p:extLst>
      <p:ext uri="{BB962C8B-B14F-4D97-AF65-F5344CB8AC3E}">
        <p14:creationId xmlns:p14="http://schemas.microsoft.com/office/powerpoint/2010/main" val="2496248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1F144-41D1-DC98-5B25-FACE986CD75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18753D0-F65E-593E-A3AC-D0806134CF0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8483103-8932-EAE0-3464-E5ACB6986F6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226FB29-479A-C08C-9F96-98BA43DCADD2}"/>
              </a:ext>
            </a:extLst>
          </p:cNvPr>
          <p:cNvSpPr>
            <a:spLocks noGrp="1"/>
          </p:cNvSpPr>
          <p:nvPr>
            <p:ph type="sldNum" sz="quarter" idx="10"/>
          </p:nvPr>
        </p:nvSpPr>
        <p:spPr/>
        <p:txBody>
          <a:bodyPr/>
          <a:lstStyle/>
          <a:p>
            <a:fld id="{90428E0A-68A3-4969-8E44-8603FB83DD5F}" type="slidenum">
              <a:rPr lang="it-IT" smtClean="0"/>
              <a:t>19</a:t>
            </a:fld>
            <a:endParaRPr lang="it-IT"/>
          </a:p>
        </p:txBody>
      </p:sp>
    </p:spTree>
    <p:extLst>
      <p:ext uri="{BB962C8B-B14F-4D97-AF65-F5344CB8AC3E}">
        <p14:creationId xmlns:p14="http://schemas.microsoft.com/office/powerpoint/2010/main" val="1813702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805D1-6777-1FC4-96F2-CC0A85DA215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6C7D78D-2CF6-8DC5-3E34-9CD81B173A4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0E374D1-734E-D6AD-0A58-E1151D2A487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87C326EB-AF06-357C-05DD-E14C6A2C014C}"/>
              </a:ext>
            </a:extLst>
          </p:cNvPr>
          <p:cNvSpPr>
            <a:spLocks noGrp="1"/>
          </p:cNvSpPr>
          <p:nvPr>
            <p:ph type="sldNum" sz="quarter" idx="10"/>
          </p:nvPr>
        </p:nvSpPr>
        <p:spPr/>
        <p:txBody>
          <a:bodyPr/>
          <a:lstStyle/>
          <a:p>
            <a:fld id="{90428E0A-68A3-4969-8E44-8603FB83DD5F}" type="slidenum">
              <a:rPr lang="it-IT" smtClean="0"/>
              <a:t>20</a:t>
            </a:fld>
            <a:endParaRPr lang="it-IT"/>
          </a:p>
        </p:txBody>
      </p:sp>
    </p:spTree>
    <p:extLst>
      <p:ext uri="{BB962C8B-B14F-4D97-AF65-F5344CB8AC3E}">
        <p14:creationId xmlns:p14="http://schemas.microsoft.com/office/powerpoint/2010/main" val="3076570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EFB29-14F0-9DF5-B80E-C44B8840CE8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98BDC77-7A1C-828E-C988-0C8E9026DF4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D42A530-85DF-DE5D-DF65-05BF74A2062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69EA189-E9DE-5D96-6FE5-7DF61A5061A5}"/>
              </a:ext>
            </a:extLst>
          </p:cNvPr>
          <p:cNvSpPr>
            <a:spLocks noGrp="1"/>
          </p:cNvSpPr>
          <p:nvPr>
            <p:ph type="sldNum" sz="quarter" idx="10"/>
          </p:nvPr>
        </p:nvSpPr>
        <p:spPr/>
        <p:txBody>
          <a:bodyPr/>
          <a:lstStyle/>
          <a:p>
            <a:fld id="{90428E0A-68A3-4969-8E44-8603FB83DD5F}" type="slidenum">
              <a:rPr lang="it-IT" smtClean="0"/>
              <a:t>21</a:t>
            </a:fld>
            <a:endParaRPr lang="it-IT"/>
          </a:p>
        </p:txBody>
      </p:sp>
    </p:spTree>
    <p:extLst>
      <p:ext uri="{BB962C8B-B14F-4D97-AF65-F5344CB8AC3E}">
        <p14:creationId xmlns:p14="http://schemas.microsoft.com/office/powerpoint/2010/main" val="2013803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F4542-08AE-7343-4138-CB18B0DF713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82B5A84-B96A-D838-AA24-CC320B4AD01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09E3277-2742-BA08-A228-AC8532E69F4C}"/>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807C596-8F0C-D6B2-DCC5-DE54AC4DAD92}"/>
              </a:ext>
            </a:extLst>
          </p:cNvPr>
          <p:cNvSpPr>
            <a:spLocks noGrp="1"/>
          </p:cNvSpPr>
          <p:nvPr>
            <p:ph type="sldNum" sz="quarter" idx="10"/>
          </p:nvPr>
        </p:nvSpPr>
        <p:spPr/>
        <p:txBody>
          <a:bodyPr/>
          <a:lstStyle/>
          <a:p>
            <a:fld id="{90428E0A-68A3-4969-8E44-8603FB83DD5F}" type="slidenum">
              <a:rPr lang="it-IT" smtClean="0"/>
              <a:t>22</a:t>
            </a:fld>
            <a:endParaRPr lang="it-IT"/>
          </a:p>
        </p:txBody>
      </p:sp>
    </p:spTree>
    <p:extLst>
      <p:ext uri="{BB962C8B-B14F-4D97-AF65-F5344CB8AC3E}">
        <p14:creationId xmlns:p14="http://schemas.microsoft.com/office/powerpoint/2010/main" val="27580481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52148-8994-6C65-2D46-11B4489138C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8808EF7-20FC-2FFE-F023-908818F4CA3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EB00772-A739-427B-24C3-39D7C76412E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B2BB8DFC-CE75-4F64-04DF-1F6C5EC8958D}"/>
              </a:ext>
            </a:extLst>
          </p:cNvPr>
          <p:cNvSpPr>
            <a:spLocks noGrp="1"/>
          </p:cNvSpPr>
          <p:nvPr>
            <p:ph type="sldNum" sz="quarter" idx="10"/>
          </p:nvPr>
        </p:nvSpPr>
        <p:spPr/>
        <p:txBody>
          <a:bodyPr/>
          <a:lstStyle/>
          <a:p>
            <a:fld id="{90428E0A-68A3-4969-8E44-8603FB83DD5F}" type="slidenum">
              <a:rPr lang="it-IT" smtClean="0"/>
              <a:t>23</a:t>
            </a:fld>
            <a:endParaRPr lang="it-IT"/>
          </a:p>
        </p:txBody>
      </p:sp>
    </p:spTree>
    <p:extLst>
      <p:ext uri="{BB962C8B-B14F-4D97-AF65-F5344CB8AC3E}">
        <p14:creationId xmlns:p14="http://schemas.microsoft.com/office/powerpoint/2010/main" val="39480815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BDB9-A6B4-A993-40F6-316F0556581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A4BC1E7-4BF9-20F2-A547-DA8CEDCAC60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8696E5-3507-A5A8-F10E-009F5A94C19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CB25443-66B3-E5FD-AE2B-B04701AE8468}"/>
              </a:ext>
            </a:extLst>
          </p:cNvPr>
          <p:cNvSpPr>
            <a:spLocks noGrp="1"/>
          </p:cNvSpPr>
          <p:nvPr>
            <p:ph type="sldNum" sz="quarter" idx="10"/>
          </p:nvPr>
        </p:nvSpPr>
        <p:spPr/>
        <p:txBody>
          <a:bodyPr/>
          <a:lstStyle/>
          <a:p>
            <a:fld id="{90428E0A-68A3-4969-8E44-8603FB83DD5F}" type="slidenum">
              <a:rPr lang="it-IT" smtClean="0"/>
              <a:t>24</a:t>
            </a:fld>
            <a:endParaRPr lang="it-IT"/>
          </a:p>
        </p:txBody>
      </p:sp>
    </p:spTree>
    <p:extLst>
      <p:ext uri="{BB962C8B-B14F-4D97-AF65-F5344CB8AC3E}">
        <p14:creationId xmlns:p14="http://schemas.microsoft.com/office/powerpoint/2010/main" val="2135007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FA2BD-9CB2-5551-FAA4-ED7F78F0877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A13EA94-8C91-64D8-9784-AA9F19E14E4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F4548F1-9A5A-D304-B24F-683F889B374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37D26F1-F967-FC7F-2C14-926AB1FA0123}"/>
              </a:ext>
            </a:extLst>
          </p:cNvPr>
          <p:cNvSpPr>
            <a:spLocks noGrp="1"/>
          </p:cNvSpPr>
          <p:nvPr>
            <p:ph type="sldNum" sz="quarter" idx="10"/>
          </p:nvPr>
        </p:nvSpPr>
        <p:spPr/>
        <p:txBody>
          <a:bodyPr/>
          <a:lstStyle/>
          <a:p>
            <a:fld id="{90428E0A-68A3-4969-8E44-8603FB83DD5F}" type="slidenum">
              <a:rPr lang="it-IT" smtClean="0"/>
              <a:t>25</a:t>
            </a:fld>
            <a:endParaRPr lang="it-IT"/>
          </a:p>
        </p:txBody>
      </p:sp>
    </p:spTree>
    <p:extLst>
      <p:ext uri="{BB962C8B-B14F-4D97-AF65-F5344CB8AC3E}">
        <p14:creationId xmlns:p14="http://schemas.microsoft.com/office/powerpoint/2010/main" val="732736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990B-7BF4-6007-C773-90F6463438A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62B690D-DCC7-984D-57E1-1D81CE1C67E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0B35FD4-689C-EF7A-0F4A-5B62C5FF14E9}"/>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C082467-D0EF-436E-0FA1-770E73573C30}"/>
              </a:ext>
            </a:extLst>
          </p:cNvPr>
          <p:cNvSpPr>
            <a:spLocks noGrp="1"/>
          </p:cNvSpPr>
          <p:nvPr>
            <p:ph type="sldNum" sz="quarter" idx="10"/>
          </p:nvPr>
        </p:nvSpPr>
        <p:spPr/>
        <p:txBody>
          <a:bodyPr/>
          <a:lstStyle/>
          <a:p>
            <a:fld id="{90428E0A-68A3-4969-8E44-8603FB83DD5F}" type="slidenum">
              <a:rPr lang="it-IT" smtClean="0"/>
              <a:t>26</a:t>
            </a:fld>
            <a:endParaRPr lang="it-IT"/>
          </a:p>
        </p:txBody>
      </p:sp>
    </p:spTree>
    <p:extLst>
      <p:ext uri="{BB962C8B-B14F-4D97-AF65-F5344CB8AC3E}">
        <p14:creationId xmlns:p14="http://schemas.microsoft.com/office/powerpoint/2010/main" val="1605856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3A5B3-31A7-EE46-F7AA-2894F133B4A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47C82E1-B9B6-3765-1C47-1FA87F023CF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14D064A-7BB6-C667-D4B3-8623334E9F1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A6F122EF-A119-5FD0-05E1-6C8DE2B868F5}"/>
              </a:ext>
            </a:extLst>
          </p:cNvPr>
          <p:cNvSpPr>
            <a:spLocks noGrp="1"/>
          </p:cNvSpPr>
          <p:nvPr>
            <p:ph type="sldNum" sz="quarter" idx="10"/>
          </p:nvPr>
        </p:nvSpPr>
        <p:spPr/>
        <p:txBody>
          <a:bodyPr/>
          <a:lstStyle/>
          <a:p>
            <a:fld id="{90428E0A-68A3-4969-8E44-8603FB83DD5F}" type="slidenum">
              <a:rPr lang="it-IT" smtClean="0"/>
              <a:t>27</a:t>
            </a:fld>
            <a:endParaRPr lang="it-IT"/>
          </a:p>
        </p:txBody>
      </p:sp>
    </p:spTree>
    <p:extLst>
      <p:ext uri="{BB962C8B-B14F-4D97-AF65-F5344CB8AC3E}">
        <p14:creationId xmlns:p14="http://schemas.microsoft.com/office/powerpoint/2010/main" val="21977964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CF87F-101F-328D-2B32-D8AFBDE3151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428EE0C-CD0E-3CD8-5951-90BF2CE069F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45DA389-AB8D-2AA9-BED8-FA7EAC63437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5D25E70-D5E4-6209-648E-E5D0FFA607E1}"/>
              </a:ext>
            </a:extLst>
          </p:cNvPr>
          <p:cNvSpPr>
            <a:spLocks noGrp="1"/>
          </p:cNvSpPr>
          <p:nvPr>
            <p:ph type="sldNum" sz="quarter" idx="10"/>
          </p:nvPr>
        </p:nvSpPr>
        <p:spPr/>
        <p:txBody>
          <a:bodyPr/>
          <a:lstStyle/>
          <a:p>
            <a:fld id="{90428E0A-68A3-4969-8E44-8603FB83DD5F}" type="slidenum">
              <a:rPr lang="it-IT" smtClean="0"/>
              <a:t>28</a:t>
            </a:fld>
            <a:endParaRPr lang="it-IT"/>
          </a:p>
        </p:txBody>
      </p:sp>
    </p:spTree>
    <p:extLst>
      <p:ext uri="{BB962C8B-B14F-4D97-AF65-F5344CB8AC3E}">
        <p14:creationId xmlns:p14="http://schemas.microsoft.com/office/powerpoint/2010/main" val="39954885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B586D-0698-8B59-17B2-63E7808B147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A5BA15B-AA38-4FCA-D46E-63D28D677A9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CB1B372-4741-8FD5-7262-2B771694E6E6}"/>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DA4B6F9C-351B-67D3-67A4-1DC89268B1FC}"/>
              </a:ext>
            </a:extLst>
          </p:cNvPr>
          <p:cNvSpPr>
            <a:spLocks noGrp="1"/>
          </p:cNvSpPr>
          <p:nvPr>
            <p:ph type="sldNum" sz="quarter" idx="10"/>
          </p:nvPr>
        </p:nvSpPr>
        <p:spPr/>
        <p:txBody>
          <a:bodyPr/>
          <a:lstStyle/>
          <a:p>
            <a:fld id="{90428E0A-68A3-4969-8E44-8603FB83DD5F}" type="slidenum">
              <a:rPr lang="it-IT" smtClean="0"/>
              <a:t>29</a:t>
            </a:fld>
            <a:endParaRPr lang="it-IT"/>
          </a:p>
        </p:txBody>
      </p:sp>
    </p:spTree>
    <p:extLst>
      <p:ext uri="{BB962C8B-B14F-4D97-AF65-F5344CB8AC3E}">
        <p14:creationId xmlns:p14="http://schemas.microsoft.com/office/powerpoint/2010/main" val="1588753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67781-D4DE-55BC-D799-8745A5BB794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F386EF4-610D-C23F-FFE1-122FA9973A4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9A3A98B-9A92-538B-FC3A-E2CBBA9FABD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56DF0C1-5076-55E5-AAA8-77AEF70CF25D}"/>
              </a:ext>
            </a:extLst>
          </p:cNvPr>
          <p:cNvSpPr>
            <a:spLocks noGrp="1"/>
          </p:cNvSpPr>
          <p:nvPr>
            <p:ph type="sldNum" sz="quarter" idx="10"/>
          </p:nvPr>
        </p:nvSpPr>
        <p:spPr/>
        <p:txBody>
          <a:bodyPr/>
          <a:lstStyle/>
          <a:p>
            <a:fld id="{90428E0A-68A3-4969-8E44-8603FB83DD5F}" type="slidenum">
              <a:rPr lang="it-IT" smtClean="0"/>
              <a:t>30</a:t>
            </a:fld>
            <a:endParaRPr lang="it-IT"/>
          </a:p>
        </p:txBody>
      </p:sp>
    </p:spTree>
    <p:extLst>
      <p:ext uri="{BB962C8B-B14F-4D97-AF65-F5344CB8AC3E}">
        <p14:creationId xmlns:p14="http://schemas.microsoft.com/office/powerpoint/2010/main" val="38289815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4DC3-D5A4-5C11-3EE7-C06CBA5812C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94C2856-9980-F59C-E5F2-AE3B96239DF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BA8FE1E-72F2-B124-C3C7-5247B462A2DC}"/>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95BF4F2-53CD-E634-4232-817A7F42ABEB}"/>
              </a:ext>
            </a:extLst>
          </p:cNvPr>
          <p:cNvSpPr>
            <a:spLocks noGrp="1"/>
          </p:cNvSpPr>
          <p:nvPr>
            <p:ph type="sldNum" sz="quarter" idx="10"/>
          </p:nvPr>
        </p:nvSpPr>
        <p:spPr/>
        <p:txBody>
          <a:bodyPr/>
          <a:lstStyle/>
          <a:p>
            <a:fld id="{90428E0A-68A3-4969-8E44-8603FB83DD5F}" type="slidenum">
              <a:rPr lang="it-IT" smtClean="0"/>
              <a:t>31</a:t>
            </a:fld>
            <a:endParaRPr lang="it-IT"/>
          </a:p>
        </p:txBody>
      </p:sp>
    </p:spTree>
    <p:extLst>
      <p:ext uri="{BB962C8B-B14F-4D97-AF65-F5344CB8AC3E}">
        <p14:creationId xmlns:p14="http://schemas.microsoft.com/office/powerpoint/2010/main" val="1063089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58E6-82A9-DD8E-555B-2CF23E9DD3A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C284D08-1AAA-E6BE-D523-798A236276A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6151440-FFFD-7241-ABAA-84C57B39944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03A1864-22C2-2C5E-9269-D80E70058B62}"/>
              </a:ext>
            </a:extLst>
          </p:cNvPr>
          <p:cNvSpPr>
            <a:spLocks noGrp="1"/>
          </p:cNvSpPr>
          <p:nvPr>
            <p:ph type="sldNum" sz="quarter" idx="10"/>
          </p:nvPr>
        </p:nvSpPr>
        <p:spPr/>
        <p:txBody>
          <a:bodyPr/>
          <a:lstStyle/>
          <a:p>
            <a:fld id="{90428E0A-68A3-4969-8E44-8603FB83DD5F}" type="slidenum">
              <a:rPr lang="it-IT" smtClean="0"/>
              <a:t>32</a:t>
            </a:fld>
            <a:endParaRPr lang="it-IT"/>
          </a:p>
        </p:txBody>
      </p:sp>
    </p:spTree>
    <p:extLst>
      <p:ext uri="{BB962C8B-B14F-4D97-AF65-F5344CB8AC3E}">
        <p14:creationId xmlns:p14="http://schemas.microsoft.com/office/powerpoint/2010/main" val="4959625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067C-4F55-E6D5-B9ED-DE059E127AE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6125B60-EFDA-FB20-3524-A537383F832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0A8C575-ED92-5B18-BEE9-EC9399ADE77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1242FA69-8465-D296-913B-9F6257F6E304}"/>
              </a:ext>
            </a:extLst>
          </p:cNvPr>
          <p:cNvSpPr>
            <a:spLocks noGrp="1"/>
          </p:cNvSpPr>
          <p:nvPr>
            <p:ph type="sldNum" sz="quarter" idx="10"/>
          </p:nvPr>
        </p:nvSpPr>
        <p:spPr/>
        <p:txBody>
          <a:bodyPr/>
          <a:lstStyle/>
          <a:p>
            <a:fld id="{90428E0A-68A3-4969-8E44-8603FB83DD5F}" type="slidenum">
              <a:rPr lang="it-IT" smtClean="0"/>
              <a:t>33</a:t>
            </a:fld>
            <a:endParaRPr lang="it-IT"/>
          </a:p>
        </p:txBody>
      </p:sp>
    </p:spTree>
    <p:extLst>
      <p:ext uri="{BB962C8B-B14F-4D97-AF65-F5344CB8AC3E}">
        <p14:creationId xmlns:p14="http://schemas.microsoft.com/office/powerpoint/2010/main" val="15296633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7118A-E17F-BAE0-4170-8185BA43AE3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B9DFF7A-E728-74FC-5D6E-E697C0B310D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D83E567-D030-D1DF-59DA-619E7E305906}"/>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40BAF7C4-15C5-BB92-5F7D-A619A8D9F8DE}"/>
              </a:ext>
            </a:extLst>
          </p:cNvPr>
          <p:cNvSpPr>
            <a:spLocks noGrp="1"/>
          </p:cNvSpPr>
          <p:nvPr>
            <p:ph type="sldNum" sz="quarter" idx="10"/>
          </p:nvPr>
        </p:nvSpPr>
        <p:spPr/>
        <p:txBody>
          <a:bodyPr/>
          <a:lstStyle/>
          <a:p>
            <a:fld id="{90428E0A-68A3-4969-8E44-8603FB83DD5F}" type="slidenum">
              <a:rPr lang="it-IT" smtClean="0"/>
              <a:t>34</a:t>
            </a:fld>
            <a:endParaRPr lang="it-IT"/>
          </a:p>
        </p:txBody>
      </p:sp>
    </p:spTree>
    <p:extLst>
      <p:ext uri="{BB962C8B-B14F-4D97-AF65-F5344CB8AC3E}">
        <p14:creationId xmlns:p14="http://schemas.microsoft.com/office/powerpoint/2010/main" val="28279647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34EB-999E-D2DB-DA3F-2C18EAD1955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8817F43-5BE8-D9FE-89EE-387EC55FB8E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8D9374B-3EBE-19CD-95A1-79178CE4BA93}"/>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FEA8FEB1-7B6A-88C1-72BE-3C4ABFCC56DD}"/>
              </a:ext>
            </a:extLst>
          </p:cNvPr>
          <p:cNvSpPr>
            <a:spLocks noGrp="1"/>
          </p:cNvSpPr>
          <p:nvPr>
            <p:ph type="sldNum" sz="quarter" idx="10"/>
          </p:nvPr>
        </p:nvSpPr>
        <p:spPr/>
        <p:txBody>
          <a:bodyPr/>
          <a:lstStyle/>
          <a:p>
            <a:fld id="{90428E0A-68A3-4969-8E44-8603FB83DD5F}" type="slidenum">
              <a:rPr lang="it-IT" smtClean="0"/>
              <a:t>35</a:t>
            </a:fld>
            <a:endParaRPr lang="it-IT"/>
          </a:p>
        </p:txBody>
      </p:sp>
    </p:spTree>
    <p:extLst>
      <p:ext uri="{BB962C8B-B14F-4D97-AF65-F5344CB8AC3E}">
        <p14:creationId xmlns:p14="http://schemas.microsoft.com/office/powerpoint/2010/main" val="37003989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21E73-662C-FEE6-AE0B-254D34C7D8D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70F6EA2-8DD9-2B21-7628-A0A49C9EC75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FA31CE6-7776-6193-EAC8-2542B4FAA58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42AD522-4269-6CA5-6C80-9CD0B0E2E92C}"/>
              </a:ext>
            </a:extLst>
          </p:cNvPr>
          <p:cNvSpPr>
            <a:spLocks noGrp="1"/>
          </p:cNvSpPr>
          <p:nvPr>
            <p:ph type="sldNum" sz="quarter" idx="10"/>
          </p:nvPr>
        </p:nvSpPr>
        <p:spPr/>
        <p:txBody>
          <a:bodyPr/>
          <a:lstStyle/>
          <a:p>
            <a:fld id="{90428E0A-68A3-4969-8E44-8603FB83DD5F}" type="slidenum">
              <a:rPr lang="it-IT" smtClean="0"/>
              <a:t>36</a:t>
            </a:fld>
            <a:endParaRPr lang="it-IT"/>
          </a:p>
        </p:txBody>
      </p:sp>
    </p:spTree>
    <p:extLst>
      <p:ext uri="{BB962C8B-B14F-4D97-AF65-F5344CB8AC3E}">
        <p14:creationId xmlns:p14="http://schemas.microsoft.com/office/powerpoint/2010/main" val="1197030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40437-C76B-C9E1-7EB9-A68BC0A969C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5BDC63A-4E7E-FF7A-A526-DD712AB1E81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660715D-8F37-E213-7394-785BA09B1A0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1A87BCF6-D8F0-C14D-5C2F-04B0955294AA}"/>
              </a:ext>
            </a:extLst>
          </p:cNvPr>
          <p:cNvSpPr>
            <a:spLocks noGrp="1"/>
          </p:cNvSpPr>
          <p:nvPr>
            <p:ph type="sldNum" sz="quarter" idx="10"/>
          </p:nvPr>
        </p:nvSpPr>
        <p:spPr/>
        <p:txBody>
          <a:bodyPr/>
          <a:lstStyle/>
          <a:p>
            <a:fld id="{90428E0A-68A3-4969-8E44-8603FB83DD5F}" type="slidenum">
              <a:rPr lang="it-IT" smtClean="0"/>
              <a:t>37</a:t>
            </a:fld>
            <a:endParaRPr lang="it-IT"/>
          </a:p>
        </p:txBody>
      </p:sp>
    </p:spTree>
    <p:extLst>
      <p:ext uri="{BB962C8B-B14F-4D97-AF65-F5344CB8AC3E}">
        <p14:creationId xmlns:p14="http://schemas.microsoft.com/office/powerpoint/2010/main" val="11718471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4497-548C-EFFB-FFCA-261801A37B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EA889BB-7B9C-2586-80DF-36BE4587806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6C116C9-80DE-40FD-9146-C5F421468419}"/>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AD773C5-84E0-5719-CDEA-E55DB782140F}"/>
              </a:ext>
            </a:extLst>
          </p:cNvPr>
          <p:cNvSpPr>
            <a:spLocks noGrp="1"/>
          </p:cNvSpPr>
          <p:nvPr>
            <p:ph type="sldNum" sz="quarter" idx="10"/>
          </p:nvPr>
        </p:nvSpPr>
        <p:spPr/>
        <p:txBody>
          <a:bodyPr/>
          <a:lstStyle/>
          <a:p>
            <a:fld id="{90428E0A-68A3-4969-8E44-8603FB83DD5F}" type="slidenum">
              <a:rPr lang="it-IT" smtClean="0"/>
              <a:t>38</a:t>
            </a:fld>
            <a:endParaRPr lang="it-IT"/>
          </a:p>
        </p:txBody>
      </p:sp>
    </p:spTree>
    <p:extLst>
      <p:ext uri="{BB962C8B-B14F-4D97-AF65-F5344CB8AC3E}">
        <p14:creationId xmlns:p14="http://schemas.microsoft.com/office/powerpoint/2010/main" val="34882617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2A578-7457-374C-8BD6-DA2CF1ACA89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1727F5B-231B-FB8D-DAAB-FD5C80C75DA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8C41012-15D0-DFE1-6035-AC588B09712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A72D8FA-CFC0-59DA-B90C-4330EE60B59E}"/>
              </a:ext>
            </a:extLst>
          </p:cNvPr>
          <p:cNvSpPr>
            <a:spLocks noGrp="1"/>
          </p:cNvSpPr>
          <p:nvPr>
            <p:ph type="sldNum" sz="quarter" idx="10"/>
          </p:nvPr>
        </p:nvSpPr>
        <p:spPr/>
        <p:txBody>
          <a:bodyPr/>
          <a:lstStyle/>
          <a:p>
            <a:fld id="{90428E0A-68A3-4969-8E44-8603FB83DD5F}" type="slidenum">
              <a:rPr lang="it-IT" smtClean="0"/>
              <a:t>39</a:t>
            </a:fld>
            <a:endParaRPr lang="it-IT"/>
          </a:p>
        </p:txBody>
      </p:sp>
    </p:spTree>
    <p:extLst>
      <p:ext uri="{BB962C8B-B14F-4D97-AF65-F5344CB8AC3E}">
        <p14:creationId xmlns:p14="http://schemas.microsoft.com/office/powerpoint/2010/main" val="7949089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DD172-565E-42D9-8A6D-0E19424ED8A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2F18996-3702-48B7-EF8F-EAE7EEB2F8C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19C087E-08C6-34A1-3621-0825F7B2A16B}"/>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69905EC8-2847-10E8-B1FD-0F1012606BEA}"/>
              </a:ext>
            </a:extLst>
          </p:cNvPr>
          <p:cNvSpPr>
            <a:spLocks noGrp="1"/>
          </p:cNvSpPr>
          <p:nvPr>
            <p:ph type="sldNum" sz="quarter" idx="10"/>
          </p:nvPr>
        </p:nvSpPr>
        <p:spPr/>
        <p:txBody>
          <a:bodyPr/>
          <a:lstStyle/>
          <a:p>
            <a:fld id="{90428E0A-68A3-4969-8E44-8603FB83DD5F}" type="slidenum">
              <a:rPr lang="it-IT" smtClean="0"/>
              <a:t>40</a:t>
            </a:fld>
            <a:endParaRPr lang="it-IT"/>
          </a:p>
        </p:txBody>
      </p:sp>
    </p:spTree>
    <p:extLst>
      <p:ext uri="{BB962C8B-B14F-4D97-AF65-F5344CB8AC3E}">
        <p14:creationId xmlns:p14="http://schemas.microsoft.com/office/powerpoint/2010/main" val="4970199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8852-209B-6253-D837-23B4C07E416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AEFC7A4-3109-ACF9-C02A-2FF9F525864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2B7F6C1-ED33-57FF-88E4-30D2B6E0562C}"/>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B67EA772-CE3C-96F1-0D40-4FF09C80777C}"/>
              </a:ext>
            </a:extLst>
          </p:cNvPr>
          <p:cNvSpPr>
            <a:spLocks noGrp="1"/>
          </p:cNvSpPr>
          <p:nvPr>
            <p:ph type="sldNum" sz="quarter" idx="10"/>
          </p:nvPr>
        </p:nvSpPr>
        <p:spPr/>
        <p:txBody>
          <a:bodyPr/>
          <a:lstStyle/>
          <a:p>
            <a:fld id="{90428E0A-68A3-4969-8E44-8603FB83DD5F}" type="slidenum">
              <a:rPr lang="it-IT" smtClean="0"/>
              <a:t>41</a:t>
            </a:fld>
            <a:endParaRPr lang="it-IT"/>
          </a:p>
        </p:txBody>
      </p:sp>
    </p:spTree>
    <p:extLst>
      <p:ext uri="{BB962C8B-B14F-4D97-AF65-F5344CB8AC3E}">
        <p14:creationId xmlns:p14="http://schemas.microsoft.com/office/powerpoint/2010/main" val="31677159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05357-FF8D-2A4D-5684-FC25E554A8A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9CE266D-8BA0-C4B5-B1CE-6CE435FE25D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FACB45A-F8F9-321E-637A-BA9C5C8E10F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2A084EC-EFCA-820F-8B9C-28091629A0C9}"/>
              </a:ext>
            </a:extLst>
          </p:cNvPr>
          <p:cNvSpPr>
            <a:spLocks noGrp="1"/>
          </p:cNvSpPr>
          <p:nvPr>
            <p:ph type="sldNum" sz="quarter" idx="10"/>
          </p:nvPr>
        </p:nvSpPr>
        <p:spPr/>
        <p:txBody>
          <a:bodyPr/>
          <a:lstStyle/>
          <a:p>
            <a:fld id="{90428E0A-68A3-4969-8E44-8603FB83DD5F}" type="slidenum">
              <a:rPr lang="it-IT" smtClean="0"/>
              <a:t>42</a:t>
            </a:fld>
            <a:endParaRPr lang="it-IT"/>
          </a:p>
        </p:txBody>
      </p:sp>
    </p:spTree>
    <p:extLst>
      <p:ext uri="{BB962C8B-B14F-4D97-AF65-F5344CB8AC3E}">
        <p14:creationId xmlns:p14="http://schemas.microsoft.com/office/powerpoint/2010/main" val="36259895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C04E-B82B-6B53-AF99-FABBAA2AB7E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F5ED12D-A0B5-1156-2510-71B5855C2ED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1142AC1-9B60-9832-1A06-FD491A683485}"/>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14EA642-1E28-D886-D417-458841CF7E9E}"/>
              </a:ext>
            </a:extLst>
          </p:cNvPr>
          <p:cNvSpPr>
            <a:spLocks noGrp="1"/>
          </p:cNvSpPr>
          <p:nvPr>
            <p:ph type="sldNum" sz="quarter" idx="10"/>
          </p:nvPr>
        </p:nvSpPr>
        <p:spPr/>
        <p:txBody>
          <a:bodyPr/>
          <a:lstStyle/>
          <a:p>
            <a:fld id="{90428E0A-68A3-4969-8E44-8603FB83DD5F}" type="slidenum">
              <a:rPr lang="it-IT" smtClean="0"/>
              <a:t>43</a:t>
            </a:fld>
            <a:endParaRPr lang="it-IT"/>
          </a:p>
        </p:txBody>
      </p:sp>
    </p:spTree>
    <p:extLst>
      <p:ext uri="{BB962C8B-B14F-4D97-AF65-F5344CB8AC3E}">
        <p14:creationId xmlns:p14="http://schemas.microsoft.com/office/powerpoint/2010/main" val="19690401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23C64-CF2F-C4BD-DEE0-B4C63DCFAB0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DC749BF-8F82-B7BA-D955-C771A1E7EFD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158FB04-1BAD-2B70-971C-872A348E9905}"/>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693DA75-DDAA-4CA8-E3D2-4413D5191D8D}"/>
              </a:ext>
            </a:extLst>
          </p:cNvPr>
          <p:cNvSpPr>
            <a:spLocks noGrp="1"/>
          </p:cNvSpPr>
          <p:nvPr>
            <p:ph type="sldNum" sz="quarter" idx="10"/>
          </p:nvPr>
        </p:nvSpPr>
        <p:spPr/>
        <p:txBody>
          <a:bodyPr/>
          <a:lstStyle/>
          <a:p>
            <a:fld id="{90428E0A-68A3-4969-8E44-8603FB83DD5F}" type="slidenum">
              <a:rPr lang="it-IT" smtClean="0"/>
              <a:t>44</a:t>
            </a:fld>
            <a:endParaRPr lang="it-IT"/>
          </a:p>
        </p:txBody>
      </p:sp>
    </p:spTree>
    <p:extLst>
      <p:ext uri="{BB962C8B-B14F-4D97-AF65-F5344CB8AC3E}">
        <p14:creationId xmlns:p14="http://schemas.microsoft.com/office/powerpoint/2010/main" val="14659650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277E-41DB-509B-89CF-A2C03CCF626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CA21D5B-3ADC-7CD2-C5F4-16CC1EB658A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B505BCE-2602-F81D-A403-3660B6DB15E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532F4D1-C44A-E970-C474-A61BDE79098A}"/>
              </a:ext>
            </a:extLst>
          </p:cNvPr>
          <p:cNvSpPr>
            <a:spLocks noGrp="1"/>
          </p:cNvSpPr>
          <p:nvPr>
            <p:ph type="sldNum" sz="quarter" idx="10"/>
          </p:nvPr>
        </p:nvSpPr>
        <p:spPr/>
        <p:txBody>
          <a:bodyPr/>
          <a:lstStyle/>
          <a:p>
            <a:fld id="{90428E0A-68A3-4969-8E44-8603FB83DD5F}" type="slidenum">
              <a:rPr lang="it-IT" smtClean="0"/>
              <a:t>45</a:t>
            </a:fld>
            <a:endParaRPr lang="it-IT"/>
          </a:p>
        </p:txBody>
      </p:sp>
    </p:spTree>
    <p:extLst>
      <p:ext uri="{BB962C8B-B14F-4D97-AF65-F5344CB8AC3E}">
        <p14:creationId xmlns:p14="http://schemas.microsoft.com/office/powerpoint/2010/main" val="23759717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861A3-FFA7-0946-F3D9-1C3B746F981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4B78C8A-B31B-11A2-82B1-9872295AA57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3350482-76A2-95A6-88A1-1BD125B18C8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21833AE-9745-D67C-77A6-872B31D71E26}"/>
              </a:ext>
            </a:extLst>
          </p:cNvPr>
          <p:cNvSpPr>
            <a:spLocks noGrp="1"/>
          </p:cNvSpPr>
          <p:nvPr>
            <p:ph type="sldNum" sz="quarter" idx="10"/>
          </p:nvPr>
        </p:nvSpPr>
        <p:spPr/>
        <p:txBody>
          <a:bodyPr/>
          <a:lstStyle/>
          <a:p>
            <a:fld id="{90428E0A-68A3-4969-8E44-8603FB83DD5F}" type="slidenum">
              <a:rPr lang="it-IT" smtClean="0"/>
              <a:t>46</a:t>
            </a:fld>
            <a:endParaRPr lang="it-IT"/>
          </a:p>
        </p:txBody>
      </p:sp>
    </p:spTree>
    <p:extLst>
      <p:ext uri="{BB962C8B-B14F-4D97-AF65-F5344CB8AC3E}">
        <p14:creationId xmlns:p14="http://schemas.microsoft.com/office/powerpoint/2010/main" val="23545632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F89DC-8B58-577F-4970-50EA68DCFD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670884D-724C-BBD3-EE41-BB76F0EBD87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AF99C16-65D6-3ED1-203A-0DC0B34FEA89}"/>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A48EF182-575B-69D6-65DA-BB7749FD640F}"/>
              </a:ext>
            </a:extLst>
          </p:cNvPr>
          <p:cNvSpPr>
            <a:spLocks noGrp="1"/>
          </p:cNvSpPr>
          <p:nvPr>
            <p:ph type="sldNum" sz="quarter" idx="10"/>
          </p:nvPr>
        </p:nvSpPr>
        <p:spPr/>
        <p:txBody>
          <a:bodyPr/>
          <a:lstStyle/>
          <a:p>
            <a:fld id="{90428E0A-68A3-4969-8E44-8603FB83DD5F}" type="slidenum">
              <a:rPr lang="it-IT" smtClean="0"/>
              <a:t>47</a:t>
            </a:fld>
            <a:endParaRPr lang="it-IT"/>
          </a:p>
        </p:txBody>
      </p:sp>
    </p:spTree>
    <p:extLst>
      <p:ext uri="{BB962C8B-B14F-4D97-AF65-F5344CB8AC3E}">
        <p14:creationId xmlns:p14="http://schemas.microsoft.com/office/powerpoint/2010/main" val="1354657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DAA39-A559-42D9-39CF-56CB2C7743E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B63F814-1E6E-BE44-A63A-408CC5BFB53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3B7F81D-E942-3C61-FF1C-8AAEB49104E1}"/>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0661089F-CBEE-02BF-EB5D-9018271C6A9D}"/>
              </a:ext>
            </a:extLst>
          </p:cNvPr>
          <p:cNvSpPr>
            <a:spLocks noGrp="1"/>
          </p:cNvSpPr>
          <p:nvPr>
            <p:ph type="sldNum" sz="quarter" idx="10"/>
          </p:nvPr>
        </p:nvSpPr>
        <p:spPr/>
        <p:txBody>
          <a:bodyPr/>
          <a:lstStyle/>
          <a:p>
            <a:fld id="{90428E0A-68A3-4969-8E44-8603FB83DD5F}" type="slidenum">
              <a:rPr lang="it-IT" smtClean="0"/>
              <a:t>48</a:t>
            </a:fld>
            <a:endParaRPr lang="it-IT"/>
          </a:p>
        </p:txBody>
      </p:sp>
    </p:spTree>
    <p:extLst>
      <p:ext uri="{BB962C8B-B14F-4D97-AF65-F5344CB8AC3E}">
        <p14:creationId xmlns:p14="http://schemas.microsoft.com/office/powerpoint/2010/main" val="39312525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83061-E01A-84DC-95CC-F1FB5BE9389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E6353FB-5A81-1AB4-AEDB-5C43AE73422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AD63373-F4E9-2AFA-FCDF-CD3DD676945C}"/>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193A8460-0C85-04BE-DE1E-28A480039119}"/>
              </a:ext>
            </a:extLst>
          </p:cNvPr>
          <p:cNvSpPr>
            <a:spLocks noGrp="1"/>
          </p:cNvSpPr>
          <p:nvPr>
            <p:ph type="sldNum" sz="quarter" idx="10"/>
          </p:nvPr>
        </p:nvSpPr>
        <p:spPr/>
        <p:txBody>
          <a:bodyPr/>
          <a:lstStyle/>
          <a:p>
            <a:fld id="{90428E0A-68A3-4969-8E44-8603FB83DD5F}" type="slidenum">
              <a:rPr lang="it-IT" smtClean="0"/>
              <a:t>49</a:t>
            </a:fld>
            <a:endParaRPr lang="it-IT"/>
          </a:p>
        </p:txBody>
      </p:sp>
    </p:spTree>
    <p:extLst>
      <p:ext uri="{BB962C8B-B14F-4D97-AF65-F5344CB8AC3E}">
        <p14:creationId xmlns:p14="http://schemas.microsoft.com/office/powerpoint/2010/main" val="36136983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6ED92-3F48-C3FB-1603-0B22938CE42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603DD2D-596F-DBE1-B360-026BCB2BCCA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23BF8A6-E8B2-33AD-A539-8098FD465F8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A572F26C-32EE-E4B2-E016-3D0F2F753642}"/>
              </a:ext>
            </a:extLst>
          </p:cNvPr>
          <p:cNvSpPr>
            <a:spLocks noGrp="1"/>
          </p:cNvSpPr>
          <p:nvPr>
            <p:ph type="sldNum" sz="quarter" idx="10"/>
          </p:nvPr>
        </p:nvSpPr>
        <p:spPr/>
        <p:txBody>
          <a:bodyPr/>
          <a:lstStyle/>
          <a:p>
            <a:fld id="{90428E0A-68A3-4969-8E44-8603FB83DD5F}" type="slidenum">
              <a:rPr lang="it-IT" smtClean="0"/>
              <a:t>50</a:t>
            </a:fld>
            <a:endParaRPr lang="it-IT"/>
          </a:p>
        </p:txBody>
      </p:sp>
    </p:spTree>
    <p:extLst>
      <p:ext uri="{BB962C8B-B14F-4D97-AF65-F5344CB8AC3E}">
        <p14:creationId xmlns:p14="http://schemas.microsoft.com/office/powerpoint/2010/main" val="29815179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A390D-8770-EEFE-4427-3D821E6BC19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52A2C22-F07F-48EA-9304-9E2CF4D4873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79AB957-54F5-A5C9-2488-FCFE8894079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16168208-A55E-7800-7CB3-64551839598E}"/>
              </a:ext>
            </a:extLst>
          </p:cNvPr>
          <p:cNvSpPr>
            <a:spLocks noGrp="1"/>
          </p:cNvSpPr>
          <p:nvPr>
            <p:ph type="sldNum" sz="quarter" idx="10"/>
          </p:nvPr>
        </p:nvSpPr>
        <p:spPr/>
        <p:txBody>
          <a:bodyPr/>
          <a:lstStyle/>
          <a:p>
            <a:fld id="{90428E0A-68A3-4969-8E44-8603FB83DD5F}" type="slidenum">
              <a:rPr lang="it-IT" smtClean="0"/>
              <a:t>51</a:t>
            </a:fld>
            <a:endParaRPr lang="it-IT"/>
          </a:p>
        </p:txBody>
      </p:sp>
    </p:spTree>
    <p:extLst>
      <p:ext uri="{BB962C8B-B14F-4D97-AF65-F5344CB8AC3E}">
        <p14:creationId xmlns:p14="http://schemas.microsoft.com/office/powerpoint/2010/main" val="37460977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8A00-FE42-6F1F-0C7F-36C912802B4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74C9462-17B1-7F2A-F410-62BE4F3AF2C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E8A3C8F-1C58-94C2-C6C9-9CCE43B51FD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5AC1F7F-2BFD-0521-B4FA-18924E6792D5}"/>
              </a:ext>
            </a:extLst>
          </p:cNvPr>
          <p:cNvSpPr>
            <a:spLocks noGrp="1"/>
          </p:cNvSpPr>
          <p:nvPr>
            <p:ph type="sldNum" sz="quarter" idx="10"/>
          </p:nvPr>
        </p:nvSpPr>
        <p:spPr/>
        <p:txBody>
          <a:bodyPr/>
          <a:lstStyle/>
          <a:p>
            <a:fld id="{90428E0A-68A3-4969-8E44-8603FB83DD5F}" type="slidenum">
              <a:rPr lang="it-IT" smtClean="0"/>
              <a:t>52</a:t>
            </a:fld>
            <a:endParaRPr lang="it-IT"/>
          </a:p>
        </p:txBody>
      </p:sp>
    </p:spTree>
    <p:extLst>
      <p:ext uri="{BB962C8B-B14F-4D97-AF65-F5344CB8AC3E}">
        <p14:creationId xmlns:p14="http://schemas.microsoft.com/office/powerpoint/2010/main" val="12900145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713DB-B743-3B12-BB83-01081A36317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8E39998-5137-13F7-4D1E-74E71F11C0F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5F8ED91-EC5A-E52C-52C3-762CD121594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FE37070-781B-887F-E690-E84AF8D78A50}"/>
              </a:ext>
            </a:extLst>
          </p:cNvPr>
          <p:cNvSpPr>
            <a:spLocks noGrp="1"/>
          </p:cNvSpPr>
          <p:nvPr>
            <p:ph type="sldNum" sz="quarter" idx="10"/>
          </p:nvPr>
        </p:nvSpPr>
        <p:spPr/>
        <p:txBody>
          <a:bodyPr/>
          <a:lstStyle/>
          <a:p>
            <a:fld id="{90428E0A-68A3-4969-8E44-8603FB83DD5F}" type="slidenum">
              <a:rPr lang="it-IT" smtClean="0"/>
              <a:t>53</a:t>
            </a:fld>
            <a:endParaRPr lang="it-IT"/>
          </a:p>
        </p:txBody>
      </p:sp>
    </p:spTree>
    <p:extLst>
      <p:ext uri="{BB962C8B-B14F-4D97-AF65-F5344CB8AC3E}">
        <p14:creationId xmlns:p14="http://schemas.microsoft.com/office/powerpoint/2010/main" val="41778170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C4963-9D06-67C1-A17F-1ED40AD6768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8531D08-D3B9-B84B-E2E3-60892F974A1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A798B4C-A3B7-2ACE-217D-9F2635B9AD65}"/>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EAB4869-3125-849A-8E47-B377BE4AB0EA}"/>
              </a:ext>
            </a:extLst>
          </p:cNvPr>
          <p:cNvSpPr>
            <a:spLocks noGrp="1"/>
          </p:cNvSpPr>
          <p:nvPr>
            <p:ph type="sldNum" sz="quarter" idx="10"/>
          </p:nvPr>
        </p:nvSpPr>
        <p:spPr/>
        <p:txBody>
          <a:bodyPr/>
          <a:lstStyle/>
          <a:p>
            <a:fld id="{90428E0A-68A3-4969-8E44-8603FB83DD5F}" type="slidenum">
              <a:rPr lang="it-IT" smtClean="0"/>
              <a:t>54</a:t>
            </a:fld>
            <a:endParaRPr lang="it-IT"/>
          </a:p>
        </p:txBody>
      </p:sp>
    </p:spTree>
    <p:extLst>
      <p:ext uri="{BB962C8B-B14F-4D97-AF65-F5344CB8AC3E}">
        <p14:creationId xmlns:p14="http://schemas.microsoft.com/office/powerpoint/2010/main" val="368005826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D4EDF-FE0E-1790-DD70-E00E37F65EE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CC1CE0E-4C5C-1030-C256-B87D53C8675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54C67F1-AC12-5FB0-3986-B3C2B848B38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3D68989-AA3B-3071-4FD6-E08334AB1EB2}"/>
              </a:ext>
            </a:extLst>
          </p:cNvPr>
          <p:cNvSpPr>
            <a:spLocks noGrp="1"/>
          </p:cNvSpPr>
          <p:nvPr>
            <p:ph type="sldNum" sz="quarter" idx="10"/>
          </p:nvPr>
        </p:nvSpPr>
        <p:spPr/>
        <p:txBody>
          <a:bodyPr/>
          <a:lstStyle/>
          <a:p>
            <a:fld id="{90428E0A-68A3-4969-8E44-8603FB83DD5F}" type="slidenum">
              <a:rPr lang="it-IT" smtClean="0"/>
              <a:t>55</a:t>
            </a:fld>
            <a:endParaRPr lang="it-IT"/>
          </a:p>
        </p:txBody>
      </p:sp>
    </p:spTree>
    <p:extLst>
      <p:ext uri="{BB962C8B-B14F-4D97-AF65-F5344CB8AC3E}">
        <p14:creationId xmlns:p14="http://schemas.microsoft.com/office/powerpoint/2010/main" val="14790602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CEAA0-E959-68ED-E28E-3B689745647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DC8C6DF-736A-01B7-0BF3-0B02B9614B6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13E5B8A-74C4-C019-BAE7-C21170F8FA5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75A5E02-0F24-04AD-0174-9689E52E387F}"/>
              </a:ext>
            </a:extLst>
          </p:cNvPr>
          <p:cNvSpPr>
            <a:spLocks noGrp="1"/>
          </p:cNvSpPr>
          <p:nvPr>
            <p:ph type="sldNum" sz="quarter" idx="10"/>
          </p:nvPr>
        </p:nvSpPr>
        <p:spPr/>
        <p:txBody>
          <a:bodyPr/>
          <a:lstStyle/>
          <a:p>
            <a:fld id="{90428E0A-68A3-4969-8E44-8603FB83DD5F}" type="slidenum">
              <a:rPr lang="it-IT" smtClean="0"/>
              <a:t>56</a:t>
            </a:fld>
            <a:endParaRPr lang="it-IT"/>
          </a:p>
        </p:txBody>
      </p:sp>
    </p:spTree>
    <p:extLst>
      <p:ext uri="{BB962C8B-B14F-4D97-AF65-F5344CB8AC3E}">
        <p14:creationId xmlns:p14="http://schemas.microsoft.com/office/powerpoint/2010/main" val="790380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79742992-3CBD-44C0-8330-393EB61B5379}" type="datetime1">
              <a:rPr lang="it-IT" smtClean="0"/>
              <a:t>02/09/25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421106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794772E1-AB19-4438-A9E4-CC335275A8E4}" type="datetime1">
              <a:rPr lang="it-IT" smtClean="0"/>
              <a:t>02/09/25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1311712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2B306E74-961E-445D-A2BF-CEC7831DF110}" type="datetime1">
              <a:rPr lang="it-IT" smtClean="0"/>
              <a:t>02/09/25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51226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9C0373E9-1357-4F40-B3B8-B37DAECF2896}" type="datetime1">
              <a:rPr lang="it-IT" smtClean="0"/>
              <a:t>02/09/25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2722192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2586F168-6BD4-486C-8F19-A639E75B434D}" type="datetime1">
              <a:rPr lang="it-IT" smtClean="0"/>
              <a:t>02/09/25</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1761809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81426D53-1533-4BD6-A7EB-41B41E7EFB69}" type="datetime1">
              <a:rPr lang="it-IT" smtClean="0"/>
              <a:t>02/09/25</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3920972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1C7A84C9-6246-4470-B18E-3C12CE210891}" type="datetime1">
              <a:rPr lang="it-IT" smtClean="0"/>
              <a:t>02/09/25</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956930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0D0E8641-A484-45F8-8975-025F391C7A70}" type="datetime1">
              <a:rPr lang="it-IT" smtClean="0"/>
              <a:t>02/09/25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3288358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3BFFBAF6-ADCF-47AC-A93D-9FE5AB6A7360}" type="datetime1">
              <a:rPr lang="it-IT" smtClean="0"/>
              <a:t>02/09/25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360912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E61FE502-F109-4FF9-AA0B-1B539F62B299}" type="datetime1">
              <a:rPr lang="it-IT" smtClean="0"/>
              <a:t>02/09/25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178107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1A4623C8-3A6D-4A65-9FCE-C0153D1CF7F8}" type="datetime1">
              <a:rPr lang="it-IT" smtClean="0"/>
              <a:t>02/09/25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78B901A8-01F5-4916-BDC8-222E34B957F1}" type="slidenum">
              <a:rPr lang="it-IT" smtClean="0"/>
              <a:t>‹#›</a:t>
            </a:fld>
            <a:endParaRPr lang="it-IT"/>
          </a:p>
        </p:txBody>
      </p:sp>
    </p:spTree>
    <p:extLst>
      <p:ext uri="{BB962C8B-B14F-4D97-AF65-F5344CB8AC3E}">
        <p14:creationId xmlns:p14="http://schemas.microsoft.com/office/powerpoint/2010/main" val="3951879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CBF50A-24DC-473A-ADA5-CBB4D27EAE85}" type="datetime1">
              <a:rPr lang="it-IT" smtClean="0"/>
              <a:t>02/09/25</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B901A8-01F5-4916-BDC8-222E34B957F1}" type="slidenum">
              <a:rPr lang="it-IT" smtClean="0"/>
              <a:t>‹#›</a:t>
            </a:fld>
            <a:endParaRPr lang="it-IT"/>
          </a:p>
        </p:txBody>
      </p:sp>
    </p:spTree>
    <p:extLst>
      <p:ext uri="{BB962C8B-B14F-4D97-AF65-F5344CB8AC3E}">
        <p14:creationId xmlns:p14="http://schemas.microsoft.com/office/powerpoint/2010/main" val="1808451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924214"/>
            <a:ext cx="9144000" cy="2387600"/>
          </a:xfrm>
        </p:spPr>
        <p:txBody>
          <a:bodyPr>
            <a:normAutofit fontScale="90000"/>
          </a:bodyPr>
          <a:lstStyle/>
          <a:p>
            <a:r>
              <a:rPr lang="it-IT" dirty="0">
                <a:solidFill>
                  <a:srgbClr val="002060"/>
                </a:solidFill>
                <a:latin typeface="Garamond" panose="02020404030301010803" pitchFamily="18" charset="0"/>
              </a:rPr>
              <a:t>30692</a:t>
            </a:r>
            <a:br>
              <a:rPr lang="it-IT" dirty="0">
                <a:solidFill>
                  <a:srgbClr val="002060"/>
                </a:solidFill>
                <a:latin typeface="Garamond" panose="02020404030301010803" pitchFamily="18" charset="0"/>
              </a:rPr>
            </a:br>
            <a:r>
              <a:rPr lang="it-IT" b="1" dirty="0">
                <a:solidFill>
                  <a:srgbClr val="002060"/>
                </a:solidFill>
                <a:latin typeface="Garamond" panose="02020404030301010803" pitchFamily="18" charset="0"/>
              </a:rPr>
              <a:t>Financial Accounting</a:t>
            </a:r>
            <a:br>
              <a:rPr lang="it-IT" dirty="0">
                <a:solidFill>
                  <a:srgbClr val="002060"/>
                </a:solidFill>
                <a:latin typeface="Garamond" panose="02020404030301010803" pitchFamily="18" charset="0"/>
              </a:rPr>
            </a:br>
            <a:r>
              <a:rPr lang="it-IT" dirty="0">
                <a:solidFill>
                  <a:srgbClr val="002060"/>
                </a:solidFill>
                <a:latin typeface="Garamond" panose="02020404030301010803" pitchFamily="18" charset="0"/>
              </a:rPr>
              <a:t>(Module 1)</a:t>
            </a:r>
          </a:p>
        </p:txBody>
      </p:sp>
      <p:sp>
        <p:nvSpPr>
          <p:cNvPr id="3" name="Sottotitolo 2"/>
          <p:cNvSpPr>
            <a:spLocks noGrp="1"/>
          </p:cNvSpPr>
          <p:nvPr>
            <p:ph type="subTitle" idx="1"/>
          </p:nvPr>
        </p:nvSpPr>
        <p:spPr>
          <a:xfrm>
            <a:off x="1524000" y="4403889"/>
            <a:ext cx="9144000" cy="1655762"/>
          </a:xfrm>
        </p:spPr>
        <p:txBody>
          <a:bodyPr>
            <a:normAutofit/>
          </a:bodyPr>
          <a:lstStyle/>
          <a:p>
            <a:endParaRPr lang="it-IT" sz="3200" dirty="0">
              <a:solidFill>
                <a:srgbClr val="002060"/>
              </a:solidFill>
              <a:latin typeface="Garamond" panose="02020404030301010803" pitchFamily="18" charset="0"/>
            </a:endParaRPr>
          </a:p>
          <a:p>
            <a:r>
              <a:rPr lang="it-IT" sz="3200" dirty="0">
                <a:solidFill>
                  <a:srgbClr val="002060"/>
                </a:solidFill>
                <a:latin typeface="Garamond" panose="02020404030301010803" pitchFamily="18" charset="0"/>
              </a:rPr>
              <a:t>Academic </a:t>
            </a:r>
            <a:r>
              <a:rPr lang="it-IT" sz="3200" dirty="0" err="1">
                <a:solidFill>
                  <a:srgbClr val="002060"/>
                </a:solidFill>
                <a:latin typeface="Garamond" panose="02020404030301010803" pitchFamily="18" charset="0"/>
              </a:rPr>
              <a:t>year</a:t>
            </a:r>
            <a:r>
              <a:rPr lang="it-IT" sz="3200" dirty="0">
                <a:solidFill>
                  <a:srgbClr val="002060"/>
                </a:solidFill>
                <a:latin typeface="Garamond" panose="02020404030301010803" pitchFamily="18" charset="0"/>
              </a:rPr>
              <a:t> 2025-2026</a:t>
            </a:r>
          </a:p>
        </p:txBody>
      </p:sp>
      <p:pic>
        <p:nvPicPr>
          <p:cNvPr id="4" name="Immagine 3"/>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
        <p:nvSpPr>
          <p:cNvPr id="5" name="TextBox 4">
            <a:extLst>
              <a:ext uri="{FF2B5EF4-FFF2-40B4-BE49-F238E27FC236}">
                <a16:creationId xmlns:a16="http://schemas.microsoft.com/office/drawing/2014/main" id="{95E9C03A-61BB-6DD4-CEE3-1C54D8F63DD7}"/>
              </a:ext>
            </a:extLst>
          </p:cNvPr>
          <p:cNvSpPr txBox="1"/>
          <p:nvPr/>
        </p:nvSpPr>
        <p:spPr>
          <a:xfrm>
            <a:off x="4281832" y="5828560"/>
            <a:ext cx="3628335" cy="646331"/>
          </a:xfrm>
          <a:prstGeom prst="rect">
            <a:avLst/>
          </a:prstGeom>
          <a:noFill/>
        </p:spPr>
        <p:txBody>
          <a:bodyPr wrap="square" rtlCol="0">
            <a:spAutoFit/>
          </a:bodyPr>
          <a:lstStyle/>
          <a:p>
            <a:pPr algn="ctr"/>
            <a:r>
              <a:rPr lang="en-US" dirty="0"/>
              <a:t>Kasper Regenburg</a:t>
            </a:r>
          </a:p>
          <a:p>
            <a:pPr algn="ctr"/>
            <a:r>
              <a:rPr lang="en-US" dirty="0"/>
              <a:t>Assistant Professor of Accounting</a:t>
            </a:r>
          </a:p>
        </p:txBody>
      </p:sp>
    </p:spTree>
    <p:extLst>
      <p:ext uri="{BB962C8B-B14F-4D97-AF65-F5344CB8AC3E}">
        <p14:creationId xmlns:p14="http://schemas.microsoft.com/office/powerpoint/2010/main" val="388751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Overview</a:t>
            </a:r>
          </a:p>
        </p:txBody>
      </p:sp>
      <p:sp>
        <p:nvSpPr>
          <p:cNvPr id="3" name="Segnaposto contenuto 2"/>
          <p:cNvSpPr>
            <a:spLocks noGrp="1"/>
          </p:cNvSpPr>
          <p:nvPr>
            <p:ph idx="1"/>
          </p:nvPr>
        </p:nvSpPr>
        <p:spPr>
          <a:xfrm>
            <a:off x="1378634" y="1825625"/>
            <a:ext cx="9434732" cy="4530725"/>
          </a:xfrm>
        </p:spPr>
        <p:txBody>
          <a:bodyPr>
            <a:normAutofit/>
          </a:bodyPr>
          <a:lstStyle/>
          <a:p>
            <a:pPr marL="514350" indent="-514350" algn="just">
              <a:buAutoNum type="arabicPeriod"/>
            </a:pPr>
            <a:r>
              <a:rPr lang="en-GB" dirty="0">
                <a:solidFill>
                  <a:srgbClr val="002060"/>
                </a:solidFill>
                <a:latin typeface="Garamond" panose="02020404030301010803" pitchFamily="18" charset="0"/>
              </a:rPr>
              <a:t>About me </a:t>
            </a:r>
            <a:r>
              <a:rPr lang="en-GB" dirty="0">
                <a:solidFill>
                  <a:srgbClr val="002060"/>
                </a:solidFill>
                <a:latin typeface="Garamond" panose="02020404030301010803" pitchFamily="18" charset="0"/>
                <a:sym typeface="Wingdings" pitchFamily="2" charset="2"/>
              </a:rPr>
              <a:t> </a:t>
            </a:r>
            <a:endParaRPr lang="en-GB" dirty="0">
              <a:solidFill>
                <a:srgbClr val="002060"/>
              </a:solidFill>
              <a:latin typeface="Garamond" panose="02020404030301010803" pitchFamily="18" charset="0"/>
            </a:endParaRPr>
          </a:p>
          <a:p>
            <a:pPr marL="514350" indent="-514350" algn="just">
              <a:buAutoNum type="arabicPeriod"/>
            </a:pPr>
            <a:r>
              <a:rPr lang="en-GB" dirty="0">
                <a:solidFill>
                  <a:srgbClr val="002060"/>
                </a:solidFill>
                <a:latin typeface="Garamond" panose="02020404030301010803" pitchFamily="18" charset="0"/>
              </a:rPr>
              <a:t>Accounting in a nutshell</a:t>
            </a:r>
          </a:p>
          <a:p>
            <a:pPr marL="514350" indent="-514350" algn="just">
              <a:buAutoNum type="arabicPeriod"/>
            </a:pPr>
            <a:r>
              <a:rPr lang="en-GB" dirty="0">
                <a:solidFill>
                  <a:srgbClr val="002060"/>
                </a:solidFill>
                <a:latin typeface="Garamond" panose="02020404030301010803" pitchFamily="18" charset="0"/>
              </a:rPr>
              <a:t>Financial statements</a:t>
            </a:r>
          </a:p>
          <a:p>
            <a:pPr marL="514350" indent="-514350" algn="just">
              <a:buAutoNum type="arabicPeriod"/>
            </a:pPr>
            <a:r>
              <a:rPr lang="en-US" dirty="0">
                <a:solidFill>
                  <a:srgbClr val="002060"/>
                </a:solidFill>
                <a:latin typeface="Garamond" panose="02020404030301010803" pitchFamily="18" charset="0"/>
              </a:rPr>
              <a:t>The conceptual foundations of financial accounting</a:t>
            </a:r>
            <a:endParaRPr lang="en-GB" dirty="0">
              <a:solidFill>
                <a:srgbClr val="002060"/>
              </a:solidFill>
              <a:latin typeface="Garamond" panose="02020404030301010803" pitchFamily="18" charset="0"/>
            </a:endParaRPr>
          </a:p>
        </p:txBody>
      </p:sp>
      <p:sp>
        <p:nvSpPr>
          <p:cNvPr id="4" name="Segnaposto numero diapositiva 3"/>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796A3324-021B-4964-62F0-4C6E355557E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765096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F37A-2C62-ACBF-13E6-41BEF4298CD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6BBDA7B-2326-E200-9C61-255097EEDB26}"/>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About me</a:t>
            </a:r>
          </a:p>
        </p:txBody>
      </p:sp>
      <p:sp>
        <p:nvSpPr>
          <p:cNvPr id="4" name="Segnaposto numero diapositiva 3">
            <a:extLst>
              <a:ext uri="{FF2B5EF4-FFF2-40B4-BE49-F238E27FC236}">
                <a16:creationId xmlns:a16="http://schemas.microsoft.com/office/drawing/2014/main" id="{BB846F0A-1A05-0D6C-81B0-1BA38C3CAE4B}"/>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97ADC8D3-A4CC-F8E2-18FC-5C1A214A01C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
        <p:nvSpPr>
          <p:cNvPr id="5" name="AutoShape 2">
            <a:extLst>
              <a:ext uri="{FF2B5EF4-FFF2-40B4-BE49-F238E27FC236}">
                <a16:creationId xmlns:a16="http://schemas.microsoft.com/office/drawing/2014/main" id="{FA041760-DC14-8E09-17A9-869687C6065A}"/>
              </a:ext>
            </a:extLst>
          </p:cNvPr>
          <p:cNvSpPr>
            <a:spLocks noGrp="1" noChangeAspect="1" noChangeArrowheads="1"/>
          </p:cNvSpPr>
          <p:nvPr>
            <p:ph idx="1"/>
          </p:nvPr>
        </p:nvSpPr>
        <p:spPr bwMode="auto">
          <a:xfrm>
            <a:off x="1377950" y="1825625"/>
            <a:ext cx="5022850" cy="45307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latin typeface="Garamond" panose="02020404030301010803" pitchFamily="18" charset="0"/>
              </a:rPr>
              <a:t>I moved here this Sunday from Copenhagen, Denmark</a:t>
            </a:r>
          </a:p>
          <a:p>
            <a:pPr marL="0" indent="0">
              <a:buNone/>
            </a:pPr>
            <a:endParaRPr lang="en-US" dirty="0">
              <a:latin typeface="Garamond" panose="02020404030301010803" pitchFamily="18" charset="0"/>
            </a:endParaRPr>
          </a:p>
          <a:p>
            <a:r>
              <a:rPr lang="en-US" dirty="0">
                <a:latin typeface="Garamond" panose="02020404030301010803" pitchFamily="18" charset="0"/>
              </a:rPr>
              <a:t>I used to think accounting was boring (but not anymore!)</a:t>
            </a:r>
          </a:p>
          <a:p>
            <a:pPr marL="457200" lvl="1" indent="0">
              <a:buNone/>
            </a:pPr>
            <a:endParaRPr lang="en-US" dirty="0">
              <a:latin typeface="Garamond" panose="02020404030301010803" pitchFamily="18" charset="0"/>
            </a:endParaRPr>
          </a:p>
          <a:p>
            <a:r>
              <a:rPr lang="en-US" dirty="0">
                <a:latin typeface="Garamond" panose="02020404030301010803" pitchFamily="18" charset="0"/>
              </a:rPr>
              <a:t>I recently had a knee surgery</a:t>
            </a:r>
          </a:p>
          <a:p>
            <a:pPr lvl="1"/>
            <a:r>
              <a:rPr lang="en-US" dirty="0">
                <a:latin typeface="Garamond" panose="02020404030301010803" pitchFamily="18" charset="0"/>
              </a:rPr>
              <a:t>So, I might walk or stand in an odd way the next couple of weeks </a:t>
            </a:r>
          </a:p>
          <a:p>
            <a:endParaRPr lang="en-US" dirty="0">
              <a:latin typeface="Garamond" panose="02020404030301010803" pitchFamily="18" charset="0"/>
            </a:endParaRPr>
          </a:p>
          <a:p>
            <a:endParaRPr lang="en-US" dirty="0">
              <a:latin typeface="Garamond" panose="02020404030301010803" pitchFamily="18" charset="0"/>
            </a:endParaRPr>
          </a:p>
        </p:txBody>
      </p:sp>
      <p:sp>
        <p:nvSpPr>
          <p:cNvPr id="7" name="AutoShape 4">
            <a:extLst>
              <a:ext uri="{FF2B5EF4-FFF2-40B4-BE49-F238E27FC236}">
                <a16:creationId xmlns:a16="http://schemas.microsoft.com/office/drawing/2014/main" id="{AD7DFAC8-732C-7146-01DD-DDE65172487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8">
            <a:extLst>
              <a:ext uri="{FF2B5EF4-FFF2-40B4-BE49-F238E27FC236}">
                <a16:creationId xmlns:a16="http://schemas.microsoft.com/office/drawing/2014/main" id="{4C50AF2C-6356-CAF7-B670-8ABE7550EA7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0">
            <a:extLst>
              <a:ext uri="{FF2B5EF4-FFF2-40B4-BE49-F238E27FC236}">
                <a16:creationId xmlns:a16="http://schemas.microsoft.com/office/drawing/2014/main" id="{8AF7CFDF-50AE-5A47-9D58-8799B9323FA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DD158E8A-FCA6-CEAE-9AF7-4D79751D9AA3}"/>
              </a:ext>
            </a:extLst>
          </p:cNvPr>
          <p:cNvPicPr>
            <a:picLocks noChangeAspect="1"/>
          </p:cNvPicPr>
          <p:nvPr/>
        </p:nvPicPr>
        <p:blipFill>
          <a:blip r:embed="rId4"/>
          <a:srcRect t="29710"/>
          <a:stretch>
            <a:fillRect/>
          </a:stretch>
        </p:blipFill>
        <p:spPr>
          <a:xfrm>
            <a:off x="6534877" y="1825625"/>
            <a:ext cx="4832175" cy="4530726"/>
          </a:xfrm>
          <a:prstGeom prst="rect">
            <a:avLst/>
          </a:prstGeom>
        </p:spPr>
      </p:pic>
    </p:spTree>
    <p:extLst>
      <p:ext uri="{BB962C8B-B14F-4D97-AF65-F5344CB8AC3E}">
        <p14:creationId xmlns:p14="http://schemas.microsoft.com/office/powerpoint/2010/main" val="166081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A9383-D6CB-608B-CD8F-5D3ECBD34F2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ECCEF4A-07CB-53D3-A9B7-E750BCD06F99}"/>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Overview</a:t>
            </a:r>
          </a:p>
        </p:txBody>
      </p:sp>
      <p:sp>
        <p:nvSpPr>
          <p:cNvPr id="3" name="Segnaposto contenuto 2">
            <a:extLst>
              <a:ext uri="{FF2B5EF4-FFF2-40B4-BE49-F238E27FC236}">
                <a16:creationId xmlns:a16="http://schemas.microsoft.com/office/drawing/2014/main" id="{B27341CF-AB47-0A8E-2D8C-9AAE49BCE7A6}"/>
              </a:ext>
            </a:extLst>
          </p:cNvPr>
          <p:cNvSpPr>
            <a:spLocks noGrp="1"/>
          </p:cNvSpPr>
          <p:nvPr>
            <p:ph idx="1"/>
          </p:nvPr>
        </p:nvSpPr>
        <p:spPr>
          <a:xfrm>
            <a:off x="1378634" y="1825625"/>
            <a:ext cx="9434732" cy="4530725"/>
          </a:xfrm>
        </p:spPr>
        <p:txBody>
          <a:bodyPr>
            <a:normAutofit/>
          </a:bodyPr>
          <a:lstStyle/>
          <a:p>
            <a:pPr marL="514350" indent="-514350" algn="just">
              <a:buAutoNum type="arabicPeriod"/>
            </a:pPr>
            <a:r>
              <a:rPr lang="en-GB" dirty="0">
                <a:solidFill>
                  <a:schemeClr val="bg1">
                    <a:lumMod val="75000"/>
                  </a:schemeClr>
                </a:solidFill>
                <a:latin typeface="Garamond" panose="02020404030301010803" pitchFamily="18" charset="0"/>
              </a:rPr>
              <a:t>About me </a:t>
            </a:r>
            <a:r>
              <a:rPr lang="en-GB" dirty="0">
                <a:solidFill>
                  <a:schemeClr val="bg1">
                    <a:lumMod val="75000"/>
                  </a:schemeClr>
                </a:solidFill>
                <a:latin typeface="Garamond" panose="02020404030301010803" pitchFamily="18" charset="0"/>
                <a:sym typeface="Wingdings" pitchFamily="2" charset="2"/>
              </a:rPr>
              <a:t> </a:t>
            </a:r>
            <a:endParaRPr lang="en-GB" dirty="0">
              <a:solidFill>
                <a:schemeClr val="bg1">
                  <a:lumMod val="75000"/>
                </a:schemeClr>
              </a:solidFill>
              <a:latin typeface="Garamond" panose="02020404030301010803" pitchFamily="18" charset="0"/>
            </a:endParaRPr>
          </a:p>
          <a:p>
            <a:pPr marL="514350" indent="-514350" algn="just">
              <a:buAutoNum type="arabicPeriod"/>
            </a:pPr>
            <a:r>
              <a:rPr lang="en-GB" u="sng" dirty="0">
                <a:solidFill>
                  <a:srgbClr val="002060"/>
                </a:solidFill>
                <a:latin typeface="Garamond" panose="02020404030301010803" pitchFamily="18" charset="0"/>
              </a:rPr>
              <a:t>Accounting in a nutshell</a:t>
            </a:r>
          </a:p>
          <a:p>
            <a:pPr marL="514350" indent="-514350" algn="just">
              <a:buAutoNum type="arabicPeriod"/>
            </a:pPr>
            <a:r>
              <a:rPr lang="en-GB" dirty="0">
                <a:solidFill>
                  <a:srgbClr val="002060"/>
                </a:solidFill>
                <a:latin typeface="Garamond" panose="02020404030301010803" pitchFamily="18" charset="0"/>
              </a:rPr>
              <a:t>Financial statements</a:t>
            </a:r>
          </a:p>
          <a:p>
            <a:pPr marL="514350" indent="-514350" algn="just">
              <a:buAutoNum type="arabicPeriod"/>
            </a:pPr>
            <a:r>
              <a:rPr lang="en-US" dirty="0">
                <a:solidFill>
                  <a:srgbClr val="002060"/>
                </a:solidFill>
                <a:latin typeface="Garamond" panose="02020404030301010803" pitchFamily="18" charset="0"/>
              </a:rPr>
              <a:t>The conceptual foundations of financial accounting</a:t>
            </a:r>
            <a:endParaRPr lang="en-GB" dirty="0">
              <a:solidFill>
                <a:srgbClr val="002060"/>
              </a:solidFill>
              <a:latin typeface="Garamond" panose="02020404030301010803" pitchFamily="18" charset="0"/>
            </a:endParaRPr>
          </a:p>
        </p:txBody>
      </p:sp>
      <p:sp>
        <p:nvSpPr>
          <p:cNvPr id="4" name="Segnaposto numero diapositiva 3">
            <a:extLst>
              <a:ext uri="{FF2B5EF4-FFF2-40B4-BE49-F238E27FC236}">
                <a16:creationId xmlns:a16="http://schemas.microsoft.com/office/drawing/2014/main" id="{7C2DA59C-7D3E-FAFD-3316-B45959204249}"/>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E79E4BF3-274D-0656-5A99-2B86B8D4B96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1667177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AFFD-F865-06DF-2778-49D532D0C8D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17F672D-F599-FAA5-326D-470DDE11E39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What is accounting?</a:t>
            </a:r>
          </a:p>
        </p:txBody>
      </p:sp>
      <p:sp>
        <p:nvSpPr>
          <p:cNvPr id="3" name="Segnaposto contenuto 2">
            <a:extLst>
              <a:ext uri="{FF2B5EF4-FFF2-40B4-BE49-F238E27FC236}">
                <a16:creationId xmlns:a16="http://schemas.microsoft.com/office/drawing/2014/main" id="{F43C654D-A055-5967-17A2-B49C82E6984C}"/>
              </a:ext>
            </a:extLst>
          </p:cNvPr>
          <p:cNvSpPr>
            <a:spLocks noGrp="1"/>
          </p:cNvSpPr>
          <p:nvPr>
            <p:ph idx="1"/>
          </p:nvPr>
        </p:nvSpPr>
        <p:spPr>
          <a:xfrm>
            <a:off x="1378634" y="1825625"/>
            <a:ext cx="9434732" cy="4530725"/>
          </a:xfrm>
        </p:spPr>
        <p:txBody>
          <a:bodyPr>
            <a:normAutofit/>
          </a:bodyPr>
          <a:lstStyle/>
          <a:p>
            <a:pPr marL="0" indent="0">
              <a:buNone/>
            </a:pPr>
            <a:r>
              <a:rPr lang="en-US" dirty="0">
                <a:latin typeface="Garamond" panose="02020404030301010803" pitchFamily="18" charset="0"/>
              </a:rPr>
              <a:t>Accounting is the </a:t>
            </a:r>
            <a:r>
              <a:rPr lang="en-US" b="1" dirty="0">
                <a:latin typeface="Garamond" panose="02020404030301010803" pitchFamily="18" charset="0"/>
              </a:rPr>
              <a:t>measurement</a:t>
            </a:r>
            <a:r>
              <a:rPr lang="en-US" dirty="0">
                <a:latin typeface="Garamond" panose="02020404030301010803" pitchFamily="18" charset="0"/>
              </a:rPr>
              <a:t> (or quantification) of the </a:t>
            </a:r>
            <a:r>
              <a:rPr lang="en-US" b="1" dirty="0">
                <a:latin typeface="Garamond" panose="02020404030301010803" pitchFamily="18" charset="0"/>
              </a:rPr>
              <a:t>economic activities</a:t>
            </a:r>
            <a:r>
              <a:rPr lang="en-US" dirty="0">
                <a:latin typeface="Garamond" panose="02020404030301010803" pitchFamily="18" charset="0"/>
              </a:rPr>
              <a:t> of an entity, and the </a:t>
            </a:r>
            <a:r>
              <a:rPr lang="en-US" b="1" dirty="0">
                <a:latin typeface="Garamond" panose="02020404030301010803" pitchFamily="18" charset="0"/>
              </a:rPr>
              <a:t>communication</a:t>
            </a:r>
            <a:r>
              <a:rPr lang="en-US" dirty="0">
                <a:latin typeface="Garamond" panose="02020404030301010803" pitchFamily="18" charset="0"/>
              </a:rPr>
              <a:t> of this information to users.</a:t>
            </a:r>
          </a:p>
          <a:p>
            <a:pPr marL="0" indent="0">
              <a:buNone/>
            </a:pPr>
            <a:endParaRPr lang="en-US" dirty="0">
              <a:latin typeface="Garamond" panose="02020404030301010803" pitchFamily="18" charset="0"/>
            </a:endParaRPr>
          </a:p>
          <a:p>
            <a:pPr marL="0" indent="0">
              <a:buNone/>
            </a:pPr>
            <a:r>
              <a:rPr lang="en-US" dirty="0">
                <a:latin typeface="Garamond" panose="02020404030301010803" pitchFamily="18" charset="0"/>
              </a:rPr>
              <a:t>(This is why accounting is also called the ‘language of business.’)</a:t>
            </a:r>
          </a:p>
          <a:p>
            <a:pPr marL="0" indent="0">
              <a:buNone/>
            </a:pPr>
            <a:endParaRPr lang="en-US" dirty="0">
              <a:latin typeface="Garamond" panose="02020404030301010803" pitchFamily="18" charset="0"/>
            </a:endParaRPr>
          </a:p>
          <a:p>
            <a:pPr marL="0" indent="0">
              <a:buNone/>
            </a:pPr>
            <a:r>
              <a:rPr lang="en-US" dirty="0">
                <a:latin typeface="Garamond" panose="02020404030301010803" pitchFamily="18" charset="0"/>
              </a:rPr>
              <a:t>The objective of all accounting is to provide information that is </a:t>
            </a:r>
            <a:r>
              <a:rPr lang="en-US" b="1" dirty="0">
                <a:latin typeface="Garamond" panose="02020404030301010803" pitchFamily="18" charset="0"/>
              </a:rPr>
              <a:t>useful for decision-making</a:t>
            </a:r>
            <a:r>
              <a:rPr lang="en-US" dirty="0">
                <a:latin typeface="Garamond" panose="02020404030301010803" pitchFamily="18" charset="0"/>
              </a:rPr>
              <a:t>.</a:t>
            </a:r>
          </a:p>
        </p:txBody>
      </p:sp>
      <p:sp>
        <p:nvSpPr>
          <p:cNvPr id="4" name="Segnaposto numero diapositiva 3">
            <a:extLst>
              <a:ext uri="{FF2B5EF4-FFF2-40B4-BE49-F238E27FC236}">
                <a16:creationId xmlns:a16="http://schemas.microsoft.com/office/drawing/2014/main" id="{71389097-F099-A193-1750-FA5ECD59B6A3}"/>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25707F7E-FDB1-6686-04AB-9F9D0D85FC2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39428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F3AD-249C-F33D-1085-EA5E542469C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343796E-3DA3-1664-73F0-C92BF597928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Who needs accounting?</a:t>
            </a:r>
          </a:p>
        </p:txBody>
      </p:sp>
      <p:sp>
        <p:nvSpPr>
          <p:cNvPr id="3" name="Segnaposto contenuto 2">
            <a:extLst>
              <a:ext uri="{FF2B5EF4-FFF2-40B4-BE49-F238E27FC236}">
                <a16:creationId xmlns:a16="http://schemas.microsoft.com/office/drawing/2014/main" id="{1D9D8698-BB2D-B64D-52F7-3B47F37C759C}"/>
              </a:ext>
            </a:extLst>
          </p:cNvPr>
          <p:cNvSpPr>
            <a:spLocks noGrp="1"/>
          </p:cNvSpPr>
          <p:nvPr>
            <p:ph idx="1"/>
          </p:nvPr>
        </p:nvSpPr>
        <p:spPr>
          <a:xfrm>
            <a:off x="1378634" y="1825625"/>
            <a:ext cx="9434732" cy="4530725"/>
          </a:xfrm>
        </p:spPr>
        <p:txBody>
          <a:bodyPr>
            <a:normAutofit/>
          </a:bodyPr>
          <a:lstStyle/>
          <a:p>
            <a:pPr marL="0" indent="0">
              <a:buNone/>
            </a:pPr>
            <a:r>
              <a:rPr lang="en-US" dirty="0">
                <a:latin typeface="Garamond" panose="02020404030301010803" pitchFamily="18" charset="0"/>
              </a:rPr>
              <a:t>The users of accounting information include</a:t>
            </a:r>
          </a:p>
          <a:p>
            <a:r>
              <a:rPr lang="en-US" dirty="0">
                <a:latin typeface="Garamond" panose="02020404030301010803" pitchFamily="18" charset="0"/>
              </a:rPr>
              <a:t>investors;</a:t>
            </a:r>
          </a:p>
          <a:p>
            <a:r>
              <a:rPr lang="en-US" dirty="0">
                <a:latin typeface="Garamond" panose="02020404030301010803" pitchFamily="18" charset="0"/>
              </a:rPr>
              <a:t>lenders;</a:t>
            </a:r>
          </a:p>
          <a:p>
            <a:r>
              <a:rPr lang="en-US" dirty="0">
                <a:latin typeface="Garamond" panose="02020404030301010803" pitchFamily="18" charset="0"/>
              </a:rPr>
              <a:t>managers and employees;</a:t>
            </a:r>
          </a:p>
          <a:p>
            <a:r>
              <a:rPr lang="en-US" dirty="0">
                <a:latin typeface="Garamond" panose="02020404030301010803" pitchFamily="18" charset="0"/>
              </a:rPr>
              <a:t>tax authorities, courts, regulators and other government agencies;</a:t>
            </a:r>
          </a:p>
          <a:p>
            <a:r>
              <a:rPr lang="en-US" dirty="0">
                <a:latin typeface="Garamond" panose="02020404030301010803" pitchFamily="18" charset="0"/>
              </a:rPr>
              <a:t>suppliers, customers, and competitors;</a:t>
            </a:r>
          </a:p>
          <a:p>
            <a:r>
              <a:rPr lang="en-US" dirty="0">
                <a:latin typeface="Garamond" panose="02020404030301010803" pitchFamily="18" charset="0"/>
              </a:rPr>
              <a:t>boards of directors;</a:t>
            </a:r>
          </a:p>
          <a:p>
            <a:r>
              <a:rPr lang="en-US" dirty="0">
                <a:latin typeface="Garamond" panose="02020404030301010803" pitchFamily="18" charset="0"/>
              </a:rPr>
              <a:t>interest groups (labor unions, consumer organizations, environmental groups);</a:t>
            </a:r>
          </a:p>
        </p:txBody>
      </p:sp>
      <p:sp>
        <p:nvSpPr>
          <p:cNvPr id="4" name="Segnaposto numero diapositiva 3">
            <a:extLst>
              <a:ext uri="{FF2B5EF4-FFF2-40B4-BE49-F238E27FC236}">
                <a16:creationId xmlns:a16="http://schemas.microsoft.com/office/drawing/2014/main" id="{E5130EB5-B6D7-9873-B71D-0D5F2B772A9B}"/>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6</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AD11B9A2-AE68-804F-FE2D-195223D329F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205397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7B22-4C40-9546-6499-5EFC49FA9CD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C291A2E-89FC-7BA9-31E2-52A098C3E1F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Why accounting matters</a:t>
            </a:r>
          </a:p>
        </p:txBody>
      </p:sp>
      <p:sp>
        <p:nvSpPr>
          <p:cNvPr id="3" name="Segnaposto contenuto 2">
            <a:extLst>
              <a:ext uri="{FF2B5EF4-FFF2-40B4-BE49-F238E27FC236}">
                <a16:creationId xmlns:a16="http://schemas.microsoft.com/office/drawing/2014/main" id="{4D168879-09C5-8511-94B4-D2C5C5428FFB}"/>
              </a:ext>
            </a:extLst>
          </p:cNvPr>
          <p:cNvSpPr>
            <a:spLocks noGrp="1"/>
          </p:cNvSpPr>
          <p:nvPr>
            <p:ph idx="1"/>
          </p:nvPr>
        </p:nvSpPr>
        <p:spPr>
          <a:xfrm>
            <a:off x="1378634" y="1825625"/>
            <a:ext cx="9434732" cy="4530725"/>
          </a:xfrm>
        </p:spPr>
        <p:txBody>
          <a:bodyPr>
            <a:normAutofit fontScale="85000" lnSpcReduction="10000"/>
          </a:bodyPr>
          <a:lstStyle/>
          <a:p>
            <a:pPr marL="0" indent="0">
              <a:buNone/>
            </a:pPr>
            <a:r>
              <a:rPr lang="en-US" dirty="0">
                <a:latin typeface="Garamond" panose="02020404030301010803" pitchFamily="18" charset="0"/>
              </a:rPr>
              <a:t>Excerpt from G20 London Summit. Official Communique. 04/02/2009</a:t>
            </a:r>
          </a:p>
          <a:p>
            <a:pPr marL="0" indent="0">
              <a:buNone/>
            </a:pPr>
            <a:endParaRPr lang="en-US" dirty="0">
              <a:latin typeface="Garamond" panose="02020404030301010803" pitchFamily="18" charset="0"/>
            </a:endParaRPr>
          </a:p>
          <a:p>
            <a:pPr marL="0" indent="0">
              <a:buNone/>
            </a:pPr>
            <a:r>
              <a:rPr lang="en-US" dirty="0">
                <a:latin typeface="Garamond" panose="02020404030301010803" pitchFamily="18" charset="0"/>
              </a:rPr>
              <a:t>&gt;&gt;We, the Leaders of the Group of Twenty, met in London on 2 April 2009. </a:t>
            </a:r>
          </a:p>
          <a:p>
            <a:pPr marL="0" indent="0">
              <a:buNone/>
            </a:pPr>
            <a:r>
              <a:rPr lang="en-US" dirty="0">
                <a:latin typeface="Garamond" panose="02020404030301010803" pitchFamily="18" charset="0"/>
              </a:rPr>
              <a:t>We face the greatest challenge to the world economy in modern times; a crisis which has deepened since we last met, which affects the lives of women, men, and children in every country, and which all countries must join together to resolve. A global crisis requires a global solution. (…)</a:t>
            </a:r>
          </a:p>
          <a:p>
            <a:pPr marL="0" indent="0">
              <a:buNone/>
            </a:pPr>
            <a:r>
              <a:rPr lang="en-US" dirty="0">
                <a:latin typeface="Garamond" panose="02020404030301010803" pitchFamily="18" charset="0"/>
              </a:rPr>
              <a:t>We have today also issued a Declaration, Strengthening the Financial System. In particular we agree:</a:t>
            </a:r>
          </a:p>
          <a:p>
            <a:pPr marL="0" indent="0">
              <a:buNone/>
            </a:pPr>
            <a:r>
              <a:rPr lang="en-US" dirty="0">
                <a:latin typeface="Garamond" panose="02020404030301010803" pitchFamily="18" charset="0"/>
              </a:rPr>
              <a:t>(…) to </a:t>
            </a:r>
            <a:r>
              <a:rPr lang="en-US" b="1" dirty="0">
                <a:latin typeface="Garamond" panose="02020404030301010803" pitchFamily="18" charset="0"/>
              </a:rPr>
              <a:t>call on the accounting standard setters to</a:t>
            </a:r>
            <a:r>
              <a:rPr lang="en-US" dirty="0">
                <a:latin typeface="Garamond" panose="02020404030301010803" pitchFamily="18" charset="0"/>
              </a:rPr>
              <a:t> work urgently with supervisors and regulators to improve standards on valuation and provisioning and </a:t>
            </a:r>
            <a:r>
              <a:rPr lang="en-US" b="1" dirty="0">
                <a:latin typeface="Garamond" panose="02020404030301010803" pitchFamily="18" charset="0"/>
              </a:rPr>
              <a:t>achieve a single set of high-quality global accounting standards</a:t>
            </a:r>
            <a:r>
              <a:rPr lang="en-US" dirty="0">
                <a:latin typeface="Garamond" panose="02020404030301010803" pitchFamily="18" charset="0"/>
              </a:rPr>
              <a:t> (…)&lt;&lt;</a:t>
            </a: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28A86B2B-8550-ECE5-36E6-1BCDCDD48E57}"/>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7</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49AD046-7CB7-0829-23A2-D02EF1D267B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3542005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32CDE-1E4B-5B35-F18B-2008D481085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001C9BA-C5E8-2345-7075-D67866092A40}"/>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Why accounting matters </a:t>
            </a:r>
          </a:p>
        </p:txBody>
      </p:sp>
      <p:sp>
        <p:nvSpPr>
          <p:cNvPr id="3" name="Segnaposto contenuto 2">
            <a:extLst>
              <a:ext uri="{FF2B5EF4-FFF2-40B4-BE49-F238E27FC236}">
                <a16:creationId xmlns:a16="http://schemas.microsoft.com/office/drawing/2014/main" id="{1FC60E84-F1E5-AF8E-BA49-C45B9261EA0F}"/>
              </a:ext>
            </a:extLst>
          </p:cNvPr>
          <p:cNvSpPr>
            <a:spLocks noGrp="1"/>
          </p:cNvSpPr>
          <p:nvPr>
            <p:ph idx="1"/>
          </p:nvPr>
        </p:nvSpPr>
        <p:spPr>
          <a:xfrm>
            <a:off x="1378634" y="1825625"/>
            <a:ext cx="9434732" cy="4530725"/>
          </a:xfrm>
        </p:spPr>
        <p:txBody>
          <a:bodyPr>
            <a:normAutofit fontScale="70000" lnSpcReduction="20000"/>
          </a:bodyPr>
          <a:lstStyle/>
          <a:p>
            <a:pPr marL="0" indent="0">
              <a:buNone/>
            </a:pPr>
            <a:r>
              <a:rPr lang="en-US" b="1" dirty="0">
                <a:latin typeface="Garamond" panose="02020404030301010803" pitchFamily="18" charset="0"/>
              </a:rPr>
              <a:t>Actual questions from job interviews:</a:t>
            </a:r>
          </a:p>
          <a:p>
            <a:r>
              <a:rPr lang="en-US" dirty="0">
                <a:latin typeface="Garamond" panose="02020404030301010803" pitchFamily="18" charset="0"/>
              </a:rPr>
              <a:t>&gt;&gt;Walk me through the major items in shareholders’ equity.&lt;&lt;</a:t>
            </a:r>
          </a:p>
          <a:p>
            <a:r>
              <a:rPr lang="en-US" dirty="0">
                <a:latin typeface="Garamond" panose="02020404030301010803" pitchFamily="18" charset="0"/>
              </a:rPr>
              <a:t>&gt;&gt;What is the statement of shareholders’ equity and why do we use it?&lt;&lt;</a:t>
            </a:r>
          </a:p>
          <a:p>
            <a:r>
              <a:rPr lang="en-US" dirty="0">
                <a:latin typeface="Garamond" panose="02020404030301010803" pitchFamily="18" charset="0"/>
              </a:rPr>
              <a:t>&gt;&gt;How is GAAP accounting different from tax accounting?&lt;&lt;</a:t>
            </a:r>
          </a:p>
          <a:p>
            <a:r>
              <a:rPr lang="en-US" dirty="0">
                <a:latin typeface="Garamond" panose="02020404030301010803" pitchFamily="18" charset="0"/>
              </a:rPr>
              <a:t>&gt;&gt;What are deferred tax assets and liabilities and how do they arise?&lt;&lt;</a:t>
            </a:r>
          </a:p>
          <a:p>
            <a:r>
              <a:rPr lang="en-US" dirty="0">
                <a:latin typeface="Garamond" panose="02020404030301010803" pitchFamily="18" charset="0"/>
              </a:rPr>
              <a:t>&gt;&gt;How does lease accounting work?&lt;&lt;</a:t>
            </a:r>
          </a:p>
          <a:p>
            <a:pPr marL="0" indent="0">
              <a:buNone/>
            </a:pPr>
            <a:endParaRPr lang="en-US" dirty="0">
              <a:latin typeface="Garamond" panose="02020404030301010803" pitchFamily="18" charset="0"/>
            </a:endParaRPr>
          </a:p>
          <a:p>
            <a:pPr marL="0" indent="0">
              <a:buNone/>
            </a:pPr>
            <a:r>
              <a:rPr lang="en-US" b="1" dirty="0">
                <a:latin typeface="Garamond" panose="02020404030301010803" pitchFamily="18" charset="0"/>
              </a:rPr>
              <a:t>Direct applicable to several types of jobs:</a:t>
            </a:r>
          </a:p>
          <a:p>
            <a:r>
              <a:rPr lang="en-US" dirty="0">
                <a:latin typeface="Garamond" panose="02020404030301010803" pitchFamily="18" charset="0"/>
              </a:rPr>
              <a:t>Investment Banking / Corporate Finance / PE&amp;VC</a:t>
            </a:r>
          </a:p>
          <a:p>
            <a:r>
              <a:rPr lang="en-US" dirty="0">
                <a:latin typeface="Garamond" panose="02020404030301010803" pitchFamily="18" charset="0"/>
              </a:rPr>
              <a:t>Financial Analyst </a:t>
            </a:r>
          </a:p>
          <a:p>
            <a:r>
              <a:rPr lang="en-US" dirty="0">
                <a:latin typeface="Garamond" panose="02020404030301010803" pitchFamily="18" charset="0"/>
              </a:rPr>
              <a:t>CEO / CFO / Board members </a:t>
            </a:r>
          </a:p>
          <a:p>
            <a:r>
              <a:rPr lang="en-US" dirty="0">
                <a:latin typeface="Garamond" panose="02020404030301010803" pitchFamily="18" charset="0"/>
              </a:rPr>
              <a:t>Auditing / Internal Auditor</a:t>
            </a:r>
          </a:p>
          <a:p>
            <a:r>
              <a:rPr lang="en-US" dirty="0">
                <a:latin typeface="Garamond" panose="02020404030301010803" pitchFamily="18" charset="0"/>
              </a:rPr>
              <a:t>And any other job with management responsibility.</a:t>
            </a: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18501274-8956-C4D9-E3BD-00B9BD6A140B}"/>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8</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B1123863-7934-9C99-3943-270DCE62220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278802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B855-7919-D363-CFF9-D82AB3CB0B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D78C424-D028-E0C7-BA6B-15AB3F90D251}"/>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Who makes accounting rules?</a:t>
            </a:r>
          </a:p>
        </p:txBody>
      </p:sp>
      <p:sp>
        <p:nvSpPr>
          <p:cNvPr id="3" name="Segnaposto contenuto 2">
            <a:extLst>
              <a:ext uri="{FF2B5EF4-FFF2-40B4-BE49-F238E27FC236}">
                <a16:creationId xmlns:a16="http://schemas.microsoft.com/office/drawing/2014/main" id="{DC282BC4-F24C-8895-979B-CCDDBF65C8ED}"/>
              </a:ext>
            </a:extLst>
          </p:cNvPr>
          <p:cNvSpPr>
            <a:spLocks noGrp="1"/>
          </p:cNvSpPr>
          <p:nvPr>
            <p:ph idx="1"/>
          </p:nvPr>
        </p:nvSpPr>
        <p:spPr>
          <a:xfrm>
            <a:off x="1378634" y="1825625"/>
            <a:ext cx="9434732" cy="4530725"/>
          </a:xfrm>
        </p:spPr>
        <p:txBody>
          <a:bodyPr>
            <a:normAutofit fontScale="85000" lnSpcReduction="20000"/>
          </a:bodyPr>
          <a:lstStyle/>
          <a:p>
            <a:pPr marL="0" indent="0" defTabSz="1097280">
              <a:buNone/>
            </a:pPr>
            <a:r>
              <a:rPr lang="en-US" dirty="0">
                <a:latin typeface="Garamond" panose="02020404030301010803" pitchFamily="18" charset="0"/>
              </a:rPr>
              <a:t>Many actors are involved, depending on the circumstances.</a:t>
            </a:r>
          </a:p>
          <a:p>
            <a:pPr marL="0" indent="0">
              <a:buNone/>
            </a:pPr>
            <a:r>
              <a:rPr lang="en-US" dirty="0">
                <a:latin typeface="Garamond" panose="02020404030301010803" pitchFamily="18" charset="0"/>
              </a:rPr>
              <a:t>For managerial (i.e., </a:t>
            </a:r>
            <a:r>
              <a:rPr lang="en-US" u="sng" dirty="0">
                <a:latin typeface="Garamond" panose="02020404030301010803" pitchFamily="18" charset="0"/>
              </a:rPr>
              <a:t>internal</a:t>
            </a:r>
            <a:r>
              <a:rPr lang="en-US" dirty="0">
                <a:latin typeface="Garamond" panose="02020404030301010803" pitchFamily="18" charset="0"/>
              </a:rPr>
              <a:t>) use, companies may use whatever accounting rules they find most useful.</a:t>
            </a:r>
          </a:p>
          <a:p>
            <a:pPr marL="0" indent="0">
              <a:buNone/>
            </a:pPr>
            <a:r>
              <a:rPr lang="en-US" dirty="0">
                <a:latin typeface="Garamond" panose="02020404030301010803" pitchFamily="18" charset="0"/>
              </a:rPr>
              <a:t>For reporting to </a:t>
            </a:r>
            <a:r>
              <a:rPr lang="en-US" u="sng" dirty="0">
                <a:latin typeface="Garamond" panose="02020404030301010803" pitchFamily="18" charset="0"/>
              </a:rPr>
              <a:t>external</a:t>
            </a:r>
            <a:r>
              <a:rPr lang="en-US" dirty="0">
                <a:latin typeface="Garamond" panose="02020404030301010803" pitchFamily="18" charset="0"/>
              </a:rPr>
              <a:t> stakeholders, regulatory bodies determine the accounting rules according to which financial reports are prepared, e.g.,</a:t>
            </a:r>
          </a:p>
          <a:p>
            <a:r>
              <a:rPr lang="en-US" dirty="0">
                <a:latin typeface="Garamond" panose="02020404030301010803" pitchFamily="18" charset="0"/>
              </a:rPr>
              <a:t>tax authorities require the filing of annual tax returns prepared in compliance with the tax code;</a:t>
            </a:r>
          </a:p>
          <a:p>
            <a:r>
              <a:rPr lang="en-US" dirty="0">
                <a:latin typeface="Garamond" panose="02020404030301010803" pitchFamily="18" charset="0"/>
              </a:rPr>
              <a:t>regulators in the insurance and banking industries require periodic reporting of various measures of risk, liquidity, credit quality, etc.;</a:t>
            </a:r>
          </a:p>
          <a:p>
            <a:r>
              <a:rPr lang="en-US" dirty="0">
                <a:latin typeface="Garamond" panose="02020404030301010803" pitchFamily="18" charset="0"/>
              </a:rPr>
              <a:t>securities markets regulators, lenders and other users may require the submission of financial statements prepared in accordance with </a:t>
            </a:r>
            <a:r>
              <a:rPr lang="en-US" u="sng" dirty="0">
                <a:latin typeface="Garamond" panose="02020404030301010803" pitchFamily="18" charset="0"/>
              </a:rPr>
              <a:t>generally accepted accounting principles</a:t>
            </a:r>
            <a:r>
              <a:rPr lang="en-US" dirty="0">
                <a:latin typeface="Garamond" panose="02020404030301010803" pitchFamily="18" charset="0"/>
              </a:rPr>
              <a:t> (GAAP).</a:t>
            </a:r>
          </a:p>
          <a:p>
            <a:pPr marL="0" indent="0">
              <a:buNone/>
            </a:pPr>
            <a:r>
              <a:rPr lang="en-US" u="sng" dirty="0">
                <a:latin typeface="Garamond" panose="02020404030301010803" pitchFamily="18" charset="0"/>
              </a:rPr>
              <a:t>Financial accounting according to GAAP is the focus of this course.</a:t>
            </a:r>
          </a:p>
        </p:txBody>
      </p:sp>
      <p:sp>
        <p:nvSpPr>
          <p:cNvPr id="4" name="Segnaposto numero diapositiva 3">
            <a:extLst>
              <a:ext uri="{FF2B5EF4-FFF2-40B4-BE49-F238E27FC236}">
                <a16:creationId xmlns:a16="http://schemas.microsoft.com/office/drawing/2014/main" id="{2340AC6A-B7FD-A167-58AF-73F03B7E07B2}"/>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9</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07865AD0-85BF-E183-A609-84E280FE8D3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67382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1C33-4178-991E-BF9B-86D1DF6E14B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E2CC59-F6A7-6A9D-2D1D-376F05DF5A5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Different GAAP around the world</a:t>
            </a:r>
          </a:p>
        </p:txBody>
      </p:sp>
      <p:sp>
        <p:nvSpPr>
          <p:cNvPr id="3" name="Segnaposto contenuto 2">
            <a:extLst>
              <a:ext uri="{FF2B5EF4-FFF2-40B4-BE49-F238E27FC236}">
                <a16:creationId xmlns:a16="http://schemas.microsoft.com/office/drawing/2014/main" id="{47870B60-BEF3-AC9E-7203-E9D00CCD0648}"/>
              </a:ext>
            </a:extLst>
          </p:cNvPr>
          <p:cNvSpPr>
            <a:spLocks noGrp="1"/>
          </p:cNvSpPr>
          <p:nvPr>
            <p:ph idx="1"/>
          </p:nvPr>
        </p:nvSpPr>
        <p:spPr>
          <a:xfrm>
            <a:off x="1378634" y="1825625"/>
            <a:ext cx="9434732" cy="4530725"/>
          </a:xfrm>
        </p:spPr>
        <p:txBody>
          <a:bodyPr>
            <a:normAutofit fontScale="92500" lnSpcReduction="20000"/>
          </a:bodyPr>
          <a:lstStyle/>
          <a:p>
            <a:pPr marL="0" indent="0" defTabSz="1097280">
              <a:buNone/>
            </a:pPr>
            <a:r>
              <a:rPr lang="en-US" dirty="0">
                <a:latin typeface="Garamond" panose="02020404030301010803" pitchFamily="18" charset="0"/>
              </a:rPr>
              <a:t>Principally, every country has its own version of GAAP, e.g.,</a:t>
            </a:r>
          </a:p>
          <a:p>
            <a:pPr defTabSz="1097280"/>
            <a:r>
              <a:rPr lang="en-US" dirty="0">
                <a:latin typeface="Garamond" panose="02020404030301010803" pitchFamily="18" charset="0"/>
              </a:rPr>
              <a:t>US Generally Accepted Accounting Principles (US GAAP) in the United States, organized in the Accounting Standards Codification (ASC);</a:t>
            </a:r>
          </a:p>
          <a:p>
            <a:pPr defTabSz="1097280"/>
            <a:r>
              <a:rPr lang="en-US" dirty="0">
                <a:latin typeface="Garamond" panose="02020404030301010803" pitchFamily="18" charset="0"/>
              </a:rPr>
              <a:t>the </a:t>
            </a:r>
            <a:r>
              <a:rPr lang="en-US" dirty="0" err="1">
                <a:latin typeface="Garamond" panose="02020404030301010803" pitchFamily="18" charset="0"/>
              </a:rPr>
              <a:t>Handelsgesetzbuch</a:t>
            </a:r>
            <a:r>
              <a:rPr lang="en-US" dirty="0">
                <a:latin typeface="Garamond" panose="02020404030301010803" pitchFamily="18" charset="0"/>
              </a:rPr>
              <a:t> (HGB) in Germany; or</a:t>
            </a:r>
          </a:p>
          <a:p>
            <a:pPr defTabSz="1097280"/>
            <a:r>
              <a:rPr lang="en-US" dirty="0">
                <a:latin typeface="Garamond" panose="02020404030301010803" pitchFamily="18" charset="0"/>
              </a:rPr>
              <a:t>the Plan </a:t>
            </a:r>
            <a:r>
              <a:rPr lang="en-US" dirty="0" err="1">
                <a:latin typeface="Garamond" panose="02020404030301010803" pitchFamily="18" charset="0"/>
              </a:rPr>
              <a:t>Comptable</a:t>
            </a:r>
            <a:r>
              <a:rPr lang="en-US" dirty="0">
                <a:latin typeface="Garamond" panose="02020404030301010803" pitchFamily="18" charset="0"/>
              </a:rPr>
              <a:t> </a:t>
            </a:r>
            <a:r>
              <a:rPr lang="en-US" dirty="0" err="1">
                <a:latin typeface="Garamond" panose="02020404030301010803" pitchFamily="18" charset="0"/>
              </a:rPr>
              <a:t>Général</a:t>
            </a:r>
            <a:r>
              <a:rPr lang="en-US" dirty="0">
                <a:latin typeface="Garamond" panose="02020404030301010803" pitchFamily="18" charset="0"/>
              </a:rPr>
              <a:t> in France.</a:t>
            </a:r>
          </a:p>
          <a:p>
            <a:pPr marL="0" indent="0" defTabSz="1097280">
              <a:buNone/>
            </a:pPr>
            <a:r>
              <a:rPr lang="en-US" dirty="0">
                <a:latin typeface="Garamond" panose="02020404030301010803" pitchFamily="18" charset="0"/>
              </a:rPr>
              <a:t>In addition, there exist the </a:t>
            </a:r>
            <a:r>
              <a:rPr lang="en-US" u="sng" dirty="0">
                <a:latin typeface="Garamond" panose="02020404030301010803" pitchFamily="18" charset="0"/>
              </a:rPr>
              <a:t>International Financial Reporting Standards</a:t>
            </a:r>
            <a:r>
              <a:rPr lang="en-US" dirty="0">
                <a:latin typeface="Garamond" panose="02020404030301010803" pitchFamily="18" charset="0"/>
              </a:rPr>
              <a:t> (IFRS, formerly known as IAS, International Accounting Standards), which are in use in most countries in the world. </a:t>
            </a:r>
          </a:p>
          <a:p>
            <a:pPr marL="0" indent="0" defTabSz="1097280">
              <a:buNone/>
            </a:pPr>
            <a:endParaRPr lang="en-US" dirty="0">
              <a:latin typeface="Garamond" panose="02020404030301010803" pitchFamily="18" charset="0"/>
            </a:endParaRPr>
          </a:p>
          <a:p>
            <a:pPr marL="0" indent="0">
              <a:buNone/>
            </a:pPr>
            <a:r>
              <a:rPr lang="en-US" u="sng" dirty="0">
                <a:latin typeface="Garamond" panose="02020404030301010803" pitchFamily="18" charset="0"/>
              </a:rPr>
              <a:t>We will focus on US GAAP in this course.</a:t>
            </a:r>
            <a:r>
              <a:rPr lang="en-US" dirty="0">
                <a:latin typeface="Garamond" panose="02020404030301010803" pitchFamily="18" charset="0"/>
                <a:sym typeface="Wingdings" pitchFamily="2" charset="2"/>
              </a:rPr>
              <a:t> Conceptually similar to IFRS</a:t>
            </a:r>
            <a:endParaRPr lang="en-US" u="sng"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7B65A773-05A0-0359-350A-BC3A7C542E6A}"/>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10</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BCA49811-CA89-F3AF-C6D1-E20A979B05F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2622302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3BFD9-C6F8-E565-9C3E-6D176116F89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471081-ED45-9900-C204-65AF359A36FA}"/>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Who makes GAAP?</a:t>
            </a:r>
          </a:p>
        </p:txBody>
      </p:sp>
      <p:sp>
        <p:nvSpPr>
          <p:cNvPr id="3" name="Segnaposto contenuto 2">
            <a:extLst>
              <a:ext uri="{FF2B5EF4-FFF2-40B4-BE49-F238E27FC236}">
                <a16:creationId xmlns:a16="http://schemas.microsoft.com/office/drawing/2014/main" id="{E4C7C0E9-AC39-2B09-415C-58B7FBA15412}"/>
              </a:ext>
            </a:extLst>
          </p:cNvPr>
          <p:cNvSpPr>
            <a:spLocks noGrp="1"/>
          </p:cNvSpPr>
          <p:nvPr>
            <p:ph idx="1"/>
          </p:nvPr>
        </p:nvSpPr>
        <p:spPr>
          <a:xfrm>
            <a:off x="1378634" y="1825625"/>
            <a:ext cx="9434732" cy="4530725"/>
          </a:xfrm>
        </p:spPr>
        <p:txBody>
          <a:bodyPr>
            <a:normAutofit/>
          </a:bodyPr>
          <a:lstStyle/>
          <a:p>
            <a:pPr marL="0" indent="0" defTabSz="1097280">
              <a:buNone/>
            </a:pPr>
            <a:r>
              <a:rPr lang="en-US" dirty="0">
                <a:latin typeface="Garamond" panose="02020404030301010803" pitchFamily="18" charset="0"/>
              </a:rPr>
              <a:t>Both IFRS and US GAAP are issued by private standard setting boards, the </a:t>
            </a:r>
            <a:r>
              <a:rPr lang="en-US" u="sng" dirty="0">
                <a:latin typeface="Garamond" panose="02020404030301010803" pitchFamily="18" charset="0"/>
              </a:rPr>
              <a:t>International Accounting Standards Board</a:t>
            </a:r>
            <a:r>
              <a:rPr lang="en-US" dirty="0">
                <a:latin typeface="Garamond" panose="02020404030301010803" pitchFamily="18" charset="0"/>
              </a:rPr>
              <a:t> (IASB) and the </a:t>
            </a:r>
            <a:r>
              <a:rPr lang="en-US" u="sng" dirty="0">
                <a:latin typeface="Garamond" panose="02020404030301010803" pitchFamily="18" charset="0"/>
              </a:rPr>
              <a:t>Financial Accounting Standards Board</a:t>
            </a:r>
            <a:r>
              <a:rPr lang="en-US" dirty="0">
                <a:latin typeface="Garamond" panose="02020404030301010803" pitchFamily="18" charset="0"/>
              </a:rPr>
              <a:t> (FASB), respectively.</a:t>
            </a:r>
          </a:p>
          <a:p>
            <a:pPr marL="0" indent="0" defTabSz="1097280">
              <a:buNone/>
            </a:pPr>
            <a:endParaRPr lang="en-US" dirty="0">
              <a:latin typeface="Garamond" panose="02020404030301010803" pitchFamily="18" charset="0"/>
            </a:endParaRPr>
          </a:p>
          <a:p>
            <a:pPr marL="0" indent="0" defTabSz="1097280">
              <a:buNone/>
            </a:pPr>
            <a:r>
              <a:rPr lang="en-US" dirty="0">
                <a:latin typeface="Garamond" panose="02020404030301010803" pitchFamily="18" charset="0"/>
              </a:rPr>
              <a:t>For over two decades, IASB and FASB have been developing their new standards jointly, increasing harmonization between IFRS and US GAAP.</a:t>
            </a:r>
          </a:p>
        </p:txBody>
      </p:sp>
      <p:sp>
        <p:nvSpPr>
          <p:cNvPr id="4" name="Segnaposto numero diapositiva 3">
            <a:extLst>
              <a:ext uri="{FF2B5EF4-FFF2-40B4-BE49-F238E27FC236}">
                <a16:creationId xmlns:a16="http://schemas.microsoft.com/office/drawing/2014/main" id="{CE089ED8-A914-84C9-8746-FA21BE9471C7}"/>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11</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59412318-77D7-62EB-8059-3E3D44A0363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857996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4FF8-32E0-5BB2-7CF7-5056085B841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683F8B6-4475-18E1-084D-C73654F6DB55}"/>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Why prepare GAAP?</a:t>
            </a:r>
          </a:p>
        </p:txBody>
      </p:sp>
      <p:sp>
        <p:nvSpPr>
          <p:cNvPr id="3" name="Segnaposto contenuto 2">
            <a:extLst>
              <a:ext uri="{FF2B5EF4-FFF2-40B4-BE49-F238E27FC236}">
                <a16:creationId xmlns:a16="http://schemas.microsoft.com/office/drawing/2014/main" id="{1FDBC8E1-E8EB-4719-AA50-CB1F0F09B871}"/>
              </a:ext>
            </a:extLst>
          </p:cNvPr>
          <p:cNvSpPr>
            <a:spLocks noGrp="1"/>
          </p:cNvSpPr>
          <p:nvPr>
            <p:ph idx="1"/>
          </p:nvPr>
        </p:nvSpPr>
        <p:spPr>
          <a:xfrm>
            <a:off x="1378634" y="1825625"/>
            <a:ext cx="9434732" cy="4530725"/>
          </a:xfrm>
        </p:spPr>
        <p:txBody>
          <a:bodyPr>
            <a:normAutofit/>
          </a:bodyPr>
          <a:lstStyle/>
          <a:p>
            <a:pPr marL="0" indent="0" defTabSz="1097280">
              <a:buNone/>
            </a:pPr>
            <a:r>
              <a:rPr lang="en-US" dirty="0">
                <a:latin typeface="Garamond" panose="02020404030301010803" pitchFamily="18" charset="0"/>
              </a:rPr>
              <a:t>The most common reason to prepare GAAP-basis financial statements is being listed on a stock exchange or other public securities market. </a:t>
            </a:r>
          </a:p>
          <a:p>
            <a:pPr marL="0" indent="0" defTabSz="1097280">
              <a:buNone/>
            </a:pPr>
            <a:r>
              <a:rPr lang="it-IT" dirty="0" err="1">
                <a:latin typeface="Garamond" panose="02020404030301010803" pitchFamily="18" charset="0"/>
              </a:rPr>
              <a:t>Other</a:t>
            </a:r>
            <a:r>
              <a:rPr lang="it-IT" dirty="0">
                <a:latin typeface="Garamond" panose="02020404030301010803" pitchFamily="18" charset="0"/>
              </a:rPr>
              <a:t> </a:t>
            </a:r>
            <a:r>
              <a:rPr lang="it-IT" dirty="0" err="1">
                <a:latin typeface="Garamond" panose="02020404030301010803" pitchFamily="18" charset="0"/>
              </a:rPr>
              <a:t>reasons</a:t>
            </a:r>
            <a:r>
              <a:rPr lang="it-IT" dirty="0">
                <a:latin typeface="Garamond" panose="02020404030301010803" pitchFamily="18" charset="0"/>
              </a:rPr>
              <a:t> to </a:t>
            </a:r>
            <a:r>
              <a:rPr lang="it-IT" dirty="0" err="1">
                <a:latin typeface="Garamond" panose="02020404030301010803" pitchFamily="18" charset="0"/>
              </a:rPr>
              <a:t>prepare</a:t>
            </a:r>
            <a:r>
              <a:rPr lang="it-IT" dirty="0">
                <a:latin typeface="Garamond" panose="02020404030301010803" pitchFamily="18" charset="0"/>
              </a:rPr>
              <a:t> GAAP </a:t>
            </a:r>
            <a:r>
              <a:rPr lang="it-IT" dirty="0" err="1">
                <a:latin typeface="Garamond" panose="02020404030301010803" pitchFamily="18" charset="0"/>
              </a:rPr>
              <a:t>financial</a:t>
            </a:r>
            <a:r>
              <a:rPr lang="it-IT" dirty="0">
                <a:latin typeface="Garamond" panose="02020404030301010803" pitchFamily="18" charset="0"/>
              </a:rPr>
              <a:t> </a:t>
            </a:r>
            <a:r>
              <a:rPr lang="it-IT" dirty="0" err="1">
                <a:latin typeface="Garamond" panose="02020404030301010803" pitchFamily="18" charset="0"/>
              </a:rPr>
              <a:t>statements</a:t>
            </a:r>
            <a:r>
              <a:rPr lang="it-IT" dirty="0">
                <a:latin typeface="Garamond" panose="02020404030301010803" pitchFamily="18" charset="0"/>
              </a:rPr>
              <a:t> include private </a:t>
            </a:r>
            <a:r>
              <a:rPr lang="it-IT" dirty="0" err="1">
                <a:latin typeface="Garamond" panose="02020404030301010803" pitchFamily="18" charset="0"/>
              </a:rPr>
              <a:t>contracts</a:t>
            </a:r>
            <a:r>
              <a:rPr lang="it-IT" dirty="0">
                <a:latin typeface="Garamond" panose="02020404030301010803" pitchFamily="18" charset="0"/>
              </a:rPr>
              <a:t>, e.g., banks </a:t>
            </a:r>
            <a:r>
              <a:rPr lang="it-IT" dirty="0" err="1">
                <a:latin typeface="Garamond" panose="02020404030301010803" pitchFamily="18" charset="0"/>
              </a:rPr>
              <a:t>often</a:t>
            </a:r>
            <a:r>
              <a:rPr lang="it-IT" dirty="0">
                <a:latin typeface="Garamond" panose="02020404030301010803" pitchFamily="18" charset="0"/>
              </a:rPr>
              <a:t> demand </a:t>
            </a:r>
            <a:r>
              <a:rPr lang="it-IT" dirty="0" err="1">
                <a:latin typeface="Garamond" panose="02020404030301010803" pitchFamily="18" charset="0"/>
              </a:rPr>
              <a:t>them</a:t>
            </a:r>
            <a:r>
              <a:rPr lang="it-IT" dirty="0">
                <a:latin typeface="Garamond" panose="02020404030301010803" pitchFamily="18" charset="0"/>
              </a:rPr>
              <a:t> </a:t>
            </a:r>
            <a:r>
              <a:rPr lang="it-IT" dirty="0" err="1">
                <a:latin typeface="Garamond" panose="02020404030301010803" pitchFamily="18" charset="0"/>
              </a:rPr>
              <a:t>as</a:t>
            </a:r>
            <a:r>
              <a:rPr lang="it-IT" dirty="0">
                <a:latin typeface="Garamond" panose="02020404030301010803" pitchFamily="18" charset="0"/>
              </a:rPr>
              <a:t> part of </a:t>
            </a:r>
            <a:r>
              <a:rPr lang="it-IT" dirty="0" err="1">
                <a:latin typeface="Garamond" panose="02020404030301010803" pitchFamily="18" charset="0"/>
              </a:rPr>
              <a:t>loan</a:t>
            </a:r>
            <a:r>
              <a:rPr lang="it-IT" dirty="0">
                <a:latin typeface="Garamond" panose="02020404030301010803" pitchFamily="18" charset="0"/>
              </a:rPr>
              <a:t> agreements.</a:t>
            </a:r>
          </a:p>
          <a:p>
            <a:pPr marL="0" indent="0" defTabSz="1097280">
              <a:buNone/>
            </a:pPr>
            <a:r>
              <a:rPr lang="en-US" dirty="0">
                <a:latin typeface="Garamond" panose="02020404030301010803" pitchFamily="18" charset="0"/>
              </a:rPr>
              <a:t>Private firms may choose to prepare financial statements voluntarily following GAAP. </a:t>
            </a:r>
          </a:p>
          <a:p>
            <a:pPr marL="0" indent="0" defTabSz="109728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6658171C-E954-380C-E38B-185B75220BEB}"/>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12</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38C7E7C5-26FE-DF2B-82B2-B3A0368EB8A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405461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11ED-2E36-0381-06E4-CC8ABDCFF7D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D68F988-60DE-5DA9-163A-C92A9FB7334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Overview</a:t>
            </a:r>
          </a:p>
        </p:txBody>
      </p:sp>
      <p:sp>
        <p:nvSpPr>
          <p:cNvPr id="3" name="Segnaposto contenuto 2">
            <a:extLst>
              <a:ext uri="{FF2B5EF4-FFF2-40B4-BE49-F238E27FC236}">
                <a16:creationId xmlns:a16="http://schemas.microsoft.com/office/drawing/2014/main" id="{ADDB4417-9AE8-CB0C-89DF-FBD0EFD21849}"/>
              </a:ext>
            </a:extLst>
          </p:cNvPr>
          <p:cNvSpPr>
            <a:spLocks noGrp="1"/>
          </p:cNvSpPr>
          <p:nvPr>
            <p:ph idx="1"/>
          </p:nvPr>
        </p:nvSpPr>
        <p:spPr>
          <a:xfrm>
            <a:off x="1378634" y="1825625"/>
            <a:ext cx="9434732" cy="4530725"/>
          </a:xfrm>
        </p:spPr>
        <p:txBody>
          <a:bodyPr>
            <a:normAutofit/>
          </a:bodyPr>
          <a:lstStyle/>
          <a:p>
            <a:pPr marL="514350" indent="-514350" algn="just">
              <a:buAutoNum type="arabicPeriod"/>
            </a:pPr>
            <a:r>
              <a:rPr lang="en-GB" dirty="0">
                <a:solidFill>
                  <a:schemeClr val="bg1">
                    <a:lumMod val="75000"/>
                  </a:schemeClr>
                </a:solidFill>
                <a:latin typeface="Garamond" panose="02020404030301010803" pitchFamily="18" charset="0"/>
              </a:rPr>
              <a:t>About me </a:t>
            </a:r>
            <a:r>
              <a:rPr lang="en-GB" dirty="0">
                <a:solidFill>
                  <a:schemeClr val="bg1">
                    <a:lumMod val="75000"/>
                  </a:schemeClr>
                </a:solidFill>
                <a:latin typeface="Garamond" panose="02020404030301010803" pitchFamily="18" charset="0"/>
                <a:sym typeface="Wingdings" pitchFamily="2" charset="2"/>
              </a:rPr>
              <a:t> </a:t>
            </a:r>
            <a:endParaRPr lang="en-GB" dirty="0">
              <a:solidFill>
                <a:schemeClr val="bg1">
                  <a:lumMod val="75000"/>
                </a:schemeClr>
              </a:solidFill>
              <a:latin typeface="Garamond" panose="02020404030301010803" pitchFamily="18" charset="0"/>
            </a:endParaRPr>
          </a:p>
          <a:p>
            <a:pPr marL="514350" indent="-514350" algn="just">
              <a:buAutoNum type="arabicPeriod"/>
            </a:pPr>
            <a:r>
              <a:rPr lang="en-GB" dirty="0">
                <a:solidFill>
                  <a:schemeClr val="bg1">
                    <a:lumMod val="75000"/>
                  </a:schemeClr>
                </a:solidFill>
                <a:latin typeface="Garamond" panose="02020404030301010803" pitchFamily="18" charset="0"/>
              </a:rPr>
              <a:t>Accounting in a nutshell</a:t>
            </a:r>
          </a:p>
          <a:p>
            <a:pPr marL="514350" indent="-514350" algn="just">
              <a:buAutoNum type="arabicPeriod"/>
            </a:pPr>
            <a:r>
              <a:rPr lang="en-GB" u="sng" dirty="0">
                <a:solidFill>
                  <a:srgbClr val="002060"/>
                </a:solidFill>
                <a:latin typeface="Garamond" panose="02020404030301010803" pitchFamily="18" charset="0"/>
              </a:rPr>
              <a:t>Financial statements</a:t>
            </a:r>
          </a:p>
          <a:p>
            <a:pPr marL="514350" indent="-514350" algn="just">
              <a:buAutoNum type="arabicPeriod"/>
            </a:pPr>
            <a:r>
              <a:rPr lang="en-US" dirty="0">
                <a:solidFill>
                  <a:srgbClr val="002060"/>
                </a:solidFill>
                <a:latin typeface="Garamond" panose="02020404030301010803" pitchFamily="18" charset="0"/>
              </a:rPr>
              <a:t>The conceptual foundations of financial accounting</a:t>
            </a:r>
            <a:endParaRPr lang="en-GB" dirty="0">
              <a:solidFill>
                <a:srgbClr val="002060"/>
              </a:solidFill>
              <a:latin typeface="Garamond" panose="02020404030301010803" pitchFamily="18" charset="0"/>
            </a:endParaRPr>
          </a:p>
        </p:txBody>
      </p:sp>
      <p:sp>
        <p:nvSpPr>
          <p:cNvPr id="4" name="Segnaposto numero diapositiva 3">
            <a:extLst>
              <a:ext uri="{FF2B5EF4-FFF2-40B4-BE49-F238E27FC236}">
                <a16:creationId xmlns:a16="http://schemas.microsoft.com/office/drawing/2014/main" id="{BE763484-2625-A9D9-1284-FB61830572C1}"/>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13</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48A09A4-8D57-2CBD-81D0-FD90BB68082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4208505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1C552-EB47-1373-0DB9-556EDB74BA2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40C6055-CFE5-C3DE-8D32-F9659F577052}"/>
              </a:ext>
            </a:extLst>
          </p:cNvPr>
          <p:cNvSpPr>
            <a:spLocks noGrp="1"/>
          </p:cNvSpPr>
          <p:nvPr>
            <p:ph type="title"/>
          </p:nvPr>
        </p:nvSpPr>
        <p:spPr>
          <a:xfrm>
            <a:off x="1378634" y="365125"/>
            <a:ext cx="9975166" cy="1325563"/>
          </a:xfrm>
        </p:spPr>
        <p:txBody>
          <a:bodyPr/>
          <a:lstStyle/>
          <a:p>
            <a:pPr algn="just"/>
            <a:r>
              <a:rPr lang="en-GB" dirty="0">
                <a:solidFill>
                  <a:srgbClr val="002060"/>
                </a:solidFill>
                <a:latin typeface="Garamond" panose="02020404030301010803" pitchFamily="18" charset="0"/>
              </a:rPr>
              <a:t>Conceptual construct of financial statements</a:t>
            </a:r>
          </a:p>
        </p:txBody>
      </p:sp>
      <p:sp>
        <p:nvSpPr>
          <p:cNvPr id="3" name="Segnaposto contenuto 2">
            <a:extLst>
              <a:ext uri="{FF2B5EF4-FFF2-40B4-BE49-F238E27FC236}">
                <a16:creationId xmlns:a16="http://schemas.microsoft.com/office/drawing/2014/main" id="{ECC94289-FDFE-AA5C-7ED7-997F2B64AED3}"/>
              </a:ext>
            </a:extLst>
          </p:cNvPr>
          <p:cNvSpPr>
            <a:spLocks noGrp="1"/>
          </p:cNvSpPr>
          <p:nvPr>
            <p:ph idx="1"/>
          </p:nvPr>
        </p:nvSpPr>
        <p:spPr>
          <a:xfrm>
            <a:off x="1378634" y="1825625"/>
            <a:ext cx="9434732" cy="4530725"/>
          </a:xfrm>
        </p:spPr>
        <p:txBody>
          <a:bodyPr>
            <a:normAutofit/>
          </a:bodyPr>
          <a:lstStyle/>
          <a:p>
            <a:pPr marL="0" indent="0">
              <a:buNone/>
            </a:pPr>
            <a:r>
              <a:rPr lang="en-US" dirty="0">
                <a:latin typeface="Garamond" panose="02020404030301010803" pitchFamily="18" charset="0"/>
              </a:rPr>
              <a:t>We need the following constructs and assumptions.</a:t>
            </a:r>
          </a:p>
          <a:p>
            <a:r>
              <a:rPr lang="en-US" b="1" u="sng" dirty="0">
                <a:latin typeface="Garamond" panose="02020404030301010803" pitchFamily="18" charset="0"/>
              </a:rPr>
              <a:t>Accounting entity</a:t>
            </a:r>
            <a:r>
              <a:rPr lang="en-US" b="1" dirty="0">
                <a:latin typeface="Garamond" panose="02020404030301010803" pitchFamily="18" charset="0"/>
              </a:rPr>
              <a:t>: </a:t>
            </a:r>
            <a:r>
              <a:rPr lang="en-US" dirty="0">
                <a:latin typeface="Garamond" panose="02020404030301010803" pitchFamily="18" charset="0"/>
              </a:rPr>
              <a:t>economic activity can be identified to a particular unit of accountability (a business or other organization), separate from its owners.</a:t>
            </a:r>
          </a:p>
          <a:p>
            <a:r>
              <a:rPr lang="en-US" b="1" u="sng" dirty="0">
                <a:latin typeface="Garamond" panose="02020404030301010803" pitchFamily="18" charset="0"/>
              </a:rPr>
              <a:t>Monetary unit</a:t>
            </a:r>
            <a:r>
              <a:rPr lang="en-US" b="1" dirty="0">
                <a:latin typeface="Garamond" panose="02020404030301010803" pitchFamily="18" charset="0"/>
              </a:rPr>
              <a:t>: </a:t>
            </a:r>
            <a:r>
              <a:rPr lang="en-US" dirty="0">
                <a:latin typeface="Garamond" panose="02020404030301010803" pitchFamily="18" charset="0"/>
              </a:rPr>
              <a:t>economic activity can be measured (quantified) in monetary amounts.</a:t>
            </a:r>
          </a:p>
          <a:p>
            <a:r>
              <a:rPr lang="en-US" b="1" u="sng" dirty="0">
                <a:latin typeface="Garamond" panose="02020404030301010803" pitchFamily="18" charset="0"/>
              </a:rPr>
              <a:t>Going concern</a:t>
            </a:r>
            <a:r>
              <a:rPr lang="en-US" b="1" dirty="0">
                <a:latin typeface="Garamond" panose="02020404030301010803" pitchFamily="18" charset="0"/>
              </a:rPr>
              <a:t>: </a:t>
            </a:r>
            <a:r>
              <a:rPr lang="en-US" dirty="0">
                <a:latin typeface="Garamond" panose="02020404030301010803" pitchFamily="18" charset="0"/>
              </a:rPr>
              <a:t>the business will continue operating in the future.</a:t>
            </a:r>
          </a:p>
          <a:p>
            <a:r>
              <a:rPr lang="en-US" b="1" u="sng" dirty="0">
                <a:latin typeface="Garamond" panose="02020404030301010803" pitchFamily="18" charset="0"/>
              </a:rPr>
              <a:t>Periodicity</a:t>
            </a:r>
            <a:r>
              <a:rPr lang="en-US" b="1" dirty="0">
                <a:latin typeface="Garamond" panose="02020404030301010803" pitchFamily="18" charset="0"/>
              </a:rPr>
              <a:t>: </a:t>
            </a:r>
            <a:r>
              <a:rPr lang="en-US" dirty="0">
                <a:latin typeface="Garamond" panose="02020404030301010803" pitchFamily="18" charset="0"/>
              </a:rPr>
              <a:t>the entity’s economic activity can be measured over specified time periods (years, quarters,…).</a:t>
            </a:r>
          </a:p>
        </p:txBody>
      </p:sp>
      <p:sp>
        <p:nvSpPr>
          <p:cNvPr id="4" name="Segnaposto numero diapositiva 3">
            <a:extLst>
              <a:ext uri="{FF2B5EF4-FFF2-40B4-BE49-F238E27FC236}">
                <a16:creationId xmlns:a16="http://schemas.microsoft.com/office/drawing/2014/main" id="{8D085A86-39B6-7D0D-70C1-267C89213ACA}"/>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14</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F69045C-AF88-2C77-54C3-57B63753CC1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90620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22AA6-EC29-1112-E2A2-0E5D59B1892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04A6D36-C8B7-F0E7-958E-F046305CF1F4}"/>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Financial statements</a:t>
            </a:r>
          </a:p>
        </p:txBody>
      </p:sp>
      <p:sp>
        <p:nvSpPr>
          <p:cNvPr id="3" name="Segnaposto contenuto 2">
            <a:extLst>
              <a:ext uri="{FF2B5EF4-FFF2-40B4-BE49-F238E27FC236}">
                <a16:creationId xmlns:a16="http://schemas.microsoft.com/office/drawing/2014/main" id="{6A1570F9-BC44-2AC7-57B1-99D62D68795D}"/>
              </a:ext>
            </a:extLst>
          </p:cNvPr>
          <p:cNvSpPr>
            <a:spLocks noGrp="1"/>
          </p:cNvSpPr>
          <p:nvPr>
            <p:ph idx="1"/>
          </p:nvPr>
        </p:nvSpPr>
        <p:spPr>
          <a:xfrm>
            <a:off x="1378634" y="1825625"/>
            <a:ext cx="9434732" cy="4530725"/>
          </a:xfrm>
        </p:spPr>
        <p:txBody>
          <a:bodyPr>
            <a:normAutofit/>
          </a:bodyPr>
          <a:lstStyle/>
          <a:p>
            <a:pPr marL="514350" indent="-514350" defTabSz="1097280">
              <a:buAutoNum type="arabicPeriod"/>
            </a:pPr>
            <a:r>
              <a:rPr lang="en-US" dirty="0">
                <a:latin typeface="Garamond" panose="02020404030301010803" pitchFamily="18" charset="0"/>
              </a:rPr>
              <a:t>Balance sheet</a:t>
            </a:r>
          </a:p>
          <a:p>
            <a:pPr marL="514350" indent="-514350" defTabSz="1097280">
              <a:buAutoNum type="arabicPeriod"/>
            </a:pPr>
            <a:r>
              <a:rPr lang="en-US" dirty="0">
                <a:latin typeface="Garamond" panose="02020404030301010803" pitchFamily="18" charset="0"/>
              </a:rPr>
              <a:t>Income statement</a:t>
            </a:r>
          </a:p>
          <a:p>
            <a:pPr marL="514350" indent="-514350" defTabSz="1097280">
              <a:buAutoNum type="arabicPeriod"/>
            </a:pPr>
            <a:r>
              <a:rPr lang="en-US" dirty="0">
                <a:latin typeface="Garamond" panose="02020404030301010803" pitchFamily="18" charset="0"/>
              </a:rPr>
              <a:t>Statement of changes in shareholders’ equity</a:t>
            </a:r>
          </a:p>
          <a:p>
            <a:pPr marL="514350" indent="-514350" defTabSz="1097280">
              <a:buAutoNum type="arabicPeriod"/>
            </a:pPr>
            <a:r>
              <a:rPr lang="en-US" dirty="0">
                <a:latin typeface="Garamond" panose="02020404030301010803" pitchFamily="18" charset="0"/>
              </a:rPr>
              <a:t>Cash flow statement</a:t>
            </a:r>
          </a:p>
          <a:p>
            <a:pPr marL="0" indent="0" defTabSz="1097280">
              <a:buNone/>
            </a:pPr>
            <a:endParaRPr lang="en-US" dirty="0">
              <a:latin typeface="Garamond" panose="02020404030301010803" pitchFamily="18" charset="0"/>
            </a:endParaRPr>
          </a:p>
          <a:p>
            <a:pPr marL="0" indent="0" defTabSz="1097280">
              <a:buNone/>
            </a:pPr>
            <a:r>
              <a:rPr lang="en-US" dirty="0">
                <a:latin typeface="Garamond" panose="02020404030301010803" pitchFamily="18" charset="0"/>
              </a:rPr>
              <a:t>(5.) Notes to the statements</a:t>
            </a:r>
          </a:p>
          <a:p>
            <a:pPr marL="0" indent="0" defTabSz="1097280">
              <a:buNone/>
            </a:pPr>
            <a:r>
              <a:rPr lang="en-US" dirty="0">
                <a:latin typeface="Garamond" panose="02020404030301010803" pitchFamily="18" charset="0"/>
              </a:rPr>
              <a:t>(6.) Auditor statement / audit opinion</a:t>
            </a:r>
          </a:p>
        </p:txBody>
      </p:sp>
      <p:sp>
        <p:nvSpPr>
          <p:cNvPr id="4" name="Segnaposto numero diapositiva 3">
            <a:extLst>
              <a:ext uri="{FF2B5EF4-FFF2-40B4-BE49-F238E27FC236}">
                <a16:creationId xmlns:a16="http://schemas.microsoft.com/office/drawing/2014/main" id="{A6FE7E5A-082A-B7DB-C430-12A75BB3E07E}"/>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15</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9C82819D-FD70-FAB3-6495-70972662128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2425221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9009C-0A3B-39CA-A4CF-9E2A5C4341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00C84F2-3DD4-FA27-E443-A0631AAAA81A}"/>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balance sheet</a:t>
            </a:r>
          </a:p>
        </p:txBody>
      </p:sp>
      <p:sp>
        <p:nvSpPr>
          <p:cNvPr id="4" name="Segnaposto numero diapositiva 3">
            <a:extLst>
              <a:ext uri="{FF2B5EF4-FFF2-40B4-BE49-F238E27FC236}">
                <a16:creationId xmlns:a16="http://schemas.microsoft.com/office/drawing/2014/main" id="{364891E7-855D-2CBB-577D-022E0502DB7A}"/>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16</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3A4608DA-3A1C-1AD7-F841-4F65BBEC620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graphicFrame>
        <p:nvGraphicFramePr>
          <p:cNvPr id="7" name="Content Placeholder 4">
            <a:extLst>
              <a:ext uri="{FF2B5EF4-FFF2-40B4-BE49-F238E27FC236}">
                <a16:creationId xmlns:a16="http://schemas.microsoft.com/office/drawing/2014/main" id="{20485A5C-3EC0-D941-05E4-B33EC265742B}"/>
              </a:ext>
            </a:extLst>
          </p:cNvPr>
          <p:cNvGraphicFramePr>
            <a:graphicFrameLocks noGrp="1"/>
          </p:cNvGraphicFramePr>
          <p:nvPr>
            <p:ph idx="1"/>
            <p:extLst>
              <p:ext uri="{D42A27DB-BD31-4B8C-83A1-F6EECF244321}">
                <p14:modId xmlns:p14="http://schemas.microsoft.com/office/powerpoint/2010/main" val="3868250141"/>
              </p:ext>
            </p:extLst>
          </p:nvPr>
        </p:nvGraphicFramePr>
        <p:xfrm>
          <a:off x="1378634" y="1637983"/>
          <a:ext cx="9975165" cy="4480560"/>
        </p:xfrm>
        <a:graphic>
          <a:graphicData uri="http://schemas.openxmlformats.org/drawingml/2006/table">
            <a:tbl>
              <a:tblPr firstRow="1" bandRow="1"/>
              <a:tblGrid>
                <a:gridCol w="3346431">
                  <a:extLst>
                    <a:ext uri="{9D8B030D-6E8A-4147-A177-3AD203B41FA5}">
                      <a16:colId xmlns:a16="http://schemas.microsoft.com/office/drawing/2014/main" val="20000"/>
                    </a:ext>
                  </a:extLst>
                </a:gridCol>
                <a:gridCol w="824502">
                  <a:extLst>
                    <a:ext uri="{9D8B030D-6E8A-4147-A177-3AD203B41FA5}">
                      <a16:colId xmlns:a16="http://schemas.microsoft.com/office/drawing/2014/main" val="20001"/>
                    </a:ext>
                  </a:extLst>
                </a:gridCol>
                <a:gridCol w="824502">
                  <a:extLst>
                    <a:ext uri="{9D8B030D-6E8A-4147-A177-3AD203B41FA5}">
                      <a16:colId xmlns:a16="http://schemas.microsoft.com/office/drawing/2014/main" val="20002"/>
                    </a:ext>
                  </a:extLst>
                </a:gridCol>
                <a:gridCol w="268290">
                  <a:extLst>
                    <a:ext uri="{9D8B030D-6E8A-4147-A177-3AD203B41FA5}">
                      <a16:colId xmlns:a16="http://schemas.microsoft.com/office/drawing/2014/main" val="20003"/>
                    </a:ext>
                  </a:extLst>
                </a:gridCol>
                <a:gridCol w="3062436">
                  <a:extLst>
                    <a:ext uri="{9D8B030D-6E8A-4147-A177-3AD203B41FA5}">
                      <a16:colId xmlns:a16="http://schemas.microsoft.com/office/drawing/2014/main" val="20004"/>
                    </a:ext>
                  </a:extLst>
                </a:gridCol>
                <a:gridCol w="824502">
                  <a:extLst>
                    <a:ext uri="{9D8B030D-6E8A-4147-A177-3AD203B41FA5}">
                      <a16:colId xmlns:a16="http://schemas.microsoft.com/office/drawing/2014/main" val="20005"/>
                    </a:ext>
                  </a:extLst>
                </a:gridCol>
                <a:gridCol w="824502">
                  <a:extLst>
                    <a:ext uri="{9D8B030D-6E8A-4147-A177-3AD203B41FA5}">
                      <a16:colId xmlns:a16="http://schemas.microsoft.com/office/drawing/2014/main" val="20006"/>
                    </a:ext>
                  </a:extLst>
                </a:gridCol>
              </a:tblGrid>
              <a:tr h="318430">
                <a:tc gridSpan="7">
                  <a:txBody>
                    <a:bodyPr/>
                    <a:lstStyle/>
                    <a:p>
                      <a:r>
                        <a:rPr lang="en-US" sz="1500" dirty="0"/>
                        <a:t>B</a:t>
                      </a:r>
                      <a:r>
                        <a:rPr lang="en-US" sz="1500" baseline="0" dirty="0"/>
                        <a:t>alance sheets of [entity name] at [month] [day], 2021, and 2020 in a specific [unit] of a [currency] </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18430">
                <a:tc>
                  <a:txBody>
                    <a:bodyPr/>
                    <a:lstStyle/>
                    <a:p>
                      <a:endParaRPr lang="en-US" sz="1500" dirty="0"/>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2021</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2020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2021</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2020</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18430">
                <a:tc>
                  <a:txBody>
                    <a:bodyPr/>
                    <a:lstStyle/>
                    <a:p>
                      <a:r>
                        <a:rPr lang="en-US" sz="1500" dirty="0"/>
                        <a:t>Cash and</a:t>
                      </a:r>
                      <a:r>
                        <a:rPr lang="en-US" sz="1500" baseline="0" dirty="0"/>
                        <a:t> cash equivalents</a:t>
                      </a:r>
                      <a:endParaRPr lang="en-US" sz="15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r>
                        <a:rPr lang="en-US" sz="1500" dirty="0"/>
                        <a:t>Accounts payable</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18430">
                <a:tc>
                  <a:txBody>
                    <a:bodyPr/>
                    <a:lstStyle/>
                    <a:p>
                      <a:r>
                        <a:rPr lang="en-US" sz="1500" dirty="0"/>
                        <a:t>Accounts receivable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t>Accrued expenses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18430">
                <a:tc>
                  <a:txBody>
                    <a:bodyPr/>
                    <a:lstStyle/>
                    <a:p>
                      <a:r>
                        <a:rPr lang="en-US" sz="1500" dirty="0"/>
                        <a:t>Inventory</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t>Short-term borrowings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18430">
                <a:tc>
                  <a:txBody>
                    <a:bodyPr/>
                    <a:lstStyle/>
                    <a:p>
                      <a:r>
                        <a:rPr lang="en-US" sz="1500" dirty="0"/>
                        <a:t>Other current assets</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Other current liabilities</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a:t>XXX</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a:t>XXX</a:t>
                      </a:r>
                    </a:p>
                  </a:txBody>
                  <a:tcP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18430">
                <a:tc>
                  <a:txBody>
                    <a:bodyPr/>
                    <a:lstStyle/>
                    <a:p>
                      <a:r>
                        <a:rPr lang="en-US" sz="1500" dirty="0"/>
                        <a:t>Total current assets</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Total current liabilities</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18430">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18430">
                <a:tc>
                  <a:txBody>
                    <a:bodyPr/>
                    <a:lstStyle/>
                    <a:p>
                      <a:r>
                        <a:rPr lang="en-US" sz="1500" dirty="0"/>
                        <a:t>Investments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Long-term debt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18430">
                <a:tc>
                  <a:txBody>
                    <a:bodyPr/>
                    <a:lstStyle/>
                    <a:p>
                      <a:r>
                        <a:rPr lang="en-US" sz="1500" dirty="0"/>
                        <a:t>Property, plant and equipment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Deferred tax liabilities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318430">
                <a:tc>
                  <a:txBody>
                    <a:bodyPr/>
                    <a:lstStyle/>
                    <a:p>
                      <a:r>
                        <a:rPr lang="en-US" sz="1500" dirty="0"/>
                        <a:t>Intangible assets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318430">
                <a:tc>
                  <a:txBody>
                    <a:bodyPr/>
                    <a:lstStyle/>
                    <a:p>
                      <a:r>
                        <a:rPr lang="en-US" sz="1500" dirty="0"/>
                        <a:t>Deferred tax assets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Common stock</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318430">
                <a:tc>
                  <a:txBody>
                    <a:bodyPr/>
                    <a:lstStyle/>
                    <a:p>
                      <a:r>
                        <a:rPr lang="en-US" sz="1500" dirty="0"/>
                        <a:t>Other assets</a:t>
                      </a:r>
                    </a:p>
                  </a:txBody>
                  <a:tcPr>
                    <a:lnL w="12700" cmpd="sng">
                      <a:noFill/>
                      <a:prstDash val="solid"/>
                    </a:lnL>
                    <a:lnR w="12700" cmpd="sng">
                      <a:noFill/>
                      <a:prstDash val="solid"/>
                    </a:lnR>
                    <a:lnT w="12700" cmpd="sng">
                      <a:noFill/>
                      <a:prstDash val="soli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Retained earnings</a:t>
                      </a:r>
                    </a:p>
                  </a:txBody>
                  <a:tcPr>
                    <a:lnL w="12700" cmpd="sng">
                      <a:noFill/>
                      <a:prstDash val="solid"/>
                    </a:lnL>
                    <a:lnR w="12700" cmpd="sng">
                      <a:noFill/>
                      <a:prstDash val="solid"/>
                    </a:lnR>
                    <a:lnT w="12700" cmpd="sng">
                      <a:noFill/>
                      <a:prstDash val="soli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a:t>XXX</a:t>
                      </a:r>
                      <a:endParaRPr lang="en-US" sz="1500" dirty="0"/>
                    </a:p>
                  </a:txBody>
                  <a:tcPr>
                    <a:lnL w="12700" cmpd="sng">
                      <a:noFill/>
                      <a:prstDash val="solid"/>
                    </a:lnL>
                    <a:lnR w="12700" cmpd="sng">
                      <a:noFill/>
                      <a:prstDash val="solid"/>
                    </a:lnR>
                    <a:lnT w="12700" cmpd="sng">
                      <a:noFill/>
                      <a:prstDash val="soli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12700" cmpd="sng">
                      <a:noFill/>
                      <a:prstDash val="soli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318430">
                <a:tc>
                  <a:txBody>
                    <a:bodyPr/>
                    <a:lstStyle/>
                    <a:p>
                      <a:r>
                        <a:rPr lang="en-US" sz="1500" dirty="0"/>
                        <a:t>Total assets</a:t>
                      </a:r>
                    </a:p>
                  </a:txBody>
                  <a:tcPr>
                    <a:lnL w="12700" cmpd="sng">
                      <a:noFill/>
                      <a:prstDash val="solid"/>
                    </a:lnL>
                    <a:lnR w="12700" cmpd="sng">
                      <a:noFill/>
                      <a:prstDash val="solid"/>
                    </a:lnR>
                    <a:lnT w="381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381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381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lang="en-US" sz="150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US" sz="1500" dirty="0"/>
                        <a:t>Total</a:t>
                      </a:r>
                      <a:r>
                        <a:rPr lang="en-US" sz="1500" baseline="0" dirty="0"/>
                        <a:t> liabilities and equity</a:t>
                      </a:r>
                      <a:endParaRPr lang="en-US" sz="1500" dirty="0"/>
                    </a:p>
                  </a:txBody>
                  <a:tcPr>
                    <a:lnL w="12700" cmpd="sng">
                      <a:noFill/>
                      <a:prstDash val="solid"/>
                    </a:lnL>
                    <a:lnR w="12700" cmpd="sng">
                      <a:noFill/>
                      <a:prstDash val="solid"/>
                    </a:lnR>
                    <a:lnT w="381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381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algn="r"/>
                      <a:r>
                        <a:rPr lang="en-US" sz="1500" dirty="0"/>
                        <a:t>XXX</a:t>
                      </a:r>
                    </a:p>
                  </a:txBody>
                  <a:tcPr>
                    <a:lnL w="12700" cmpd="sng">
                      <a:noFill/>
                      <a:prstDash val="solid"/>
                    </a:lnL>
                    <a:lnR w="12700" cmpd="sng">
                      <a:noFill/>
                      <a:prstDash val="solid"/>
                    </a:lnR>
                    <a:lnT w="381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749384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B8365-DB67-36A4-DD9B-C649CAC25AB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AB014AE-556C-604C-A233-833CBED0FC22}"/>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balance sheet: Definition</a:t>
            </a:r>
          </a:p>
        </p:txBody>
      </p:sp>
      <p:sp>
        <p:nvSpPr>
          <p:cNvPr id="3" name="Segnaposto contenuto 2">
            <a:extLst>
              <a:ext uri="{FF2B5EF4-FFF2-40B4-BE49-F238E27FC236}">
                <a16:creationId xmlns:a16="http://schemas.microsoft.com/office/drawing/2014/main" id="{DE231F9A-86DA-E01D-7195-781BC3746A85}"/>
              </a:ext>
            </a:extLst>
          </p:cNvPr>
          <p:cNvSpPr>
            <a:spLocks noGrp="1"/>
          </p:cNvSpPr>
          <p:nvPr>
            <p:ph idx="1"/>
          </p:nvPr>
        </p:nvSpPr>
        <p:spPr>
          <a:xfrm>
            <a:off x="1378634" y="1825625"/>
            <a:ext cx="9434732" cy="4530725"/>
          </a:xfrm>
        </p:spPr>
        <p:txBody>
          <a:bodyPr>
            <a:normAutofit lnSpcReduction="10000"/>
          </a:bodyPr>
          <a:lstStyle/>
          <a:p>
            <a:pPr marL="0" indent="0">
              <a:buNone/>
            </a:pPr>
            <a:r>
              <a:rPr lang="en-US" dirty="0">
                <a:latin typeface="Garamond" panose="02020404030301010803" pitchFamily="18" charset="0"/>
              </a:rPr>
              <a:t>The balance sheet (or statement of financial position) is a dual list of line items (called </a:t>
            </a:r>
            <a:r>
              <a:rPr lang="en-US" u="sng" dirty="0">
                <a:latin typeface="Garamond" panose="02020404030301010803" pitchFamily="18" charset="0"/>
              </a:rPr>
              <a:t>accounts</a:t>
            </a:r>
            <a:r>
              <a:rPr lang="en-US" dirty="0">
                <a:latin typeface="Garamond" panose="02020404030301010803" pitchFamily="18" charset="0"/>
              </a:rPr>
              <a:t>) with associated amounts (called </a:t>
            </a:r>
            <a:r>
              <a:rPr lang="en-US" u="sng" dirty="0">
                <a:latin typeface="Garamond" panose="02020404030301010803" pitchFamily="18" charset="0"/>
              </a:rPr>
              <a:t>balances</a:t>
            </a:r>
            <a:r>
              <a:rPr lang="en-US" dirty="0">
                <a:latin typeface="Garamond" panose="02020404030301010803" pitchFamily="18" charset="0"/>
              </a:rPr>
              <a:t>).</a:t>
            </a:r>
          </a:p>
          <a:p>
            <a:r>
              <a:rPr lang="en-US" dirty="0">
                <a:latin typeface="Garamond" panose="02020404030301010803" pitchFamily="18" charset="0"/>
              </a:rPr>
              <a:t>Its left side (or </a:t>
            </a:r>
            <a:r>
              <a:rPr lang="en-US" u="sng" dirty="0">
                <a:latin typeface="Garamond" panose="02020404030301010803" pitchFamily="18" charset="0"/>
              </a:rPr>
              <a:t>asset side</a:t>
            </a:r>
            <a:r>
              <a:rPr lang="en-US" dirty="0">
                <a:latin typeface="Garamond" panose="02020404030301010803" pitchFamily="18" charset="0"/>
              </a:rPr>
              <a:t>) lists what assets (i.e., economic resources) the entity controls and what value is </a:t>
            </a:r>
            <a:r>
              <a:rPr lang="en-US" b="1" dirty="0">
                <a:latin typeface="Garamond" panose="02020404030301010803" pitchFamily="18" charset="0"/>
              </a:rPr>
              <a:t>assigned</a:t>
            </a:r>
            <a:r>
              <a:rPr lang="en-US" dirty="0">
                <a:latin typeface="Garamond" panose="02020404030301010803" pitchFamily="18" charset="0"/>
              </a:rPr>
              <a:t> to each of these assets.</a:t>
            </a:r>
          </a:p>
          <a:p>
            <a:r>
              <a:rPr lang="en-US" dirty="0">
                <a:latin typeface="Garamond" panose="02020404030301010803" pitchFamily="18" charset="0"/>
              </a:rPr>
              <a:t>Its right side (or </a:t>
            </a:r>
            <a:r>
              <a:rPr lang="en-US" u="sng" dirty="0">
                <a:latin typeface="Garamond" panose="02020404030301010803" pitchFamily="18" charset="0"/>
              </a:rPr>
              <a:t>liabilities and equity side</a:t>
            </a:r>
            <a:r>
              <a:rPr lang="en-US" dirty="0">
                <a:latin typeface="Garamond" panose="02020404030301010803" pitchFamily="18" charset="0"/>
              </a:rPr>
              <a:t>) shows which parties have claims to these assets and what value is assigned to each of these claims.</a:t>
            </a:r>
          </a:p>
          <a:p>
            <a:r>
              <a:rPr lang="en-US" dirty="0">
                <a:latin typeface="Garamond" panose="02020404030301010803" pitchFamily="18" charset="0"/>
              </a:rPr>
              <a:t>The term ‘equity’ refers to the claims of the entity’s owners. The term ‘liability’ refers to claims of non-owners (e.g., lenders).</a:t>
            </a:r>
          </a:p>
          <a:p>
            <a:endParaRPr lang="en-US" dirty="0">
              <a:latin typeface="Garamond" panose="02020404030301010803" pitchFamily="18" charset="0"/>
            </a:endParaRPr>
          </a:p>
          <a:p>
            <a:pPr marL="0" indent="0" defTabSz="109728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9EDF283C-BC5B-D926-FFAF-468216486140}"/>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17</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629A516-4849-5B07-D34E-5EDDD42EB24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117676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A9A3-8C6F-7ED2-59E3-DF5169ABB4E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96F8339-8621-11F3-F183-CCF0D7C9EB2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balance sheet: Example</a:t>
            </a:r>
          </a:p>
        </p:txBody>
      </p:sp>
      <p:sp>
        <p:nvSpPr>
          <p:cNvPr id="4" name="Segnaposto numero diapositiva 3">
            <a:extLst>
              <a:ext uri="{FF2B5EF4-FFF2-40B4-BE49-F238E27FC236}">
                <a16:creationId xmlns:a16="http://schemas.microsoft.com/office/drawing/2014/main" id="{13976681-060C-3A06-B7DB-CF964B8255EF}"/>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18</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98362969-FEDE-C2DA-45AA-8B05FEAFA5C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8" name="Content Placeholder 12">
            <a:extLst>
              <a:ext uri="{FF2B5EF4-FFF2-40B4-BE49-F238E27FC236}">
                <a16:creationId xmlns:a16="http://schemas.microsoft.com/office/drawing/2014/main" id="{356D518F-5D8F-43ED-A883-F48541C82BAA}"/>
              </a:ext>
            </a:extLst>
          </p:cNvPr>
          <p:cNvPicPr>
            <a:picLocks noGrp="1" noChangeAspect="1"/>
          </p:cNvPicPr>
          <p:nvPr>
            <p:ph idx="1"/>
          </p:nvPr>
        </p:nvPicPr>
        <p:blipFill>
          <a:blip r:embed="rId4"/>
          <a:stretch>
            <a:fillRect/>
          </a:stretch>
        </p:blipFill>
        <p:spPr>
          <a:xfrm>
            <a:off x="1974135" y="1636765"/>
            <a:ext cx="8839231" cy="5369709"/>
          </a:xfrm>
          <a:prstGeom prst="rect">
            <a:avLst/>
          </a:prstGeom>
        </p:spPr>
      </p:pic>
    </p:spTree>
    <p:extLst>
      <p:ext uri="{BB962C8B-B14F-4D97-AF65-F5344CB8AC3E}">
        <p14:creationId xmlns:p14="http://schemas.microsoft.com/office/powerpoint/2010/main" val="3936816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75178-DAD5-E530-F415-A7A491E3C00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E12F586-597F-1A3C-49B0-FCA441217DE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balance sheet: Example</a:t>
            </a:r>
          </a:p>
        </p:txBody>
      </p:sp>
      <p:sp>
        <p:nvSpPr>
          <p:cNvPr id="4" name="Segnaposto numero diapositiva 3">
            <a:extLst>
              <a:ext uri="{FF2B5EF4-FFF2-40B4-BE49-F238E27FC236}">
                <a16:creationId xmlns:a16="http://schemas.microsoft.com/office/drawing/2014/main" id="{57B4B820-2583-779C-3CE7-097FA90C3492}"/>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19</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CA6F9106-B39B-31D1-43FA-80B54F38C65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7" name="Content Placeholder 9">
            <a:extLst>
              <a:ext uri="{FF2B5EF4-FFF2-40B4-BE49-F238E27FC236}">
                <a16:creationId xmlns:a16="http://schemas.microsoft.com/office/drawing/2014/main" id="{A9B3EA6A-3DC9-AF0D-1A64-C945C098C3A5}"/>
              </a:ext>
            </a:extLst>
          </p:cNvPr>
          <p:cNvPicPr>
            <a:picLocks noGrp="1" noChangeAspect="1"/>
          </p:cNvPicPr>
          <p:nvPr>
            <p:ph idx="1"/>
          </p:nvPr>
        </p:nvPicPr>
        <p:blipFill>
          <a:blip r:embed="rId4"/>
          <a:stretch>
            <a:fillRect/>
          </a:stretch>
        </p:blipFill>
        <p:spPr>
          <a:xfrm>
            <a:off x="2052899" y="1448735"/>
            <a:ext cx="8086202" cy="4859056"/>
          </a:xfrm>
          <a:prstGeom prst="rect">
            <a:avLst/>
          </a:prstGeom>
        </p:spPr>
      </p:pic>
    </p:spTree>
    <p:extLst>
      <p:ext uri="{BB962C8B-B14F-4D97-AF65-F5344CB8AC3E}">
        <p14:creationId xmlns:p14="http://schemas.microsoft.com/office/powerpoint/2010/main" val="611237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BCC4B-402F-9887-F90A-072E7896101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4F3FF5-9257-23E6-39C3-3FBFF656577F}"/>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balance sheet: Example</a:t>
            </a:r>
          </a:p>
        </p:txBody>
      </p:sp>
      <p:sp>
        <p:nvSpPr>
          <p:cNvPr id="4" name="Segnaposto numero diapositiva 3">
            <a:extLst>
              <a:ext uri="{FF2B5EF4-FFF2-40B4-BE49-F238E27FC236}">
                <a16:creationId xmlns:a16="http://schemas.microsoft.com/office/drawing/2014/main" id="{57F7B6F3-5F35-F075-DC4D-6432E6E02CC9}"/>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20</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B539A9B1-B08E-6513-9C95-E30E8BC0C9E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8" name="Content Placeholder 5">
            <a:extLst>
              <a:ext uri="{FF2B5EF4-FFF2-40B4-BE49-F238E27FC236}">
                <a16:creationId xmlns:a16="http://schemas.microsoft.com/office/drawing/2014/main" id="{81AD4022-8860-DBA5-5607-9363C008EE2C}"/>
              </a:ext>
            </a:extLst>
          </p:cNvPr>
          <p:cNvPicPr>
            <a:picLocks noChangeAspect="1"/>
          </p:cNvPicPr>
          <p:nvPr/>
        </p:nvPicPr>
        <p:blipFill>
          <a:blip r:embed="rId4"/>
          <a:srcRect b="37743"/>
          <a:stretch>
            <a:fillRect/>
          </a:stretch>
        </p:blipFill>
        <p:spPr>
          <a:xfrm>
            <a:off x="1862525" y="1690689"/>
            <a:ext cx="8466950" cy="3795712"/>
          </a:xfrm>
          <a:prstGeom prst="rect">
            <a:avLst/>
          </a:prstGeom>
        </p:spPr>
      </p:pic>
    </p:spTree>
    <p:extLst>
      <p:ext uri="{BB962C8B-B14F-4D97-AF65-F5344CB8AC3E}">
        <p14:creationId xmlns:p14="http://schemas.microsoft.com/office/powerpoint/2010/main" val="2868205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8564-BA25-6C4C-80D0-295BA29B8E9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F5153BD-CDAD-BF53-039A-EBAE801B4E87}"/>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accounting equation</a:t>
            </a:r>
          </a:p>
        </p:txBody>
      </p:sp>
      <p:sp>
        <p:nvSpPr>
          <p:cNvPr id="4" name="Segnaposto numero diapositiva 3">
            <a:extLst>
              <a:ext uri="{FF2B5EF4-FFF2-40B4-BE49-F238E27FC236}">
                <a16:creationId xmlns:a16="http://schemas.microsoft.com/office/drawing/2014/main" id="{8EF9B61C-6EF8-CC7D-89A8-35C38843A7DD}"/>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21</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A89EC94-6D7C-A7D2-714C-A2E58A05068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graphicFrame>
        <p:nvGraphicFramePr>
          <p:cNvPr id="7" name="Content Placeholder 4">
            <a:extLst>
              <a:ext uri="{FF2B5EF4-FFF2-40B4-BE49-F238E27FC236}">
                <a16:creationId xmlns:a16="http://schemas.microsoft.com/office/drawing/2014/main" id="{4CA671B8-EEEC-E1C3-5CDB-E96BF15E18A5}"/>
              </a:ext>
            </a:extLst>
          </p:cNvPr>
          <p:cNvGraphicFramePr>
            <a:graphicFrameLocks/>
          </p:cNvGraphicFramePr>
          <p:nvPr>
            <p:extLst>
              <p:ext uri="{D42A27DB-BD31-4B8C-83A1-F6EECF244321}">
                <p14:modId xmlns:p14="http://schemas.microsoft.com/office/powerpoint/2010/main" val="2290182161"/>
              </p:ext>
            </p:extLst>
          </p:nvPr>
        </p:nvGraphicFramePr>
        <p:xfrm>
          <a:off x="1378634" y="1690688"/>
          <a:ext cx="9975165" cy="3954486"/>
        </p:xfrm>
        <a:graphic>
          <a:graphicData uri="http://schemas.openxmlformats.org/drawingml/2006/table">
            <a:tbl>
              <a:tblPr firstRow="1" bandRow="1"/>
              <a:tblGrid>
                <a:gridCol w="2319806">
                  <a:extLst>
                    <a:ext uri="{9D8B030D-6E8A-4147-A177-3AD203B41FA5}">
                      <a16:colId xmlns:a16="http://schemas.microsoft.com/office/drawing/2014/main" val="20000"/>
                    </a:ext>
                  </a:extLst>
                </a:gridCol>
                <a:gridCol w="463961">
                  <a:extLst>
                    <a:ext uri="{9D8B030D-6E8A-4147-A177-3AD203B41FA5}">
                      <a16:colId xmlns:a16="http://schemas.microsoft.com/office/drawing/2014/main" val="20001"/>
                    </a:ext>
                  </a:extLst>
                </a:gridCol>
                <a:gridCol w="2783767">
                  <a:extLst>
                    <a:ext uri="{9D8B030D-6E8A-4147-A177-3AD203B41FA5}">
                      <a16:colId xmlns:a16="http://schemas.microsoft.com/office/drawing/2014/main" val="20002"/>
                    </a:ext>
                  </a:extLst>
                </a:gridCol>
                <a:gridCol w="463961">
                  <a:extLst>
                    <a:ext uri="{9D8B030D-6E8A-4147-A177-3AD203B41FA5}">
                      <a16:colId xmlns:a16="http://schemas.microsoft.com/office/drawing/2014/main" val="20003"/>
                    </a:ext>
                  </a:extLst>
                </a:gridCol>
                <a:gridCol w="3943670">
                  <a:extLst>
                    <a:ext uri="{9D8B030D-6E8A-4147-A177-3AD203B41FA5}">
                      <a16:colId xmlns:a16="http://schemas.microsoft.com/office/drawing/2014/main" val="20004"/>
                    </a:ext>
                  </a:extLst>
                </a:gridCol>
              </a:tblGrid>
              <a:tr h="2217596">
                <a:tc gridSpan="5">
                  <a:txBody>
                    <a:bodyPr/>
                    <a:lstStyle/>
                    <a:p>
                      <a:pPr>
                        <a:lnSpc>
                          <a:spcPct val="100000"/>
                        </a:lnSpc>
                        <a:spcAft>
                          <a:spcPts val="0"/>
                        </a:spcAft>
                      </a:pPr>
                      <a:r>
                        <a:rPr lang="en-US" sz="2800" b="0" i="0" dirty="0">
                          <a:latin typeface="Garamond" panose="02020404030301010803" pitchFamily="18" charset="0"/>
                        </a:rPr>
                        <a:t>The total value assigned</a:t>
                      </a:r>
                      <a:r>
                        <a:rPr lang="en-US" sz="2800" b="0" i="0" baseline="0" dirty="0">
                          <a:latin typeface="Garamond" panose="02020404030301010803" pitchFamily="18" charset="0"/>
                        </a:rPr>
                        <a:t> to the assets on the left side must always equal the total value of all claims listed on the right side.</a:t>
                      </a:r>
                    </a:p>
                    <a:p>
                      <a:pPr>
                        <a:lnSpc>
                          <a:spcPct val="100000"/>
                        </a:lnSpc>
                        <a:spcAft>
                          <a:spcPts val="0"/>
                        </a:spcAft>
                      </a:pPr>
                      <a:endParaRPr lang="en-US" sz="2800" b="0" i="0" baseline="0" dirty="0">
                        <a:latin typeface="Garamond" panose="02020404030301010803" pitchFamily="18" charset="0"/>
                      </a:endParaRPr>
                    </a:p>
                    <a:p>
                      <a:pPr>
                        <a:lnSpc>
                          <a:spcPct val="100000"/>
                        </a:lnSpc>
                        <a:spcAft>
                          <a:spcPts val="0"/>
                        </a:spcAft>
                      </a:pPr>
                      <a:r>
                        <a:rPr lang="en-US" sz="2800" b="0" i="0" baseline="0" dirty="0">
                          <a:latin typeface="Garamond" panose="02020404030301010803" pitchFamily="18" charset="0"/>
                        </a:rPr>
                        <a:t>This relationship is called t</a:t>
                      </a:r>
                      <a:r>
                        <a:rPr lang="en-US" sz="2800" b="0" i="0" dirty="0">
                          <a:latin typeface="Garamond" panose="02020404030301010803" pitchFamily="18" charset="0"/>
                        </a:rPr>
                        <a:t>he </a:t>
                      </a:r>
                      <a:r>
                        <a:rPr lang="en-US" sz="2800" b="0" i="0" u="sng" dirty="0">
                          <a:latin typeface="Garamond" panose="02020404030301010803" pitchFamily="18" charset="0"/>
                        </a:rPr>
                        <a:t>accounting</a:t>
                      </a:r>
                      <a:r>
                        <a:rPr lang="en-US" sz="2800" b="0" i="0" u="sng" baseline="0" dirty="0">
                          <a:latin typeface="Garamond" panose="02020404030301010803" pitchFamily="18" charset="0"/>
                        </a:rPr>
                        <a:t> equation</a:t>
                      </a:r>
                      <a:r>
                        <a:rPr lang="en-US" sz="2800" b="0" i="0" baseline="0" dirty="0">
                          <a:latin typeface="Garamond" panose="02020404030301010803" pitchFamily="18" charset="0"/>
                        </a:rPr>
                        <a:t>. It is the fundamental identity that underlies all accounting. </a:t>
                      </a:r>
                      <a:r>
                        <a:rPr lang="en-US" sz="2800" b="1" i="0" u="sng" baseline="0" dirty="0">
                          <a:latin typeface="Garamond" panose="02020404030301010803" pitchFamily="18" charset="0"/>
                        </a:rPr>
                        <a:t>Memorize it.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09071">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711304">
                <a:tc>
                  <a:txBody>
                    <a:bodyPr/>
                    <a:lstStyle/>
                    <a:p>
                      <a:pPr algn="ctr">
                        <a:lnSpc>
                          <a:spcPct val="100000"/>
                        </a:lnSpc>
                      </a:pPr>
                      <a:r>
                        <a:rPr lang="en-US" sz="2800" b="1" dirty="0">
                          <a:latin typeface="Garamond" panose="02020404030301010803" pitchFamily="18" charset="0"/>
                        </a:rPr>
                        <a:t>Assets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n-US" sz="2800" b="1" dirty="0">
                          <a:latin typeface="Garamond" panose="02020404030301010803" pitchFamily="18" charset="0"/>
                        </a:rPr>
                        <a: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n-US" sz="2800" b="1" dirty="0">
                          <a:latin typeface="Garamond" panose="02020404030301010803" pitchFamily="18" charset="0"/>
                        </a:rPr>
                        <a:t>Liabilities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n-US" sz="2800" b="1" dirty="0">
                          <a:latin typeface="Garamond" panose="02020404030301010803" pitchFamily="18" charset="0"/>
                        </a:rPr>
                        <a: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n-US" sz="2800" b="1" dirty="0">
                          <a:latin typeface="Garamond" panose="02020404030301010803" pitchFamily="18" charset="0"/>
                        </a:rPr>
                        <a:t>Owners’ Equity</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09071">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18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00859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0284-09CD-609F-C939-8377F20E180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2E48D1-9330-3D7D-07AE-EABAD47F7E2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accounting equation</a:t>
            </a:r>
          </a:p>
        </p:txBody>
      </p:sp>
      <p:sp>
        <p:nvSpPr>
          <p:cNvPr id="4" name="Segnaposto numero diapositiva 3">
            <a:extLst>
              <a:ext uri="{FF2B5EF4-FFF2-40B4-BE49-F238E27FC236}">
                <a16:creationId xmlns:a16="http://schemas.microsoft.com/office/drawing/2014/main" id="{913D277C-F8C7-764F-D3E4-7DEF4E0245C1}"/>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22</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06379BE9-3176-770C-9AEF-5C47B252C29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
        <p:nvSpPr>
          <p:cNvPr id="3" name="Segnaposto contenuto 2">
            <a:extLst>
              <a:ext uri="{FF2B5EF4-FFF2-40B4-BE49-F238E27FC236}">
                <a16:creationId xmlns:a16="http://schemas.microsoft.com/office/drawing/2014/main" id="{4C6927D6-1367-BDFB-89E3-DB0B63CCEA05}"/>
              </a:ext>
            </a:extLst>
          </p:cNvPr>
          <p:cNvSpPr>
            <a:spLocks noGrp="1"/>
          </p:cNvSpPr>
          <p:nvPr>
            <p:ph idx="1"/>
          </p:nvPr>
        </p:nvSpPr>
        <p:spPr>
          <a:xfrm>
            <a:off x="1378634" y="1825625"/>
            <a:ext cx="9434732" cy="4530725"/>
          </a:xfrm>
        </p:spPr>
        <p:txBody>
          <a:bodyPr>
            <a:normAutofit/>
          </a:bodyPr>
          <a:lstStyle/>
          <a:p>
            <a:pPr marL="0" indent="0">
              <a:buNone/>
            </a:pPr>
            <a:r>
              <a:rPr lang="en-US" dirty="0">
                <a:latin typeface="Garamond" panose="02020404030301010803" pitchFamily="18" charset="0"/>
              </a:rPr>
              <a:t>Let’s check if this holds for our example</a:t>
            </a:r>
          </a:p>
          <a:p>
            <a:pPr marL="0" indent="0">
              <a:buNone/>
            </a:pPr>
            <a:endParaRPr lang="en-US" dirty="0">
              <a:latin typeface="Garamond" panose="02020404030301010803" pitchFamily="18" charset="0"/>
            </a:endParaRPr>
          </a:p>
          <a:p>
            <a:pPr marL="0" indent="0" defTabSz="1097280">
              <a:buNone/>
            </a:pPr>
            <a:endParaRPr lang="en-US" dirty="0">
              <a:latin typeface="Garamond" panose="02020404030301010803" pitchFamily="18" charset="0"/>
            </a:endParaRPr>
          </a:p>
        </p:txBody>
      </p:sp>
      <p:pic>
        <p:nvPicPr>
          <p:cNvPr id="8" name="Picture 7">
            <a:extLst>
              <a:ext uri="{FF2B5EF4-FFF2-40B4-BE49-F238E27FC236}">
                <a16:creationId xmlns:a16="http://schemas.microsoft.com/office/drawing/2014/main" id="{092AA198-DF2D-A469-F42C-B480E3EC6B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4768" y="3807818"/>
            <a:ext cx="8632032" cy="387576"/>
          </a:xfrm>
          <a:prstGeom prst="rect">
            <a:avLst/>
          </a:prstGeom>
        </p:spPr>
      </p:pic>
      <p:pic>
        <p:nvPicPr>
          <p:cNvPr id="9" name="Picture 8">
            <a:extLst>
              <a:ext uri="{FF2B5EF4-FFF2-40B4-BE49-F238E27FC236}">
                <a16:creationId xmlns:a16="http://schemas.microsoft.com/office/drawing/2014/main" id="{5C8B532B-47C1-B919-ADC2-4A579E7499FA}"/>
              </a:ext>
            </a:extLst>
          </p:cNvPr>
          <p:cNvPicPr>
            <a:picLocks noChangeAspect="1"/>
          </p:cNvPicPr>
          <p:nvPr/>
        </p:nvPicPr>
        <p:blipFill>
          <a:blip r:embed="rId5"/>
          <a:stretch>
            <a:fillRect/>
          </a:stretch>
        </p:blipFill>
        <p:spPr>
          <a:xfrm>
            <a:off x="1538409" y="4593871"/>
            <a:ext cx="8329491" cy="406307"/>
          </a:xfrm>
          <a:prstGeom prst="rect">
            <a:avLst/>
          </a:prstGeom>
        </p:spPr>
      </p:pic>
      <p:pic>
        <p:nvPicPr>
          <p:cNvPr id="10" name="Picture 9">
            <a:extLst>
              <a:ext uri="{FF2B5EF4-FFF2-40B4-BE49-F238E27FC236}">
                <a16:creationId xmlns:a16="http://schemas.microsoft.com/office/drawing/2014/main" id="{251F0D69-D168-6A03-6217-6EC119076A1C}"/>
              </a:ext>
            </a:extLst>
          </p:cNvPr>
          <p:cNvPicPr>
            <a:picLocks noChangeAspect="1"/>
          </p:cNvPicPr>
          <p:nvPr/>
        </p:nvPicPr>
        <p:blipFill>
          <a:blip r:embed="rId6"/>
          <a:srcRect b="43495"/>
          <a:stretch>
            <a:fillRect/>
          </a:stretch>
        </p:blipFill>
        <p:spPr>
          <a:xfrm>
            <a:off x="1538409" y="5285187"/>
            <a:ext cx="8418391" cy="365126"/>
          </a:xfrm>
          <a:prstGeom prst="rect">
            <a:avLst/>
          </a:prstGeom>
        </p:spPr>
      </p:pic>
      <p:pic>
        <p:nvPicPr>
          <p:cNvPr id="11" name="Picture 10">
            <a:extLst>
              <a:ext uri="{FF2B5EF4-FFF2-40B4-BE49-F238E27FC236}">
                <a16:creationId xmlns:a16="http://schemas.microsoft.com/office/drawing/2014/main" id="{B315E201-60ED-DC33-4C4A-81319F0CC297}"/>
              </a:ext>
            </a:extLst>
          </p:cNvPr>
          <p:cNvPicPr>
            <a:picLocks noChangeAspect="1"/>
          </p:cNvPicPr>
          <p:nvPr/>
        </p:nvPicPr>
        <p:blipFill>
          <a:blip r:embed="rId7"/>
          <a:stretch>
            <a:fillRect/>
          </a:stretch>
        </p:blipFill>
        <p:spPr>
          <a:xfrm>
            <a:off x="1497999" y="2974459"/>
            <a:ext cx="8369901" cy="690115"/>
          </a:xfrm>
          <a:prstGeom prst="rect">
            <a:avLst/>
          </a:prstGeom>
        </p:spPr>
      </p:pic>
      <p:sp>
        <p:nvSpPr>
          <p:cNvPr id="12" name="TextBox 11">
            <a:extLst>
              <a:ext uri="{FF2B5EF4-FFF2-40B4-BE49-F238E27FC236}">
                <a16:creationId xmlns:a16="http://schemas.microsoft.com/office/drawing/2014/main" id="{2FC4ECD1-7FBA-FAD5-320C-06E447FF297B}"/>
              </a:ext>
            </a:extLst>
          </p:cNvPr>
          <p:cNvSpPr txBox="1"/>
          <p:nvPr/>
        </p:nvSpPr>
        <p:spPr>
          <a:xfrm rot="5400000">
            <a:off x="6728564" y="5283084"/>
            <a:ext cx="2832100" cy="369332"/>
          </a:xfrm>
          <a:prstGeom prst="rect">
            <a:avLst/>
          </a:prstGeom>
          <a:noFill/>
        </p:spPr>
        <p:txBody>
          <a:bodyPr wrap="square" rtlCol="0">
            <a:spAutoFit/>
          </a:bodyPr>
          <a:lstStyle/>
          <a:p>
            <a:r>
              <a:rPr lang="en-US" dirty="0"/>
              <a:t>  =             +           = </a:t>
            </a:r>
          </a:p>
        </p:txBody>
      </p:sp>
      <p:pic>
        <p:nvPicPr>
          <p:cNvPr id="13" name="Picture 12">
            <a:extLst>
              <a:ext uri="{FF2B5EF4-FFF2-40B4-BE49-F238E27FC236}">
                <a16:creationId xmlns:a16="http://schemas.microsoft.com/office/drawing/2014/main" id="{1F85055E-5AA6-4310-41BE-4C800D968264}"/>
              </a:ext>
            </a:extLst>
          </p:cNvPr>
          <p:cNvPicPr>
            <a:picLocks noChangeAspect="1"/>
          </p:cNvPicPr>
          <p:nvPr/>
        </p:nvPicPr>
        <p:blipFill>
          <a:blip r:embed="rId6"/>
          <a:srcRect t="43495"/>
          <a:stretch>
            <a:fillRect/>
          </a:stretch>
        </p:blipFill>
        <p:spPr>
          <a:xfrm>
            <a:off x="1538409" y="5999644"/>
            <a:ext cx="8329491" cy="365125"/>
          </a:xfrm>
          <a:prstGeom prst="rect">
            <a:avLst/>
          </a:prstGeom>
        </p:spPr>
      </p:pic>
      <p:sp>
        <p:nvSpPr>
          <p:cNvPr id="14" name="TextBox 13">
            <a:extLst>
              <a:ext uri="{FF2B5EF4-FFF2-40B4-BE49-F238E27FC236}">
                <a16:creationId xmlns:a16="http://schemas.microsoft.com/office/drawing/2014/main" id="{CDBD59A1-FCA6-E1C7-8F7E-3A16F9116134}"/>
              </a:ext>
            </a:extLst>
          </p:cNvPr>
          <p:cNvSpPr txBox="1"/>
          <p:nvPr/>
        </p:nvSpPr>
        <p:spPr>
          <a:xfrm rot="5400000">
            <a:off x="7970607" y="5283084"/>
            <a:ext cx="2832100" cy="369332"/>
          </a:xfrm>
          <a:prstGeom prst="rect">
            <a:avLst/>
          </a:prstGeom>
          <a:noFill/>
        </p:spPr>
        <p:txBody>
          <a:bodyPr wrap="square" rtlCol="0">
            <a:spAutoFit/>
          </a:bodyPr>
          <a:lstStyle/>
          <a:p>
            <a:r>
              <a:rPr lang="en-US" dirty="0"/>
              <a:t>  =             +           = </a:t>
            </a:r>
          </a:p>
        </p:txBody>
      </p:sp>
    </p:spTree>
    <p:extLst>
      <p:ext uri="{BB962C8B-B14F-4D97-AF65-F5344CB8AC3E}">
        <p14:creationId xmlns:p14="http://schemas.microsoft.com/office/powerpoint/2010/main" val="314505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DBF71-2122-9BF6-5A80-5F9369706D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029D5EB-B51A-9568-D735-7E709D2F55A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Small exercise</a:t>
            </a:r>
          </a:p>
        </p:txBody>
      </p:sp>
      <p:sp>
        <p:nvSpPr>
          <p:cNvPr id="4" name="Segnaposto numero diapositiva 3">
            <a:extLst>
              <a:ext uri="{FF2B5EF4-FFF2-40B4-BE49-F238E27FC236}">
                <a16:creationId xmlns:a16="http://schemas.microsoft.com/office/drawing/2014/main" id="{BED9757F-9E7F-9018-605F-2AF3416B8A66}"/>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23</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4206F4F-4C30-5100-9C3C-880A48AC447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
        <p:nvSpPr>
          <p:cNvPr id="3" name="Segnaposto contenuto 2">
            <a:extLst>
              <a:ext uri="{FF2B5EF4-FFF2-40B4-BE49-F238E27FC236}">
                <a16:creationId xmlns:a16="http://schemas.microsoft.com/office/drawing/2014/main" id="{E68D8A7A-DC5B-DC9E-8352-037A980BF964}"/>
              </a:ext>
            </a:extLst>
          </p:cNvPr>
          <p:cNvSpPr>
            <a:spLocks noGrp="1"/>
          </p:cNvSpPr>
          <p:nvPr>
            <p:ph idx="1"/>
          </p:nvPr>
        </p:nvSpPr>
        <p:spPr>
          <a:xfrm>
            <a:off x="1378634" y="1825625"/>
            <a:ext cx="9434732" cy="4530725"/>
          </a:xfrm>
        </p:spPr>
        <p:txBody>
          <a:bodyPr>
            <a:normAutofit lnSpcReduction="10000"/>
          </a:bodyPr>
          <a:lstStyle/>
          <a:p>
            <a:pPr marL="0" indent="0" defTabSz="1097280">
              <a:buNone/>
            </a:pPr>
            <a:r>
              <a:rPr lang="en-US" b="1" dirty="0">
                <a:latin typeface="Garamond" panose="02020404030301010803" pitchFamily="18" charset="0"/>
              </a:rPr>
              <a:t>Duration</a:t>
            </a:r>
            <a:r>
              <a:rPr lang="en-US" dirty="0">
                <a:latin typeface="Garamond" panose="02020404030301010803" pitchFamily="18" charset="0"/>
              </a:rPr>
              <a:t>: 1 min</a:t>
            </a:r>
          </a:p>
          <a:p>
            <a:pPr marL="0" indent="0" defTabSz="1097280">
              <a:buNone/>
            </a:pPr>
            <a:r>
              <a:rPr lang="en-US" b="1" dirty="0">
                <a:latin typeface="Garamond" panose="02020404030301010803" pitchFamily="18" charset="0"/>
              </a:rPr>
              <a:t>With?</a:t>
            </a:r>
            <a:r>
              <a:rPr lang="en-US" dirty="0">
                <a:latin typeface="Garamond" panose="02020404030301010803" pitchFamily="18" charset="0"/>
              </a:rPr>
              <a:t>: Alone or in pairs</a:t>
            </a:r>
          </a:p>
          <a:p>
            <a:pPr marL="0" indent="0" defTabSz="1097280">
              <a:buNone/>
            </a:pPr>
            <a:r>
              <a:rPr lang="en-US" b="1" dirty="0">
                <a:latin typeface="Garamond" panose="02020404030301010803" pitchFamily="18" charset="0"/>
              </a:rPr>
              <a:t>Objective</a:t>
            </a:r>
            <a:r>
              <a:rPr lang="en-US" dirty="0">
                <a:latin typeface="Garamond" panose="02020404030301010803" pitchFamily="18" charset="0"/>
              </a:rPr>
              <a:t>: Learn the accounting equation</a:t>
            </a:r>
          </a:p>
          <a:p>
            <a:r>
              <a:rPr lang="en-US" dirty="0">
                <a:latin typeface="Garamond" panose="02020404030301010803" pitchFamily="18" charset="0"/>
              </a:rPr>
              <a:t>Cash: $15,000</a:t>
            </a:r>
          </a:p>
          <a:p>
            <a:r>
              <a:rPr lang="en-US" dirty="0">
                <a:latin typeface="Garamond" panose="02020404030301010803" pitchFamily="18" charset="0"/>
              </a:rPr>
              <a:t>Accounts Receivable: $5,000</a:t>
            </a:r>
          </a:p>
          <a:p>
            <a:r>
              <a:rPr lang="en-US" dirty="0">
                <a:latin typeface="Garamond" panose="02020404030301010803" pitchFamily="18" charset="0"/>
              </a:rPr>
              <a:t>Equipment: $10,000</a:t>
            </a:r>
          </a:p>
          <a:p>
            <a:r>
              <a:rPr lang="en-US" dirty="0">
                <a:latin typeface="Garamond" panose="02020404030301010803" pitchFamily="18" charset="0"/>
              </a:rPr>
              <a:t>Accounts Payable: $8,000</a:t>
            </a:r>
          </a:p>
          <a:p>
            <a:r>
              <a:rPr lang="en-US" dirty="0">
                <a:latin typeface="Garamond" panose="02020404030301010803" pitchFamily="18" charset="0"/>
              </a:rPr>
              <a:t>Common Stock: _________</a:t>
            </a:r>
          </a:p>
          <a:p>
            <a:pPr marL="0" indent="0" defTabSz="1097280">
              <a:buNone/>
            </a:pPr>
            <a:r>
              <a:rPr lang="en-US" u="sng" dirty="0">
                <a:latin typeface="Garamond" panose="02020404030301010803" pitchFamily="18" charset="0"/>
              </a:rPr>
              <a:t>What is the correct amount for common stock?</a:t>
            </a:r>
          </a:p>
        </p:txBody>
      </p:sp>
    </p:spTree>
    <p:extLst>
      <p:ext uri="{BB962C8B-B14F-4D97-AF65-F5344CB8AC3E}">
        <p14:creationId xmlns:p14="http://schemas.microsoft.com/office/powerpoint/2010/main" val="1095350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C54F-504D-2F99-5B00-200AC1047A5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9E21584-7331-5970-946F-B1A3220469F2}"/>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Small exercise</a:t>
            </a:r>
          </a:p>
        </p:txBody>
      </p:sp>
      <p:sp>
        <p:nvSpPr>
          <p:cNvPr id="4" name="Segnaposto numero diapositiva 3">
            <a:extLst>
              <a:ext uri="{FF2B5EF4-FFF2-40B4-BE49-F238E27FC236}">
                <a16:creationId xmlns:a16="http://schemas.microsoft.com/office/drawing/2014/main" id="{715338C7-890B-FD97-4B98-2F8238335B53}"/>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24</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115AE0F-E22E-9081-2F7B-6EE80AD1705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
        <p:nvSpPr>
          <p:cNvPr id="3" name="Segnaposto contenuto 2">
            <a:extLst>
              <a:ext uri="{FF2B5EF4-FFF2-40B4-BE49-F238E27FC236}">
                <a16:creationId xmlns:a16="http://schemas.microsoft.com/office/drawing/2014/main" id="{06C4E697-515E-12CE-FC3A-B4D6CF523B2E}"/>
              </a:ext>
            </a:extLst>
          </p:cNvPr>
          <p:cNvSpPr>
            <a:spLocks noGrp="1"/>
          </p:cNvSpPr>
          <p:nvPr>
            <p:ph idx="1"/>
          </p:nvPr>
        </p:nvSpPr>
        <p:spPr>
          <a:xfrm>
            <a:off x="1378634" y="1825625"/>
            <a:ext cx="7079566" cy="4530725"/>
          </a:xfrm>
        </p:spPr>
        <p:txBody>
          <a:bodyPr>
            <a:normAutofit lnSpcReduction="10000"/>
          </a:bodyPr>
          <a:lstStyle/>
          <a:p>
            <a:pPr marL="0" indent="0" defTabSz="1097280">
              <a:buNone/>
            </a:pPr>
            <a:r>
              <a:rPr lang="en-US" b="1" dirty="0">
                <a:latin typeface="Garamond" panose="02020404030301010803" pitchFamily="18" charset="0"/>
              </a:rPr>
              <a:t>Duration</a:t>
            </a:r>
            <a:r>
              <a:rPr lang="en-US" dirty="0">
                <a:latin typeface="Garamond" panose="02020404030301010803" pitchFamily="18" charset="0"/>
              </a:rPr>
              <a:t>: 1 min</a:t>
            </a:r>
          </a:p>
          <a:p>
            <a:pPr marL="0" indent="0" defTabSz="1097280">
              <a:buNone/>
            </a:pPr>
            <a:r>
              <a:rPr lang="en-US" b="1" dirty="0">
                <a:latin typeface="Garamond" panose="02020404030301010803" pitchFamily="18" charset="0"/>
              </a:rPr>
              <a:t>With?</a:t>
            </a:r>
            <a:r>
              <a:rPr lang="en-US" dirty="0">
                <a:latin typeface="Garamond" panose="02020404030301010803" pitchFamily="18" charset="0"/>
              </a:rPr>
              <a:t>: Alone or in pairs</a:t>
            </a:r>
          </a:p>
          <a:p>
            <a:pPr marL="0" indent="0" defTabSz="1097280">
              <a:buNone/>
            </a:pPr>
            <a:r>
              <a:rPr lang="en-US" b="1" dirty="0">
                <a:latin typeface="Garamond" panose="02020404030301010803" pitchFamily="18" charset="0"/>
              </a:rPr>
              <a:t>Objective</a:t>
            </a:r>
            <a:r>
              <a:rPr lang="en-US" dirty="0">
                <a:latin typeface="Garamond" panose="02020404030301010803" pitchFamily="18" charset="0"/>
              </a:rPr>
              <a:t>: Learn the accounting equation</a:t>
            </a:r>
          </a:p>
          <a:p>
            <a:r>
              <a:rPr lang="en-US" dirty="0">
                <a:latin typeface="Garamond" panose="02020404030301010803" pitchFamily="18" charset="0"/>
              </a:rPr>
              <a:t>Cash: $15,000</a:t>
            </a:r>
          </a:p>
          <a:p>
            <a:r>
              <a:rPr lang="en-US" dirty="0">
                <a:latin typeface="Garamond" panose="02020404030301010803" pitchFamily="18" charset="0"/>
              </a:rPr>
              <a:t>Accounts Receivable: $5,000</a:t>
            </a:r>
          </a:p>
          <a:p>
            <a:r>
              <a:rPr lang="en-US" dirty="0">
                <a:latin typeface="Garamond" panose="02020404030301010803" pitchFamily="18" charset="0"/>
              </a:rPr>
              <a:t>Equipment: $10,000</a:t>
            </a:r>
          </a:p>
          <a:p>
            <a:r>
              <a:rPr lang="en-US" dirty="0">
                <a:latin typeface="Garamond" panose="02020404030301010803" pitchFamily="18" charset="0"/>
              </a:rPr>
              <a:t>Accounts Payable: $8,000</a:t>
            </a:r>
          </a:p>
          <a:p>
            <a:r>
              <a:rPr lang="en-US" dirty="0">
                <a:latin typeface="Garamond" panose="02020404030301010803" pitchFamily="18" charset="0"/>
              </a:rPr>
              <a:t>Common Stock: $22,000</a:t>
            </a:r>
          </a:p>
          <a:p>
            <a:pPr marL="0" indent="0" defTabSz="1097280">
              <a:buNone/>
            </a:pPr>
            <a:r>
              <a:rPr lang="en-US" u="sng" dirty="0">
                <a:latin typeface="Garamond" panose="02020404030301010803" pitchFamily="18" charset="0"/>
              </a:rPr>
              <a:t>What is the correct amount for common stock?</a:t>
            </a:r>
          </a:p>
        </p:txBody>
      </p:sp>
      <p:sp>
        <p:nvSpPr>
          <p:cNvPr id="7" name="TextBox 6">
            <a:extLst>
              <a:ext uri="{FF2B5EF4-FFF2-40B4-BE49-F238E27FC236}">
                <a16:creationId xmlns:a16="http://schemas.microsoft.com/office/drawing/2014/main" id="{85739ED5-80DC-7300-6290-185B2C1BB4AA}"/>
              </a:ext>
            </a:extLst>
          </p:cNvPr>
          <p:cNvSpPr txBox="1"/>
          <p:nvPr/>
        </p:nvSpPr>
        <p:spPr>
          <a:xfrm>
            <a:off x="5810250" y="3608943"/>
            <a:ext cx="6610350" cy="1569660"/>
          </a:xfrm>
          <a:prstGeom prst="rect">
            <a:avLst/>
          </a:prstGeom>
          <a:noFill/>
        </p:spPr>
        <p:txBody>
          <a:bodyPr wrap="square">
            <a:spAutoFit/>
          </a:bodyPr>
          <a:lstStyle/>
          <a:p>
            <a:r>
              <a:rPr lang="en-US" sz="2400" dirty="0">
                <a:latin typeface="Garamond" panose="02020404030301010803" pitchFamily="18" charset="0"/>
              </a:rPr>
              <a:t>Total Assets = 15,000 + 5,000 + 10,000 = 30,000</a:t>
            </a:r>
          </a:p>
          <a:p>
            <a:endParaRPr lang="en-US" sz="2400" dirty="0">
              <a:latin typeface="Garamond" panose="02020404030301010803" pitchFamily="18" charset="0"/>
            </a:endParaRPr>
          </a:p>
          <a:p>
            <a:r>
              <a:rPr lang="en-US" sz="2400" dirty="0">
                <a:latin typeface="Garamond" panose="02020404030301010803" pitchFamily="18" charset="0"/>
              </a:rPr>
              <a:t>Equity = Assets – Liabilities</a:t>
            </a:r>
          </a:p>
          <a:p>
            <a:r>
              <a:rPr lang="en-US" sz="2400" dirty="0">
                <a:latin typeface="Garamond" panose="02020404030301010803" pitchFamily="18" charset="0"/>
              </a:rPr>
              <a:t>Equity (common stock) = 30,000 – 8,000 = 22,000</a:t>
            </a:r>
          </a:p>
        </p:txBody>
      </p:sp>
    </p:spTree>
    <p:extLst>
      <p:ext uri="{BB962C8B-B14F-4D97-AF65-F5344CB8AC3E}">
        <p14:creationId xmlns:p14="http://schemas.microsoft.com/office/powerpoint/2010/main" val="1920372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043C4-BB8B-619F-56FD-2FA2C84F0AE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DAE849A-F272-894B-FF26-FD9B0B93D65F}"/>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accounting equation</a:t>
            </a:r>
          </a:p>
        </p:txBody>
      </p:sp>
      <p:sp>
        <p:nvSpPr>
          <p:cNvPr id="4" name="Segnaposto numero diapositiva 3">
            <a:extLst>
              <a:ext uri="{FF2B5EF4-FFF2-40B4-BE49-F238E27FC236}">
                <a16:creationId xmlns:a16="http://schemas.microsoft.com/office/drawing/2014/main" id="{B856234C-6274-E92E-F461-B47B98B03B5B}"/>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25</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9530F344-AFA9-234D-3FBE-BCCE1B0A9FE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graphicFrame>
        <p:nvGraphicFramePr>
          <p:cNvPr id="7" name="Content Placeholder 4">
            <a:extLst>
              <a:ext uri="{FF2B5EF4-FFF2-40B4-BE49-F238E27FC236}">
                <a16:creationId xmlns:a16="http://schemas.microsoft.com/office/drawing/2014/main" id="{7AE00752-A8EE-076A-5C01-A6C3266723A5}"/>
              </a:ext>
            </a:extLst>
          </p:cNvPr>
          <p:cNvGraphicFramePr>
            <a:graphicFrameLocks/>
          </p:cNvGraphicFramePr>
          <p:nvPr>
            <p:extLst>
              <p:ext uri="{D42A27DB-BD31-4B8C-83A1-F6EECF244321}">
                <p14:modId xmlns:p14="http://schemas.microsoft.com/office/powerpoint/2010/main" val="439284591"/>
              </p:ext>
            </p:extLst>
          </p:nvPr>
        </p:nvGraphicFramePr>
        <p:xfrm>
          <a:off x="1378634" y="1690688"/>
          <a:ext cx="9975165" cy="3313231"/>
        </p:xfrm>
        <a:graphic>
          <a:graphicData uri="http://schemas.openxmlformats.org/drawingml/2006/table">
            <a:tbl>
              <a:tblPr firstRow="1" bandRow="1"/>
              <a:tblGrid>
                <a:gridCol w="2319806">
                  <a:extLst>
                    <a:ext uri="{9D8B030D-6E8A-4147-A177-3AD203B41FA5}">
                      <a16:colId xmlns:a16="http://schemas.microsoft.com/office/drawing/2014/main" val="20000"/>
                    </a:ext>
                  </a:extLst>
                </a:gridCol>
                <a:gridCol w="463961">
                  <a:extLst>
                    <a:ext uri="{9D8B030D-6E8A-4147-A177-3AD203B41FA5}">
                      <a16:colId xmlns:a16="http://schemas.microsoft.com/office/drawing/2014/main" val="20001"/>
                    </a:ext>
                  </a:extLst>
                </a:gridCol>
                <a:gridCol w="2783767">
                  <a:extLst>
                    <a:ext uri="{9D8B030D-6E8A-4147-A177-3AD203B41FA5}">
                      <a16:colId xmlns:a16="http://schemas.microsoft.com/office/drawing/2014/main" val="20002"/>
                    </a:ext>
                  </a:extLst>
                </a:gridCol>
                <a:gridCol w="463961">
                  <a:extLst>
                    <a:ext uri="{9D8B030D-6E8A-4147-A177-3AD203B41FA5}">
                      <a16:colId xmlns:a16="http://schemas.microsoft.com/office/drawing/2014/main" val="20003"/>
                    </a:ext>
                  </a:extLst>
                </a:gridCol>
                <a:gridCol w="3943670">
                  <a:extLst>
                    <a:ext uri="{9D8B030D-6E8A-4147-A177-3AD203B41FA5}">
                      <a16:colId xmlns:a16="http://schemas.microsoft.com/office/drawing/2014/main" val="20004"/>
                    </a:ext>
                  </a:extLst>
                </a:gridCol>
              </a:tblGrid>
              <a:tr h="2217596">
                <a:tc gridSpan="5">
                  <a:txBody>
                    <a:bodyPr/>
                    <a:lstStyle/>
                    <a:p>
                      <a:pPr marL="0" indent="0">
                        <a:lnSpc>
                          <a:spcPct val="100000"/>
                        </a:lnSpc>
                        <a:buSzPct val="100000"/>
                        <a:buFont typeface="Arial" panose="020B0604020202020204" pitchFamily="34" charset="0"/>
                        <a:buNone/>
                      </a:pPr>
                      <a:r>
                        <a:rPr lang="en-US" sz="2800" dirty="0">
                          <a:latin typeface="Garamond" panose="02020404030301010803" pitchFamily="18" charset="0"/>
                        </a:rPr>
                        <a:t>The accounting equation must hold in any balance sheet of any entity at any point in time.</a:t>
                      </a:r>
                    </a:p>
                    <a:p>
                      <a:pPr marL="0" indent="0">
                        <a:lnSpc>
                          <a:spcPct val="100000"/>
                        </a:lnSpc>
                        <a:buSzPct val="100000"/>
                        <a:buFont typeface="Arial" panose="020B0604020202020204" pitchFamily="34" charset="0"/>
                        <a:buNone/>
                      </a:pPr>
                      <a:endParaRPr lang="en-US" sz="2800" dirty="0">
                        <a:latin typeface="Garamond" panose="02020404030301010803" pitchFamily="18" charset="0"/>
                      </a:endParaRPr>
                    </a:p>
                    <a:p>
                      <a:pPr marL="0" indent="0">
                        <a:lnSpc>
                          <a:spcPct val="100000"/>
                        </a:lnSpc>
                        <a:buSzPct val="100000"/>
                        <a:buFont typeface="Arial" panose="020B0604020202020204" pitchFamily="34" charset="0"/>
                        <a:buNone/>
                      </a:pPr>
                      <a:r>
                        <a:rPr lang="en-US" sz="2800" dirty="0">
                          <a:latin typeface="Garamond" panose="02020404030301010803" pitchFamily="18" charset="0"/>
                        </a:rPr>
                        <a:t>Then the accounting equation must then hold for </a:t>
                      </a:r>
                      <a:r>
                        <a:rPr lang="en-US" sz="2800" b="1" u="none" dirty="0">
                          <a:latin typeface="Garamond" panose="02020404030301010803" pitchFamily="18" charset="0"/>
                        </a:rPr>
                        <a:t>changes</a:t>
                      </a:r>
                      <a:r>
                        <a:rPr lang="en-US" sz="2800" dirty="0">
                          <a:latin typeface="Garamond" panose="02020404030301010803" pitchFamily="18" charset="0"/>
                        </a:rPr>
                        <a:t> made to the balance sheet. (Why?)</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lang="en-US" sz="1800" b="0" dirty="0"/>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09071">
                <a:tc>
                  <a:txBody>
                    <a:bodyPr/>
                    <a:lstStyle/>
                    <a:p>
                      <a:pPr algn="ctr">
                        <a:lnSpc>
                          <a:spcPct val="100000"/>
                        </a:lnSpc>
                      </a:pPr>
                      <a:endParaRPr lang="en-US" sz="20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20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20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20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endParaRPr lang="en-US" sz="2000" b="0" dirty="0">
                        <a:latin typeface="Garamond" panose="02020404030301010803" pitchFamily="18" charset="0"/>
                      </a:endParaRP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09071">
                <a:tc>
                  <a:txBody>
                    <a:bodyPr/>
                    <a:lstStyle/>
                    <a:p>
                      <a:pPr algn="ctr">
                        <a:lnSpc>
                          <a:spcPct val="100000"/>
                        </a:lnSpc>
                      </a:pPr>
                      <a:r>
                        <a:rPr lang="el-GR" sz="3200" b="1" dirty="0">
                          <a:latin typeface="Garamond" panose="02020404030301010803" pitchFamily="18" charset="0"/>
                        </a:rPr>
                        <a:t>Δ</a:t>
                      </a:r>
                      <a:r>
                        <a:rPr lang="en-US" sz="3200" b="1" baseline="0" dirty="0">
                          <a:latin typeface="Garamond" panose="02020404030301010803" pitchFamily="18" charset="0"/>
                        </a:rPr>
                        <a:t> </a:t>
                      </a:r>
                      <a:r>
                        <a:rPr lang="en-US" sz="3200" b="1" dirty="0">
                          <a:latin typeface="Garamond" panose="02020404030301010803" pitchFamily="18" charset="0"/>
                        </a:rPr>
                        <a:t>Assets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n-US" sz="3200" b="1" dirty="0">
                          <a:latin typeface="Garamond" panose="02020404030301010803" pitchFamily="18" charset="0"/>
                        </a:rPr>
                        <a: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l-GR" sz="3200" b="1" dirty="0">
                          <a:latin typeface="Garamond" panose="02020404030301010803" pitchFamily="18" charset="0"/>
                        </a:rPr>
                        <a:t>Δ</a:t>
                      </a:r>
                      <a:r>
                        <a:rPr lang="en-US" sz="3200" b="1" baseline="0" dirty="0">
                          <a:latin typeface="Garamond" panose="02020404030301010803" pitchFamily="18" charset="0"/>
                        </a:rPr>
                        <a:t> </a:t>
                      </a:r>
                      <a:r>
                        <a:rPr lang="en-US" sz="3200" b="1" dirty="0">
                          <a:latin typeface="Garamond" panose="02020404030301010803" pitchFamily="18" charset="0"/>
                        </a:rPr>
                        <a:t>Liabilities</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n-US" sz="3200" b="1" dirty="0">
                          <a:latin typeface="Garamond" panose="02020404030301010803" pitchFamily="18" charset="0"/>
                        </a:rPr>
                        <a:t>+</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lnSpc>
                          <a:spcPct val="100000"/>
                        </a:lnSpc>
                      </a:pPr>
                      <a:r>
                        <a:rPr lang="el-GR" sz="3200" b="1" dirty="0">
                          <a:latin typeface="Garamond" panose="02020404030301010803" pitchFamily="18" charset="0"/>
                        </a:rPr>
                        <a:t>Δ</a:t>
                      </a:r>
                      <a:r>
                        <a:rPr lang="en-US" sz="3200" b="1" baseline="0" dirty="0">
                          <a:latin typeface="Garamond" panose="02020404030301010803" pitchFamily="18" charset="0"/>
                        </a:rPr>
                        <a:t> </a:t>
                      </a:r>
                      <a:r>
                        <a:rPr lang="en-US" sz="3200" b="1" dirty="0">
                          <a:latin typeface="Garamond" panose="02020404030301010803" pitchFamily="18" charset="0"/>
                        </a:rPr>
                        <a:t>Owners’ Equity</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47263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6920A-E3C0-5659-E42C-E9309A02DC8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3962AC-0DC0-7B5A-E74C-F9C827443713}"/>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accounting equation</a:t>
            </a:r>
          </a:p>
        </p:txBody>
      </p:sp>
      <p:sp>
        <p:nvSpPr>
          <p:cNvPr id="4" name="Segnaposto numero diapositiva 3">
            <a:extLst>
              <a:ext uri="{FF2B5EF4-FFF2-40B4-BE49-F238E27FC236}">
                <a16:creationId xmlns:a16="http://schemas.microsoft.com/office/drawing/2014/main" id="{466FA5D7-4246-C1B8-A448-F4A702F61FE6}"/>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26</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A1CAF34-EB93-B50E-B4E9-5F424C953C5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
        <p:nvSpPr>
          <p:cNvPr id="3" name="Segnaposto contenuto 2">
            <a:extLst>
              <a:ext uri="{FF2B5EF4-FFF2-40B4-BE49-F238E27FC236}">
                <a16:creationId xmlns:a16="http://schemas.microsoft.com/office/drawing/2014/main" id="{495D2E97-3693-6D91-B04B-42D6BF76CD4E}"/>
              </a:ext>
            </a:extLst>
          </p:cNvPr>
          <p:cNvSpPr>
            <a:spLocks noGrp="1"/>
          </p:cNvSpPr>
          <p:nvPr>
            <p:ph idx="1"/>
          </p:nvPr>
        </p:nvSpPr>
        <p:spPr>
          <a:xfrm>
            <a:off x="1378634" y="1825625"/>
            <a:ext cx="9434732" cy="4530725"/>
          </a:xfrm>
        </p:spPr>
        <p:txBody>
          <a:bodyPr>
            <a:normAutofit/>
          </a:bodyPr>
          <a:lstStyle/>
          <a:p>
            <a:pPr marL="0" indent="0">
              <a:buNone/>
            </a:pPr>
            <a:r>
              <a:rPr lang="en-US" dirty="0">
                <a:latin typeface="Garamond" panose="02020404030301010803" pitchFamily="18" charset="0"/>
              </a:rPr>
              <a:t>Let’s check if changes also hold for our example</a:t>
            </a:r>
          </a:p>
          <a:p>
            <a:pPr marL="0" indent="0">
              <a:buNone/>
            </a:pPr>
            <a:endParaRPr lang="en-US" dirty="0">
              <a:latin typeface="Garamond" panose="02020404030301010803" pitchFamily="18" charset="0"/>
            </a:endParaRPr>
          </a:p>
          <a:p>
            <a:pPr marL="0" indent="0" defTabSz="1097280">
              <a:buNone/>
            </a:pPr>
            <a:endParaRPr lang="en-US" dirty="0">
              <a:latin typeface="Garamond" panose="02020404030301010803" pitchFamily="18" charset="0"/>
            </a:endParaRPr>
          </a:p>
        </p:txBody>
      </p:sp>
      <p:pic>
        <p:nvPicPr>
          <p:cNvPr id="8" name="Picture 7">
            <a:extLst>
              <a:ext uri="{FF2B5EF4-FFF2-40B4-BE49-F238E27FC236}">
                <a16:creationId xmlns:a16="http://schemas.microsoft.com/office/drawing/2014/main" id="{05EA00C4-3149-D140-FDED-74456C9890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4768" y="3807818"/>
            <a:ext cx="8632032" cy="387576"/>
          </a:xfrm>
          <a:prstGeom prst="rect">
            <a:avLst/>
          </a:prstGeom>
        </p:spPr>
      </p:pic>
      <p:pic>
        <p:nvPicPr>
          <p:cNvPr id="9" name="Picture 8">
            <a:extLst>
              <a:ext uri="{FF2B5EF4-FFF2-40B4-BE49-F238E27FC236}">
                <a16:creationId xmlns:a16="http://schemas.microsoft.com/office/drawing/2014/main" id="{5E887DC4-E09C-5C28-9362-2CEEA08E6E83}"/>
              </a:ext>
            </a:extLst>
          </p:cNvPr>
          <p:cNvPicPr>
            <a:picLocks noChangeAspect="1"/>
          </p:cNvPicPr>
          <p:nvPr/>
        </p:nvPicPr>
        <p:blipFill>
          <a:blip r:embed="rId5"/>
          <a:stretch>
            <a:fillRect/>
          </a:stretch>
        </p:blipFill>
        <p:spPr>
          <a:xfrm>
            <a:off x="1538409" y="4593871"/>
            <a:ext cx="8329491" cy="406307"/>
          </a:xfrm>
          <a:prstGeom prst="rect">
            <a:avLst/>
          </a:prstGeom>
        </p:spPr>
      </p:pic>
      <p:pic>
        <p:nvPicPr>
          <p:cNvPr id="10" name="Picture 9">
            <a:extLst>
              <a:ext uri="{FF2B5EF4-FFF2-40B4-BE49-F238E27FC236}">
                <a16:creationId xmlns:a16="http://schemas.microsoft.com/office/drawing/2014/main" id="{D804398C-2C6B-46CE-2F50-EB72144AE79E}"/>
              </a:ext>
            </a:extLst>
          </p:cNvPr>
          <p:cNvPicPr>
            <a:picLocks noChangeAspect="1"/>
          </p:cNvPicPr>
          <p:nvPr/>
        </p:nvPicPr>
        <p:blipFill>
          <a:blip r:embed="rId6"/>
          <a:srcRect b="43495"/>
          <a:stretch>
            <a:fillRect/>
          </a:stretch>
        </p:blipFill>
        <p:spPr>
          <a:xfrm>
            <a:off x="1538409" y="5285187"/>
            <a:ext cx="8329491" cy="365126"/>
          </a:xfrm>
          <a:prstGeom prst="rect">
            <a:avLst/>
          </a:prstGeom>
        </p:spPr>
      </p:pic>
      <p:pic>
        <p:nvPicPr>
          <p:cNvPr id="11" name="Picture 10">
            <a:extLst>
              <a:ext uri="{FF2B5EF4-FFF2-40B4-BE49-F238E27FC236}">
                <a16:creationId xmlns:a16="http://schemas.microsoft.com/office/drawing/2014/main" id="{53F26558-8A0D-282E-D2B7-BACEC3489033}"/>
              </a:ext>
            </a:extLst>
          </p:cNvPr>
          <p:cNvPicPr>
            <a:picLocks noChangeAspect="1"/>
          </p:cNvPicPr>
          <p:nvPr/>
        </p:nvPicPr>
        <p:blipFill>
          <a:blip r:embed="rId7"/>
          <a:stretch>
            <a:fillRect/>
          </a:stretch>
        </p:blipFill>
        <p:spPr>
          <a:xfrm>
            <a:off x="1497999" y="2974459"/>
            <a:ext cx="8369901" cy="690115"/>
          </a:xfrm>
          <a:prstGeom prst="rect">
            <a:avLst/>
          </a:prstGeom>
        </p:spPr>
      </p:pic>
      <p:sp>
        <p:nvSpPr>
          <p:cNvPr id="12" name="TextBox 11">
            <a:extLst>
              <a:ext uri="{FF2B5EF4-FFF2-40B4-BE49-F238E27FC236}">
                <a16:creationId xmlns:a16="http://schemas.microsoft.com/office/drawing/2014/main" id="{DE333C37-55EC-CBBD-B667-8C3A8FB94E08}"/>
              </a:ext>
            </a:extLst>
          </p:cNvPr>
          <p:cNvSpPr txBox="1"/>
          <p:nvPr/>
        </p:nvSpPr>
        <p:spPr>
          <a:xfrm rot="5400000">
            <a:off x="6728564" y="5283084"/>
            <a:ext cx="2832100" cy="369332"/>
          </a:xfrm>
          <a:prstGeom prst="rect">
            <a:avLst/>
          </a:prstGeom>
          <a:noFill/>
        </p:spPr>
        <p:txBody>
          <a:bodyPr wrap="square" rtlCol="0">
            <a:spAutoFit/>
          </a:bodyPr>
          <a:lstStyle/>
          <a:p>
            <a:r>
              <a:rPr lang="en-US" dirty="0"/>
              <a:t>  =             +           = </a:t>
            </a:r>
          </a:p>
        </p:txBody>
      </p:sp>
      <p:pic>
        <p:nvPicPr>
          <p:cNvPr id="13" name="Picture 12">
            <a:extLst>
              <a:ext uri="{FF2B5EF4-FFF2-40B4-BE49-F238E27FC236}">
                <a16:creationId xmlns:a16="http://schemas.microsoft.com/office/drawing/2014/main" id="{6AFC370F-CFBC-22B5-2D1E-05E97B625E8A}"/>
              </a:ext>
            </a:extLst>
          </p:cNvPr>
          <p:cNvPicPr>
            <a:picLocks noChangeAspect="1"/>
          </p:cNvPicPr>
          <p:nvPr/>
        </p:nvPicPr>
        <p:blipFill>
          <a:blip r:embed="rId6"/>
          <a:srcRect t="43495"/>
          <a:stretch>
            <a:fillRect/>
          </a:stretch>
        </p:blipFill>
        <p:spPr>
          <a:xfrm>
            <a:off x="1538409" y="5999644"/>
            <a:ext cx="8329491" cy="365125"/>
          </a:xfrm>
          <a:prstGeom prst="rect">
            <a:avLst/>
          </a:prstGeom>
        </p:spPr>
      </p:pic>
      <p:sp>
        <p:nvSpPr>
          <p:cNvPr id="14" name="TextBox 13">
            <a:extLst>
              <a:ext uri="{FF2B5EF4-FFF2-40B4-BE49-F238E27FC236}">
                <a16:creationId xmlns:a16="http://schemas.microsoft.com/office/drawing/2014/main" id="{A798A4E7-7601-3F40-C11D-38BBECECEA7A}"/>
              </a:ext>
            </a:extLst>
          </p:cNvPr>
          <p:cNvSpPr txBox="1"/>
          <p:nvPr/>
        </p:nvSpPr>
        <p:spPr>
          <a:xfrm rot="5400000">
            <a:off x="7970607" y="5283084"/>
            <a:ext cx="2832100" cy="369332"/>
          </a:xfrm>
          <a:prstGeom prst="rect">
            <a:avLst/>
          </a:prstGeom>
          <a:noFill/>
        </p:spPr>
        <p:txBody>
          <a:bodyPr wrap="square" rtlCol="0">
            <a:spAutoFit/>
          </a:bodyPr>
          <a:lstStyle/>
          <a:p>
            <a:r>
              <a:rPr lang="en-US" dirty="0"/>
              <a:t>  =             +           = </a:t>
            </a:r>
          </a:p>
        </p:txBody>
      </p:sp>
      <p:sp>
        <p:nvSpPr>
          <p:cNvPr id="15" name="TextBox 14">
            <a:extLst>
              <a:ext uri="{FF2B5EF4-FFF2-40B4-BE49-F238E27FC236}">
                <a16:creationId xmlns:a16="http://schemas.microsoft.com/office/drawing/2014/main" id="{23B11B86-3161-9E0C-D378-CA79A3493D30}"/>
              </a:ext>
            </a:extLst>
          </p:cNvPr>
          <p:cNvSpPr txBox="1"/>
          <p:nvPr/>
        </p:nvSpPr>
        <p:spPr>
          <a:xfrm>
            <a:off x="10426700" y="3124200"/>
            <a:ext cx="1193800" cy="369332"/>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9FC8967E-85F4-FCC6-48F8-A92CA226BC8E}"/>
              </a:ext>
            </a:extLst>
          </p:cNvPr>
          <p:cNvSpPr txBox="1"/>
          <p:nvPr/>
        </p:nvSpPr>
        <p:spPr>
          <a:xfrm>
            <a:off x="10536799" y="3124200"/>
            <a:ext cx="1498600" cy="369332"/>
          </a:xfrm>
          <a:prstGeom prst="rect">
            <a:avLst/>
          </a:prstGeom>
          <a:noFill/>
        </p:spPr>
        <p:txBody>
          <a:bodyPr wrap="square" rtlCol="0">
            <a:spAutoFit/>
          </a:bodyPr>
          <a:lstStyle/>
          <a:p>
            <a:r>
              <a:rPr lang="en-US" dirty="0" err="1"/>
              <a:t>Δ</a:t>
            </a:r>
            <a:r>
              <a:rPr lang="en-US" dirty="0"/>
              <a:t> = changes</a:t>
            </a:r>
          </a:p>
        </p:txBody>
      </p:sp>
      <p:sp>
        <p:nvSpPr>
          <p:cNvPr id="7" name="TextBox 6">
            <a:extLst>
              <a:ext uri="{FF2B5EF4-FFF2-40B4-BE49-F238E27FC236}">
                <a16:creationId xmlns:a16="http://schemas.microsoft.com/office/drawing/2014/main" id="{EF03F393-A6AD-3F16-18D7-13098CB3DF46}"/>
              </a:ext>
            </a:extLst>
          </p:cNvPr>
          <p:cNvSpPr txBox="1"/>
          <p:nvPr/>
        </p:nvSpPr>
        <p:spPr>
          <a:xfrm>
            <a:off x="8550894" y="3764917"/>
            <a:ext cx="3171205" cy="369332"/>
          </a:xfrm>
          <a:prstGeom prst="rect">
            <a:avLst/>
          </a:prstGeom>
          <a:noFill/>
        </p:spPr>
        <p:txBody>
          <a:bodyPr wrap="square" rtlCol="0">
            <a:spAutoFit/>
          </a:bodyPr>
          <a:lstStyle/>
          <a:p>
            <a:r>
              <a:rPr lang="en-US" dirty="0"/>
              <a:t>-                             =            4,469</a:t>
            </a:r>
          </a:p>
        </p:txBody>
      </p:sp>
      <p:sp>
        <p:nvSpPr>
          <p:cNvPr id="16" name="TextBox 15">
            <a:extLst>
              <a:ext uri="{FF2B5EF4-FFF2-40B4-BE49-F238E27FC236}">
                <a16:creationId xmlns:a16="http://schemas.microsoft.com/office/drawing/2014/main" id="{5ACA05C9-FB93-1B4A-A557-35F1FCA78D8F}"/>
              </a:ext>
            </a:extLst>
          </p:cNvPr>
          <p:cNvSpPr txBox="1"/>
          <p:nvPr/>
        </p:nvSpPr>
        <p:spPr>
          <a:xfrm>
            <a:off x="8512794" y="4565391"/>
            <a:ext cx="3171205" cy="369332"/>
          </a:xfrm>
          <a:prstGeom prst="rect">
            <a:avLst/>
          </a:prstGeom>
          <a:noFill/>
        </p:spPr>
        <p:txBody>
          <a:bodyPr wrap="square" rtlCol="0">
            <a:spAutoFit/>
          </a:bodyPr>
          <a:lstStyle/>
          <a:p>
            <a:r>
              <a:rPr lang="en-US" dirty="0"/>
              <a:t>-                             =            3,331</a:t>
            </a:r>
          </a:p>
        </p:txBody>
      </p:sp>
      <p:sp>
        <p:nvSpPr>
          <p:cNvPr id="17" name="TextBox 16">
            <a:extLst>
              <a:ext uri="{FF2B5EF4-FFF2-40B4-BE49-F238E27FC236}">
                <a16:creationId xmlns:a16="http://schemas.microsoft.com/office/drawing/2014/main" id="{D34EAC00-FCC9-8981-E9A2-A43648484DEC}"/>
              </a:ext>
            </a:extLst>
          </p:cNvPr>
          <p:cNvSpPr txBox="1"/>
          <p:nvPr/>
        </p:nvSpPr>
        <p:spPr>
          <a:xfrm>
            <a:off x="8512794" y="5241330"/>
            <a:ext cx="3171205" cy="369332"/>
          </a:xfrm>
          <a:prstGeom prst="rect">
            <a:avLst/>
          </a:prstGeom>
          <a:noFill/>
        </p:spPr>
        <p:txBody>
          <a:bodyPr wrap="square" rtlCol="0">
            <a:spAutoFit/>
          </a:bodyPr>
          <a:lstStyle/>
          <a:p>
            <a:r>
              <a:rPr lang="en-US" dirty="0"/>
              <a:t>-                             =            1,138</a:t>
            </a:r>
          </a:p>
        </p:txBody>
      </p:sp>
      <p:sp>
        <p:nvSpPr>
          <p:cNvPr id="18" name="TextBox 17">
            <a:extLst>
              <a:ext uri="{FF2B5EF4-FFF2-40B4-BE49-F238E27FC236}">
                <a16:creationId xmlns:a16="http://schemas.microsoft.com/office/drawing/2014/main" id="{F14DD23C-2C06-1719-4710-21A2499145CF}"/>
              </a:ext>
            </a:extLst>
          </p:cNvPr>
          <p:cNvSpPr txBox="1"/>
          <p:nvPr/>
        </p:nvSpPr>
        <p:spPr>
          <a:xfrm rot="5400000">
            <a:off x="9799407" y="5321184"/>
            <a:ext cx="2832100" cy="369332"/>
          </a:xfrm>
          <a:prstGeom prst="rect">
            <a:avLst/>
          </a:prstGeom>
          <a:noFill/>
        </p:spPr>
        <p:txBody>
          <a:bodyPr wrap="square" rtlCol="0">
            <a:spAutoFit/>
          </a:bodyPr>
          <a:lstStyle/>
          <a:p>
            <a:r>
              <a:rPr lang="en-US" dirty="0"/>
              <a:t>  =             +           = </a:t>
            </a:r>
          </a:p>
        </p:txBody>
      </p:sp>
      <p:sp>
        <p:nvSpPr>
          <p:cNvPr id="19" name="TextBox 18">
            <a:extLst>
              <a:ext uri="{FF2B5EF4-FFF2-40B4-BE49-F238E27FC236}">
                <a16:creationId xmlns:a16="http://schemas.microsoft.com/office/drawing/2014/main" id="{15BB5099-E21E-361F-74EC-7E74BF25FFC3}"/>
              </a:ext>
            </a:extLst>
          </p:cNvPr>
          <p:cNvSpPr txBox="1"/>
          <p:nvPr/>
        </p:nvSpPr>
        <p:spPr>
          <a:xfrm>
            <a:off x="8500094" y="5965230"/>
            <a:ext cx="3171205" cy="369332"/>
          </a:xfrm>
          <a:prstGeom prst="rect">
            <a:avLst/>
          </a:prstGeom>
          <a:noFill/>
        </p:spPr>
        <p:txBody>
          <a:bodyPr wrap="square" rtlCol="0">
            <a:spAutoFit/>
          </a:bodyPr>
          <a:lstStyle/>
          <a:p>
            <a:r>
              <a:rPr lang="en-US" dirty="0"/>
              <a:t>-                             =            4,469</a:t>
            </a:r>
          </a:p>
        </p:txBody>
      </p:sp>
    </p:spTree>
    <p:extLst>
      <p:ext uri="{BB962C8B-B14F-4D97-AF65-F5344CB8AC3E}">
        <p14:creationId xmlns:p14="http://schemas.microsoft.com/office/powerpoint/2010/main" val="226473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P spid="17" grpId="0"/>
      <p:bldP spid="18" grpId="0"/>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51DC-C7DB-E6E7-4922-807443177E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B45696F-574D-9970-9C30-2CA7DA61E8DE}"/>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rest of the statements …</a:t>
            </a:r>
          </a:p>
        </p:txBody>
      </p:sp>
      <p:sp>
        <p:nvSpPr>
          <p:cNvPr id="3" name="Segnaposto contenuto 2">
            <a:extLst>
              <a:ext uri="{FF2B5EF4-FFF2-40B4-BE49-F238E27FC236}">
                <a16:creationId xmlns:a16="http://schemas.microsoft.com/office/drawing/2014/main" id="{20759F53-2434-4BE5-6CD5-AC105E1DDA7C}"/>
              </a:ext>
            </a:extLst>
          </p:cNvPr>
          <p:cNvSpPr>
            <a:spLocks noGrp="1"/>
          </p:cNvSpPr>
          <p:nvPr>
            <p:ph idx="1"/>
          </p:nvPr>
        </p:nvSpPr>
        <p:spPr>
          <a:xfrm>
            <a:off x="1378634" y="1825625"/>
            <a:ext cx="9434732" cy="4530725"/>
          </a:xfrm>
        </p:spPr>
        <p:txBody>
          <a:bodyPr>
            <a:normAutofit fontScale="92500" lnSpcReduction="10000"/>
          </a:bodyPr>
          <a:lstStyle/>
          <a:p>
            <a:pPr marL="0" indent="0">
              <a:buNone/>
            </a:pPr>
            <a:r>
              <a:rPr lang="en-US" dirty="0">
                <a:latin typeface="Garamond" panose="02020404030301010803" pitchFamily="18" charset="0"/>
              </a:rPr>
              <a:t>Are in many cases more interesting because</a:t>
            </a:r>
          </a:p>
          <a:p>
            <a:pPr marL="0" indent="0">
              <a:buNone/>
            </a:pPr>
            <a:endParaRPr lang="en-US" dirty="0">
              <a:latin typeface="Garamond" panose="02020404030301010803" pitchFamily="18" charset="0"/>
            </a:endParaRPr>
          </a:p>
          <a:p>
            <a:pPr marL="0" indent="0">
              <a:buNone/>
            </a:pPr>
            <a:r>
              <a:rPr lang="en-US" dirty="0">
                <a:latin typeface="Garamond" panose="02020404030301010803" pitchFamily="18" charset="0"/>
              </a:rPr>
              <a:t>The three financial statements explain changes in balance sheet items in detail.</a:t>
            </a:r>
          </a:p>
          <a:p>
            <a:r>
              <a:rPr lang="en-US" dirty="0">
                <a:latin typeface="Garamond" panose="02020404030301010803" pitchFamily="18" charset="0"/>
              </a:rPr>
              <a:t>The </a:t>
            </a:r>
            <a:r>
              <a:rPr lang="en-US" u="sng" dirty="0">
                <a:latin typeface="Garamond" panose="02020404030301010803" pitchFamily="18" charset="0"/>
              </a:rPr>
              <a:t>statement of changes in owners’ equity</a:t>
            </a:r>
            <a:r>
              <a:rPr lang="en-US" dirty="0">
                <a:latin typeface="Garamond" panose="02020404030301010803" pitchFamily="18" charset="0"/>
              </a:rPr>
              <a:t> shows the transactions and activities that affect equity accounts on the balance sheet.</a:t>
            </a:r>
          </a:p>
          <a:p>
            <a:r>
              <a:rPr lang="en-US" dirty="0">
                <a:latin typeface="Garamond" panose="02020404030301010803" pitchFamily="18" charset="0"/>
              </a:rPr>
              <a:t>The </a:t>
            </a:r>
            <a:r>
              <a:rPr lang="en-US" u="sng" dirty="0">
                <a:latin typeface="Garamond" panose="02020404030301010803" pitchFamily="18" charset="0"/>
              </a:rPr>
              <a:t>income statement</a:t>
            </a:r>
            <a:r>
              <a:rPr lang="en-US" dirty="0">
                <a:latin typeface="Garamond" panose="02020404030301010803" pitchFamily="18" charset="0"/>
              </a:rPr>
              <a:t> shows a detailed list of those changes in owners’ equity that are part of the entity’s </a:t>
            </a:r>
            <a:r>
              <a:rPr lang="en-US" b="1" dirty="0">
                <a:latin typeface="Garamond" panose="02020404030301010803" pitchFamily="18" charset="0"/>
              </a:rPr>
              <a:t>net income</a:t>
            </a:r>
            <a:r>
              <a:rPr lang="en-US" dirty="0">
                <a:latin typeface="Garamond" panose="02020404030301010803" pitchFamily="18" charset="0"/>
              </a:rPr>
              <a:t> (more on this later).</a:t>
            </a:r>
          </a:p>
          <a:p>
            <a:r>
              <a:rPr lang="en-US" dirty="0">
                <a:latin typeface="Garamond" panose="02020404030301010803" pitchFamily="18" charset="0"/>
              </a:rPr>
              <a:t>The </a:t>
            </a:r>
            <a:r>
              <a:rPr lang="en-US" u="sng" dirty="0">
                <a:latin typeface="Garamond" panose="02020404030301010803" pitchFamily="18" charset="0"/>
              </a:rPr>
              <a:t>statement of cash flows</a:t>
            </a:r>
            <a:r>
              <a:rPr lang="en-US" dirty="0">
                <a:latin typeface="Garamond" panose="02020404030301010803" pitchFamily="18" charset="0"/>
              </a:rPr>
              <a:t> explains (as the name suggests) the inflows and outflows of cash during the period.</a:t>
            </a:r>
          </a:p>
        </p:txBody>
      </p:sp>
      <p:sp>
        <p:nvSpPr>
          <p:cNvPr id="4" name="Segnaposto numero diapositiva 3">
            <a:extLst>
              <a:ext uri="{FF2B5EF4-FFF2-40B4-BE49-F238E27FC236}">
                <a16:creationId xmlns:a16="http://schemas.microsoft.com/office/drawing/2014/main" id="{5AD8B77D-3341-12E1-CDCA-AB9ED3B98824}"/>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27</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00E0BC92-FFBF-0EE7-292A-61F1EA3FCAD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8672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760FC-ECED-6BED-996F-7B80264AF84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E6D6700-0A5A-BEE3-DCD5-2FAF85FCE195}"/>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E68E1D3-FC90-4E2F-83C4-F00A1638D308}"/>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88BAE1BA-AD4F-33B4-D720-EB6244005B04}"/>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28</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A49F967-6262-DD1C-3A9E-E7E29D3AC0B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10" name="Picture 2">
            <a:extLst>
              <a:ext uri="{FF2B5EF4-FFF2-40B4-BE49-F238E27FC236}">
                <a16:creationId xmlns:a16="http://schemas.microsoft.com/office/drawing/2014/main" id="{A4329B97-8E1F-D29A-462B-9384EC9DE4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9896"/>
          <a:stretch>
            <a:fillRect/>
          </a:stretch>
        </p:blipFill>
        <p:spPr bwMode="auto">
          <a:xfrm>
            <a:off x="1556812" y="1527175"/>
            <a:ext cx="2786588" cy="466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8034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A3941-D1C7-AB7D-23C2-B1BF0EF3982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E44227-3020-713B-D50E-A445DACCB401}"/>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AE74093-7975-D78C-A77E-1A3CE1B87641}"/>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BE7D92C0-5726-D60F-DF24-AB1D468FCB75}"/>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29</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E9FDA0E2-E8DE-ADC3-A19B-A0027DAE946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10" name="Picture 2">
            <a:extLst>
              <a:ext uri="{FF2B5EF4-FFF2-40B4-BE49-F238E27FC236}">
                <a16:creationId xmlns:a16="http://schemas.microsoft.com/office/drawing/2014/main" id="{8B828C76-5ADC-1810-F3A4-0D75DE5785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087"/>
          <a:stretch>
            <a:fillRect/>
          </a:stretch>
        </p:blipFill>
        <p:spPr bwMode="auto">
          <a:xfrm>
            <a:off x="1556812" y="1527175"/>
            <a:ext cx="6101288" cy="466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8116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A4837-9124-8FC3-ED3C-E9603C9BDF7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9757E7C-3AB3-E39F-4C4E-C0DC404F9CD0}"/>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351ECE7-2A18-F85C-F0F6-3CABB2F0EE6B}"/>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5D73ED9C-C10F-C008-D644-F0C3A1745DE5}"/>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30</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A4447793-442A-3C5C-220A-5F297FE0357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10" name="Picture 2">
            <a:extLst>
              <a:ext uri="{FF2B5EF4-FFF2-40B4-BE49-F238E27FC236}">
                <a16:creationId xmlns:a16="http://schemas.microsoft.com/office/drawing/2014/main" id="{38DC821B-C3C6-1587-3C31-4F96C56E6E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6812" y="1527175"/>
            <a:ext cx="9256554" cy="466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5262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A92D4-33F9-9E2F-A1B9-524126C2F08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942D13A-5515-59EA-09C4-1FEE8F991411}"/>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4A12FA7-2A8E-C9BA-A3C8-2D91BD734A4C}"/>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0C0F7426-0933-EC20-58F1-199C399BD4B7}"/>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31</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3F6B9C81-B1AB-3ED9-6FA5-08DA70E5C8B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10" name="Picture 2">
            <a:extLst>
              <a:ext uri="{FF2B5EF4-FFF2-40B4-BE49-F238E27FC236}">
                <a16:creationId xmlns:a16="http://schemas.microsoft.com/office/drawing/2014/main" id="{D79B22CD-A11D-C441-F3B8-AC7F33E688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494" t="29602" r="34224"/>
          <a:stretch>
            <a:fillRect/>
          </a:stretch>
        </p:blipFill>
        <p:spPr bwMode="auto">
          <a:xfrm>
            <a:off x="4749800" y="2908299"/>
            <a:ext cx="2895600" cy="3284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2394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25172-E525-8F59-FB37-3FDC4284B14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EB9B76F-20BF-F1CF-EF0B-4F8714D45573}"/>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6E31B153-3B7B-0926-C4A7-400F43EB27AD}"/>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32</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8EBD9E0D-24B6-D562-C582-6AF2A2CF5C6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7" name="Picture 2">
            <a:extLst>
              <a:ext uri="{FF2B5EF4-FFF2-40B4-BE49-F238E27FC236}">
                <a16:creationId xmlns:a16="http://schemas.microsoft.com/office/drawing/2014/main" id="{308EEA4E-F5D8-47CB-FCFC-6D33BC28320E}"/>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r="69549"/>
          <a:stretch>
            <a:fillRect/>
          </a:stretch>
        </p:blipFill>
        <p:spPr bwMode="auto">
          <a:xfrm>
            <a:off x="1137285" y="1503291"/>
            <a:ext cx="2914015" cy="5218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3290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D0BD4-C20D-9AF1-A147-410927E4175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36A9EAB-64D4-A015-E4E6-91542DE0AFC9}"/>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21AC57DA-6C40-7822-CC9B-F40C9F9228FD}"/>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33</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4669021-FCA8-CF82-6A01-0B87EF814EA4}"/>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7" name="Picture 2">
            <a:extLst>
              <a:ext uri="{FF2B5EF4-FFF2-40B4-BE49-F238E27FC236}">
                <a16:creationId xmlns:a16="http://schemas.microsoft.com/office/drawing/2014/main" id="{B695E946-8C9C-2068-AF3A-86A4C62C6CA5}"/>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r="35309"/>
          <a:stretch>
            <a:fillRect/>
          </a:stretch>
        </p:blipFill>
        <p:spPr bwMode="auto">
          <a:xfrm>
            <a:off x="1137285" y="1503291"/>
            <a:ext cx="6190615" cy="5218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382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624A2-3966-0F81-E05B-71845A9F561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23135B4-E1A2-540E-125A-8CDBA7D12B0A}"/>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Statement of changes in owners’ equity</a:t>
            </a:r>
          </a:p>
        </p:txBody>
      </p:sp>
      <p:sp>
        <p:nvSpPr>
          <p:cNvPr id="4" name="Segnaposto numero diapositiva 3">
            <a:extLst>
              <a:ext uri="{FF2B5EF4-FFF2-40B4-BE49-F238E27FC236}">
                <a16:creationId xmlns:a16="http://schemas.microsoft.com/office/drawing/2014/main" id="{268FB881-6D8C-8C3D-6FD2-449D21F68119}"/>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34</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59082BE8-84A3-A750-D636-6036BE43D74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5" name="Content Placeholder 13">
            <a:extLst>
              <a:ext uri="{FF2B5EF4-FFF2-40B4-BE49-F238E27FC236}">
                <a16:creationId xmlns:a16="http://schemas.microsoft.com/office/drawing/2014/main" id="{2C8A7C11-7494-F51C-3429-73C8539C3B3F}"/>
              </a:ext>
            </a:extLst>
          </p:cNvPr>
          <p:cNvPicPr>
            <a:picLocks noChangeAspect="1"/>
          </p:cNvPicPr>
          <p:nvPr/>
        </p:nvPicPr>
        <p:blipFill>
          <a:blip r:embed="rId4"/>
          <a:stretch>
            <a:fillRect/>
          </a:stretch>
        </p:blipFill>
        <p:spPr>
          <a:xfrm>
            <a:off x="1546742" y="1690688"/>
            <a:ext cx="9098515" cy="4486275"/>
          </a:xfrm>
          <a:prstGeom prst="rect">
            <a:avLst/>
          </a:prstGeom>
        </p:spPr>
      </p:pic>
    </p:spTree>
    <p:extLst>
      <p:ext uri="{BB962C8B-B14F-4D97-AF65-F5344CB8AC3E}">
        <p14:creationId xmlns:p14="http://schemas.microsoft.com/office/powerpoint/2010/main" val="1603630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DAB73-7D27-1D2E-EC8F-AA1EBD7B64E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034479D-4ED2-3AD2-4B9C-E4F4E9225563}"/>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7AA4FBDB-C108-BD60-50DD-CBBA195029E0}"/>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35</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B1C53F09-1256-29FE-F70F-3A618C10B88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7" name="Picture 2">
            <a:extLst>
              <a:ext uri="{FF2B5EF4-FFF2-40B4-BE49-F238E27FC236}">
                <a16:creationId xmlns:a16="http://schemas.microsoft.com/office/drawing/2014/main" id="{6F62CB20-4F95-AC01-A12D-F80D88C007FF}"/>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r="35043"/>
          <a:stretch>
            <a:fillRect/>
          </a:stretch>
        </p:blipFill>
        <p:spPr bwMode="auto">
          <a:xfrm>
            <a:off x="1137285" y="1503291"/>
            <a:ext cx="6216015" cy="5218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565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32E0-D11C-7A48-DA87-F0C285FE871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AD58385-4F01-9719-C824-B77B2A3EDEF8}"/>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61E1BE50-5401-4145-8C6C-5AA495E54B15}"/>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36</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316D766F-CC90-6FDB-5987-9A464F7376E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7" name="Picture 2">
            <a:extLst>
              <a:ext uri="{FF2B5EF4-FFF2-40B4-BE49-F238E27FC236}">
                <a16:creationId xmlns:a16="http://schemas.microsoft.com/office/drawing/2014/main" id="{90CFEBDB-0E62-6314-17A8-08AB6A2B8FA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137285" y="1503291"/>
            <a:ext cx="9569450" cy="5218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710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6753E-F42F-793F-EF48-5FB1C789408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6E4A3D-541B-3764-CED8-968A15B206C7}"/>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Income statement</a:t>
            </a:r>
          </a:p>
        </p:txBody>
      </p:sp>
      <p:sp>
        <p:nvSpPr>
          <p:cNvPr id="4" name="Segnaposto numero diapositiva 3">
            <a:extLst>
              <a:ext uri="{FF2B5EF4-FFF2-40B4-BE49-F238E27FC236}">
                <a16:creationId xmlns:a16="http://schemas.microsoft.com/office/drawing/2014/main" id="{5DC7EB84-7C4C-A2EC-62C7-79B9A14C52B3}"/>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37</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E19E7519-FE49-028C-6EDA-D7C8186BB66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5" name="Content Placeholder 5">
            <a:extLst>
              <a:ext uri="{FF2B5EF4-FFF2-40B4-BE49-F238E27FC236}">
                <a16:creationId xmlns:a16="http://schemas.microsoft.com/office/drawing/2014/main" id="{084CCD22-A6DC-B1E8-8FCA-8FF327D5DCE6}"/>
              </a:ext>
            </a:extLst>
          </p:cNvPr>
          <p:cNvPicPr>
            <a:picLocks noChangeAspect="1"/>
          </p:cNvPicPr>
          <p:nvPr/>
        </p:nvPicPr>
        <p:blipFill>
          <a:blip r:embed="rId4"/>
          <a:stretch>
            <a:fillRect/>
          </a:stretch>
        </p:blipFill>
        <p:spPr>
          <a:xfrm>
            <a:off x="2893445" y="1608602"/>
            <a:ext cx="6542655" cy="4844998"/>
          </a:xfrm>
          <a:prstGeom prst="rect">
            <a:avLst/>
          </a:prstGeom>
        </p:spPr>
      </p:pic>
    </p:spTree>
    <p:extLst>
      <p:ext uri="{BB962C8B-B14F-4D97-AF65-F5344CB8AC3E}">
        <p14:creationId xmlns:p14="http://schemas.microsoft.com/office/powerpoint/2010/main" val="72348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BCC11-1DF5-BC43-E619-3B37176453B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6D0B36A-1B7A-5D45-BAC8-C32620C3A4B8}"/>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6178425-AAB6-8538-800E-AD817BB7CF7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32A6E3E6-293A-D3FD-783D-0CBFBBD88226}"/>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38</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52967555-278A-BF8E-8D52-4DAD72B626D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10" name="Picture 2">
            <a:extLst>
              <a:ext uri="{FF2B5EF4-FFF2-40B4-BE49-F238E27FC236}">
                <a16:creationId xmlns:a16="http://schemas.microsoft.com/office/drawing/2014/main" id="{743E31BF-98C6-6A1F-4F00-021FB39B9B7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494" t="29602" r="34224"/>
          <a:stretch>
            <a:fillRect/>
          </a:stretch>
        </p:blipFill>
        <p:spPr bwMode="auto">
          <a:xfrm>
            <a:off x="4749800" y="2908299"/>
            <a:ext cx="2895600" cy="3284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9840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90F5D-8B20-0A90-0BD1-0AE5D9E1125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A65F518-CE45-4925-F76C-50C7BEC201B2}"/>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7833A75-4294-A1EF-146F-94261A7DDF51}"/>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C73F0BA8-22DE-C879-9470-8B8F7C07B01F}"/>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39</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DA8867D1-3021-C589-6FC2-EE075465FA2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3" name="Content Placeholder 4">
            <a:extLst>
              <a:ext uri="{FF2B5EF4-FFF2-40B4-BE49-F238E27FC236}">
                <a16:creationId xmlns:a16="http://schemas.microsoft.com/office/drawing/2014/main" id="{187EC37A-DB84-923E-2CFD-85078C5E4EA1}"/>
              </a:ext>
            </a:extLst>
          </p:cNvPr>
          <p:cNvPicPr>
            <a:picLocks noGrp="1" noChangeAspect="1"/>
          </p:cNvPicPr>
          <p:nvPr>
            <p:ph idx="1"/>
          </p:nvPr>
        </p:nvPicPr>
        <p:blipFill>
          <a:blip r:embed="rId4"/>
          <a:srcRect l="69583"/>
          <a:stretch>
            <a:fillRect/>
          </a:stretch>
        </p:blipFill>
        <p:spPr>
          <a:xfrm>
            <a:off x="7835899" y="1656876"/>
            <a:ext cx="2662985" cy="5201124"/>
          </a:xfrm>
          <a:prstGeom prst="rect">
            <a:avLst/>
          </a:prstGeom>
        </p:spPr>
      </p:pic>
    </p:spTree>
    <p:extLst>
      <p:ext uri="{BB962C8B-B14F-4D97-AF65-F5344CB8AC3E}">
        <p14:creationId xmlns:p14="http://schemas.microsoft.com/office/powerpoint/2010/main" val="21210129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5DE4-4B51-1127-9AF5-56D87ABC506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9F04E8F-AF35-F8D8-E0B0-651D1896A10C}"/>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636ED7B-7B30-BC1B-B9DC-ECFCDA024CC1}"/>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2A7B3D59-9345-878C-D88F-5F6589205007}"/>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40</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E86829DB-1073-5BFB-4FE9-6FB4341C9B6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3" name="Content Placeholder 4">
            <a:extLst>
              <a:ext uri="{FF2B5EF4-FFF2-40B4-BE49-F238E27FC236}">
                <a16:creationId xmlns:a16="http://schemas.microsoft.com/office/drawing/2014/main" id="{BEA39430-3FFD-4431-39A3-F98473E174CB}"/>
              </a:ext>
            </a:extLst>
          </p:cNvPr>
          <p:cNvPicPr>
            <a:picLocks noGrp="1" noChangeAspect="1"/>
          </p:cNvPicPr>
          <p:nvPr>
            <p:ph idx="1"/>
          </p:nvPr>
        </p:nvPicPr>
        <p:blipFill>
          <a:blip r:embed="rId4"/>
          <a:srcRect l="35349"/>
          <a:stretch>
            <a:fillRect/>
          </a:stretch>
        </p:blipFill>
        <p:spPr>
          <a:xfrm>
            <a:off x="4838701" y="1656876"/>
            <a:ext cx="5660184" cy="5201124"/>
          </a:xfrm>
          <a:prstGeom prst="rect">
            <a:avLst/>
          </a:prstGeom>
        </p:spPr>
      </p:pic>
    </p:spTree>
    <p:extLst>
      <p:ext uri="{BB962C8B-B14F-4D97-AF65-F5344CB8AC3E}">
        <p14:creationId xmlns:p14="http://schemas.microsoft.com/office/powerpoint/2010/main" val="31698261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15C69-16AC-E4FE-CBD7-6DF3CE54A5E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490C529-0150-E18D-AFB2-024DB928571D}"/>
              </a:ext>
            </a:extLst>
          </p:cNvPr>
          <p:cNvSpPr/>
          <p:nvPr/>
        </p:nvSpPr>
        <p:spPr>
          <a:xfrm>
            <a:off x="4343400" y="1955800"/>
            <a:ext cx="3556000" cy="4076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CFFD0EC-2D4F-39DC-2A21-09B62822A99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Let’s connect the statements</a:t>
            </a:r>
          </a:p>
        </p:txBody>
      </p:sp>
      <p:sp>
        <p:nvSpPr>
          <p:cNvPr id="4" name="Segnaposto numero diapositiva 3">
            <a:extLst>
              <a:ext uri="{FF2B5EF4-FFF2-40B4-BE49-F238E27FC236}">
                <a16:creationId xmlns:a16="http://schemas.microsoft.com/office/drawing/2014/main" id="{370ACB16-F56C-EA22-5E2E-43461DF00F29}"/>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41</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7D1BB883-215B-EFB6-33A3-DD9EDA423AC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3" name="Content Placeholder 4">
            <a:extLst>
              <a:ext uri="{FF2B5EF4-FFF2-40B4-BE49-F238E27FC236}">
                <a16:creationId xmlns:a16="http://schemas.microsoft.com/office/drawing/2014/main" id="{BABA269A-B63B-8D9C-495F-92F1DDE2D52F}"/>
              </a:ext>
            </a:extLst>
          </p:cNvPr>
          <p:cNvPicPr>
            <a:picLocks noGrp="1" noChangeAspect="1"/>
          </p:cNvPicPr>
          <p:nvPr>
            <p:ph idx="1"/>
          </p:nvPr>
        </p:nvPicPr>
        <p:blipFill>
          <a:blip r:embed="rId4"/>
          <a:srcRect l="-1351" r="-1"/>
          <a:stretch>
            <a:fillRect/>
          </a:stretch>
        </p:blipFill>
        <p:spPr>
          <a:xfrm>
            <a:off x="1625601" y="1656876"/>
            <a:ext cx="8873284" cy="5201124"/>
          </a:xfrm>
          <a:prstGeom prst="rect">
            <a:avLst/>
          </a:prstGeom>
        </p:spPr>
      </p:pic>
    </p:spTree>
    <p:extLst>
      <p:ext uri="{BB962C8B-B14F-4D97-AF65-F5344CB8AC3E}">
        <p14:creationId xmlns:p14="http://schemas.microsoft.com/office/powerpoint/2010/main" val="39513690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6A4A-13FE-EDE6-CF2A-0292DAA28CA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E13FF47-3957-8CED-9AD9-2B000D78957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Cash flow statement</a:t>
            </a:r>
          </a:p>
        </p:txBody>
      </p:sp>
      <p:sp>
        <p:nvSpPr>
          <p:cNvPr id="4" name="Segnaposto numero diapositiva 3">
            <a:extLst>
              <a:ext uri="{FF2B5EF4-FFF2-40B4-BE49-F238E27FC236}">
                <a16:creationId xmlns:a16="http://schemas.microsoft.com/office/drawing/2014/main" id="{E5A152ED-EA9D-3883-8716-091DC56D0998}"/>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42</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93C76DA-5874-E4DA-183A-7DAD2AA9DD2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3" name="Content Placeholder 5">
            <a:extLst>
              <a:ext uri="{FF2B5EF4-FFF2-40B4-BE49-F238E27FC236}">
                <a16:creationId xmlns:a16="http://schemas.microsoft.com/office/drawing/2014/main" id="{2AF70475-BB56-D2AF-3DEB-A8BA7699A788}"/>
              </a:ext>
            </a:extLst>
          </p:cNvPr>
          <p:cNvPicPr>
            <a:picLocks noGrp="1" noChangeAspect="1"/>
          </p:cNvPicPr>
          <p:nvPr>
            <p:ph idx="1"/>
          </p:nvPr>
        </p:nvPicPr>
        <p:blipFill>
          <a:blip r:embed="rId4"/>
          <a:stretch>
            <a:fillRect/>
          </a:stretch>
        </p:blipFill>
        <p:spPr>
          <a:xfrm>
            <a:off x="1378634" y="1566722"/>
            <a:ext cx="8945563" cy="4913594"/>
          </a:xfrm>
          <a:prstGeom prst="rect">
            <a:avLst/>
          </a:prstGeom>
        </p:spPr>
      </p:pic>
    </p:spTree>
    <p:extLst>
      <p:ext uri="{BB962C8B-B14F-4D97-AF65-F5344CB8AC3E}">
        <p14:creationId xmlns:p14="http://schemas.microsoft.com/office/powerpoint/2010/main" val="36571179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3E53-76E0-0135-F0F4-679A44A40D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ED20C50-6730-91C2-EE2A-315FEB32492A}"/>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Cash flow statement</a:t>
            </a:r>
          </a:p>
        </p:txBody>
      </p:sp>
      <p:sp>
        <p:nvSpPr>
          <p:cNvPr id="4" name="Segnaposto numero diapositiva 3">
            <a:extLst>
              <a:ext uri="{FF2B5EF4-FFF2-40B4-BE49-F238E27FC236}">
                <a16:creationId xmlns:a16="http://schemas.microsoft.com/office/drawing/2014/main" id="{D62679A8-2329-BA08-D4DA-2B3003B3A984}"/>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43</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84BA2CE4-360A-FCED-340C-9ACB2E7D959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pic>
        <p:nvPicPr>
          <p:cNvPr id="8" name="Content Placeholder 2">
            <a:extLst>
              <a:ext uri="{FF2B5EF4-FFF2-40B4-BE49-F238E27FC236}">
                <a16:creationId xmlns:a16="http://schemas.microsoft.com/office/drawing/2014/main" id="{1D30A4E8-33FD-9E42-48E7-018D538FE28B}"/>
              </a:ext>
            </a:extLst>
          </p:cNvPr>
          <p:cNvPicPr>
            <a:picLocks noChangeAspect="1"/>
          </p:cNvPicPr>
          <p:nvPr/>
        </p:nvPicPr>
        <p:blipFill>
          <a:blip r:embed="rId4"/>
          <a:stretch>
            <a:fillRect/>
          </a:stretch>
        </p:blipFill>
        <p:spPr>
          <a:xfrm>
            <a:off x="1032668" y="1690688"/>
            <a:ext cx="10126663" cy="5562346"/>
          </a:xfrm>
          <a:prstGeom prst="rect">
            <a:avLst/>
          </a:prstGeom>
        </p:spPr>
      </p:pic>
    </p:spTree>
    <p:extLst>
      <p:ext uri="{BB962C8B-B14F-4D97-AF65-F5344CB8AC3E}">
        <p14:creationId xmlns:p14="http://schemas.microsoft.com/office/powerpoint/2010/main" val="3357685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C4670-FFF4-0681-4C6D-D91443D1D40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B76E864-1CB5-E50F-0169-6CE8299062A8}"/>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Cash flow statement</a:t>
            </a:r>
          </a:p>
        </p:txBody>
      </p:sp>
      <p:sp>
        <p:nvSpPr>
          <p:cNvPr id="4" name="Segnaposto numero diapositiva 3">
            <a:extLst>
              <a:ext uri="{FF2B5EF4-FFF2-40B4-BE49-F238E27FC236}">
                <a16:creationId xmlns:a16="http://schemas.microsoft.com/office/drawing/2014/main" id="{379E4477-2F9A-A4FA-1C4A-ED0C1E7E3946}"/>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44</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E01420A1-9AE3-726F-7AE0-975914C5857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pic>
        <p:nvPicPr>
          <p:cNvPr id="3" name="Content Placeholder 2">
            <a:extLst>
              <a:ext uri="{FF2B5EF4-FFF2-40B4-BE49-F238E27FC236}">
                <a16:creationId xmlns:a16="http://schemas.microsoft.com/office/drawing/2014/main" id="{CF6E7755-C93E-F872-7823-998D4DDC2E83}"/>
              </a:ext>
            </a:extLst>
          </p:cNvPr>
          <p:cNvPicPr>
            <a:picLocks noGrp="1" noChangeAspect="1"/>
          </p:cNvPicPr>
          <p:nvPr>
            <p:ph idx="1"/>
          </p:nvPr>
        </p:nvPicPr>
        <p:blipFill>
          <a:blip r:embed="rId4"/>
          <a:stretch>
            <a:fillRect/>
          </a:stretch>
        </p:blipFill>
        <p:spPr>
          <a:xfrm>
            <a:off x="1547018" y="1379611"/>
            <a:ext cx="9097963" cy="4997304"/>
          </a:xfrm>
          <a:prstGeom prst="rect">
            <a:avLst/>
          </a:prstGeom>
        </p:spPr>
      </p:pic>
    </p:spTree>
    <p:extLst>
      <p:ext uri="{BB962C8B-B14F-4D97-AF65-F5344CB8AC3E}">
        <p14:creationId xmlns:p14="http://schemas.microsoft.com/office/powerpoint/2010/main" val="860213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34F5-14CB-943A-497A-461FAE0F219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C6A635A-FFE2-6440-701E-8A0EEECA8A06}"/>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Financial statement notes</a:t>
            </a:r>
          </a:p>
        </p:txBody>
      </p:sp>
      <p:sp>
        <p:nvSpPr>
          <p:cNvPr id="3" name="Segnaposto contenuto 2">
            <a:extLst>
              <a:ext uri="{FF2B5EF4-FFF2-40B4-BE49-F238E27FC236}">
                <a16:creationId xmlns:a16="http://schemas.microsoft.com/office/drawing/2014/main" id="{2AE9CF36-4A56-E747-626E-ED3CDE51E814}"/>
              </a:ext>
            </a:extLst>
          </p:cNvPr>
          <p:cNvSpPr>
            <a:spLocks noGrp="1"/>
          </p:cNvSpPr>
          <p:nvPr>
            <p:ph idx="1"/>
          </p:nvPr>
        </p:nvSpPr>
        <p:spPr>
          <a:xfrm>
            <a:off x="1378634" y="1825625"/>
            <a:ext cx="9434732" cy="4530725"/>
          </a:xfrm>
        </p:spPr>
        <p:txBody>
          <a:bodyPr>
            <a:normAutofit/>
          </a:bodyPr>
          <a:lstStyle/>
          <a:p>
            <a:r>
              <a:rPr lang="en-US" dirty="0">
                <a:latin typeface="Garamond" panose="02020404030301010803" pitchFamily="18" charset="0"/>
              </a:rPr>
              <a:t>The footnotes are an integral part of the financial statements. The most useful information is often found there.</a:t>
            </a:r>
          </a:p>
          <a:p>
            <a:endParaRPr lang="en-US" dirty="0">
              <a:latin typeface="Garamond" panose="02020404030301010803" pitchFamily="18" charset="0"/>
            </a:endParaRPr>
          </a:p>
          <a:p>
            <a:r>
              <a:rPr lang="en-US" dirty="0">
                <a:latin typeface="Garamond" panose="02020404030301010803" pitchFamily="18" charset="0"/>
              </a:rPr>
              <a:t>Most notes explain the line items in four financial statements in greater details, especially those of the balance sheets.</a:t>
            </a:r>
          </a:p>
          <a:p>
            <a:endParaRPr lang="en-US" dirty="0">
              <a:latin typeface="Garamond" panose="02020404030301010803" pitchFamily="18" charset="0"/>
            </a:endParaRPr>
          </a:p>
          <a:p>
            <a:r>
              <a:rPr lang="en-US" dirty="0">
                <a:latin typeface="Garamond" panose="02020404030301010803" pitchFamily="18" charset="0"/>
              </a:rPr>
              <a:t>Other notes provide general supplemental information, such as information about the company’s business or segment-level financial data.</a:t>
            </a: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3CD7E104-CB52-CCE4-F9AC-5C8B07583BBB}"/>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45</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97E54C5F-B013-A7AC-FACF-C609E73A71D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3675689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4F85D-8009-0F37-0447-170F6613113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2D41D07-71CB-9FFA-42A8-3E047B30E329}"/>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Auditor statement / audit opinion</a:t>
            </a:r>
          </a:p>
        </p:txBody>
      </p:sp>
      <p:sp>
        <p:nvSpPr>
          <p:cNvPr id="3" name="Segnaposto contenuto 2">
            <a:extLst>
              <a:ext uri="{FF2B5EF4-FFF2-40B4-BE49-F238E27FC236}">
                <a16:creationId xmlns:a16="http://schemas.microsoft.com/office/drawing/2014/main" id="{D836E776-7734-1812-FA41-389D2D9208EB}"/>
              </a:ext>
            </a:extLst>
          </p:cNvPr>
          <p:cNvSpPr>
            <a:spLocks noGrp="1"/>
          </p:cNvSpPr>
          <p:nvPr>
            <p:ph idx="1"/>
          </p:nvPr>
        </p:nvSpPr>
        <p:spPr>
          <a:xfrm>
            <a:off x="1378634" y="1825625"/>
            <a:ext cx="9434732" cy="4530725"/>
          </a:xfrm>
        </p:spPr>
        <p:txBody>
          <a:bodyPr>
            <a:normAutofit lnSpcReduction="10000"/>
          </a:bodyPr>
          <a:lstStyle/>
          <a:p>
            <a:r>
              <a:rPr lang="en-US" dirty="0">
                <a:latin typeface="Garamond" panose="02020404030301010803" pitchFamily="18" charset="0"/>
              </a:rPr>
              <a:t>Auditors “test” the quality of financial statements</a:t>
            </a:r>
          </a:p>
          <a:p>
            <a:r>
              <a:rPr lang="en-US" dirty="0">
                <a:latin typeface="Garamond" panose="02020404030301010803" pitchFamily="18" charset="0"/>
              </a:rPr>
              <a:t>Auditors provide an auditor report / statement / audit opinion communicating their conclusions. </a:t>
            </a:r>
          </a:p>
          <a:p>
            <a:endParaRPr lang="en-US" dirty="0">
              <a:latin typeface="Garamond" panose="02020404030301010803" pitchFamily="18" charset="0"/>
            </a:endParaRPr>
          </a:p>
          <a:p>
            <a:pPr marL="0" indent="0">
              <a:buNone/>
            </a:pPr>
            <a:r>
              <a:rPr lang="en-US" dirty="0">
                <a:latin typeface="Garamond" panose="02020404030301010803" pitchFamily="18" charset="0"/>
              </a:rPr>
              <a:t>&gt;&gt;In our opinion, the consolidated financial statements referred to above present fairly, in all material respects, the financial position of the Company as of December 31, 2021 and 2020, and the results of its operations and its cash flows for each of the three years in the period ended December 31, 2021 in conformity with accounting principles generally accepted in the United States of America.&lt;&lt;</a:t>
            </a:r>
          </a:p>
          <a:p>
            <a:endParaRPr lang="en-US" dirty="0">
              <a:latin typeface="Garamond" panose="02020404030301010803" pitchFamily="18" charset="0"/>
            </a:endParaRP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93A05833-687E-664F-594B-32B85C730A60}"/>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46</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96EE4FC0-BB1C-DE4D-26FC-D3611886F5D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182631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D867-9755-FE35-A459-EFEBBD87A2E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7FBE84-E96B-4ED0-8E01-23147C947240}"/>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Auditor statement / audit opinion</a:t>
            </a:r>
          </a:p>
        </p:txBody>
      </p:sp>
      <p:sp>
        <p:nvSpPr>
          <p:cNvPr id="3" name="Segnaposto contenuto 2">
            <a:extLst>
              <a:ext uri="{FF2B5EF4-FFF2-40B4-BE49-F238E27FC236}">
                <a16:creationId xmlns:a16="http://schemas.microsoft.com/office/drawing/2014/main" id="{C004C683-DCFE-44F6-99B1-3DA7013BCBF9}"/>
              </a:ext>
            </a:extLst>
          </p:cNvPr>
          <p:cNvSpPr>
            <a:spLocks noGrp="1"/>
          </p:cNvSpPr>
          <p:nvPr>
            <p:ph idx="1"/>
          </p:nvPr>
        </p:nvSpPr>
        <p:spPr>
          <a:xfrm>
            <a:off x="1378634" y="1825625"/>
            <a:ext cx="9886266" cy="4530725"/>
          </a:xfrm>
        </p:spPr>
        <p:txBody>
          <a:bodyPr>
            <a:noAutofit/>
          </a:bodyPr>
          <a:lstStyle/>
          <a:p>
            <a:r>
              <a:rPr lang="en-US" sz="2600" dirty="0">
                <a:latin typeface="Garamond" panose="02020404030301010803" pitchFamily="18" charset="0"/>
              </a:rPr>
              <a:t>The auditor statement also describes how they performed the audit to obtain </a:t>
            </a:r>
            <a:r>
              <a:rPr lang="en-US" sz="2600" b="1" u="sng" dirty="0">
                <a:latin typeface="Garamond" panose="02020404030301010803" pitchFamily="18" charset="0"/>
              </a:rPr>
              <a:t>reasonable assurance</a:t>
            </a:r>
            <a:r>
              <a:rPr lang="en-US" sz="2600" dirty="0">
                <a:latin typeface="Garamond" panose="02020404030301010803" pitchFamily="18" charset="0"/>
              </a:rPr>
              <a:t> of the financial statements and notes. </a:t>
            </a:r>
          </a:p>
          <a:p>
            <a:r>
              <a:rPr lang="en-US" sz="2600" dirty="0">
                <a:latin typeface="Garamond" panose="02020404030301010803" pitchFamily="18" charset="0"/>
              </a:rPr>
              <a:t>Most often the auditor statement in </a:t>
            </a:r>
            <a:r>
              <a:rPr lang="en-US" sz="2600" b="1" u="sng" dirty="0">
                <a:latin typeface="Garamond" panose="02020404030301010803" pitchFamily="18" charset="0"/>
              </a:rPr>
              <a:t>unqualified</a:t>
            </a:r>
            <a:r>
              <a:rPr lang="en-US" sz="2600" dirty="0">
                <a:latin typeface="Garamond" panose="02020404030301010803" pitchFamily="18" charset="0"/>
              </a:rPr>
              <a:t>, meaning that the auditors believe the </a:t>
            </a:r>
            <a:endParaRPr lang="en-US" sz="2600" b="1" dirty="0">
              <a:latin typeface="Garamond" panose="02020404030301010803" pitchFamily="18" charset="0"/>
            </a:endParaRPr>
          </a:p>
          <a:p>
            <a:pPr marL="0" indent="0">
              <a:buNone/>
            </a:pPr>
            <a:r>
              <a:rPr lang="en-US" sz="2600" dirty="0">
                <a:latin typeface="Garamond" panose="02020404030301010803" pitchFamily="18" charset="0"/>
              </a:rPr>
              <a:t>&gt;&gt;(…) we plan and perform the audits to obtain reasonable assurance about whether the consolidated financial statements are free of material misstatement …&lt;&lt;</a:t>
            </a:r>
          </a:p>
          <a:p>
            <a:pPr marL="0" indent="0">
              <a:buNone/>
            </a:pPr>
            <a:r>
              <a:rPr lang="en-US" sz="2600" dirty="0">
                <a:latin typeface="Garamond" panose="02020404030301010803" pitchFamily="18" charset="0"/>
              </a:rPr>
              <a:t>&gt;&gt; Such procedures included examining, on a test basis, evidence regarding the amounts and disclosures in the consolidated financial statements. Our audits also included evaluating the accounting principles used and significant estimates made by management, as well as evaluating the overall presentation of the consolidated financial statements. &lt;&lt;</a:t>
            </a:r>
          </a:p>
        </p:txBody>
      </p:sp>
      <p:sp>
        <p:nvSpPr>
          <p:cNvPr id="4" name="Segnaposto numero diapositiva 3">
            <a:extLst>
              <a:ext uri="{FF2B5EF4-FFF2-40B4-BE49-F238E27FC236}">
                <a16:creationId xmlns:a16="http://schemas.microsoft.com/office/drawing/2014/main" id="{4731C120-9B97-63C8-5446-BD8B0CFFC008}"/>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47</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C8F4599F-990C-8F86-B197-652B4A9570E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370934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C3168-9D16-FC33-E561-FC81C1DB5F1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AD5375A-D92E-C786-9524-EB17D8C405F5}"/>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Auditor statement / audit opinion</a:t>
            </a:r>
          </a:p>
        </p:txBody>
      </p:sp>
      <p:sp>
        <p:nvSpPr>
          <p:cNvPr id="3" name="Segnaposto contenuto 2">
            <a:extLst>
              <a:ext uri="{FF2B5EF4-FFF2-40B4-BE49-F238E27FC236}">
                <a16:creationId xmlns:a16="http://schemas.microsoft.com/office/drawing/2014/main" id="{E6ECD4AE-0B7C-D22D-927B-09B3243D0210}"/>
              </a:ext>
            </a:extLst>
          </p:cNvPr>
          <p:cNvSpPr>
            <a:spLocks noGrp="1"/>
          </p:cNvSpPr>
          <p:nvPr>
            <p:ph idx="1"/>
          </p:nvPr>
        </p:nvSpPr>
        <p:spPr>
          <a:xfrm>
            <a:off x="1378634" y="1825625"/>
            <a:ext cx="9434732" cy="4530725"/>
          </a:xfrm>
        </p:spPr>
        <p:txBody>
          <a:bodyPr>
            <a:normAutofit/>
          </a:bodyPr>
          <a:lstStyle/>
          <a:p>
            <a:r>
              <a:rPr lang="en-US" dirty="0">
                <a:latin typeface="Garamond" panose="02020404030301010803" pitchFamily="18" charset="0"/>
              </a:rPr>
              <a:t>Since 2001, auditors also audit companies’ internal control. </a:t>
            </a:r>
          </a:p>
          <a:p>
            <a:pPr lvl="1"/>
            <a:r>
              <a:rPr lang="en-US" dirty="0">
                <a:latin typeface="Garamond" panose="02020404030301010803" pitchFamily="18" charset="0"/>
              </a:rPr>
              <a:t>These can affect the true- and fairness of financial reporting (which includes the financial statements among other things). </a:t>
            </a:r>
          </a:p>
          <a:p>
            <a:endParaRPr lang="en-US" dirty="0">
              <a:latin typeface="Garamond" panose="02020404030301010803" pitchFamily="18" charset="0"/>
            </a:endParaRPr>
          </a:p>
          <a:p>
            <a:pPr marL="0" indent="0">
              <a:buNone/>
            </a:pPr>
            <a:r>
              <a:rPr lang="en-US" dirty="0">
                <a:latin typeface="Garamond" panose="02020404030301010803" pitchFamily="18" charset="0"/>
              </a:rPr>
              <a:t>&gt;&gt; Our audit of internal control over financial reporting included obtaining an understanding of internal control over financial reporting, assessing the risk that a material weakness exists, and testing and evaluating the design and operating effectiveness of internal control based on the assessed risk. &lt;&lt;</a:t>
            </a: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CE5D54FB-E885-07A7-FD3F-03E1A1B4806D}"/>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48</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7EC6695-301B-4D58-0C5D-655F18A7B1B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326385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633F-4A4D-27C3-7032-CDBC5CCF85A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AFFCF41-D858-FD6A-9B89-6E6722B6789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Auditor statement / audit opinion</a:t>
            </a:r>
          </a:p>
        </p:txBody>
      </p:sp>
      <p:sp>
        <p:nvSpPr>
          <p:cNvPr id="3" name="Segnaposto contenuto 2">
            <a:extLst>
              <a:ext uri="{FF2B5EF4-FFF2-40B4-BE49-F238E27FC236}">
                <a16:creationId xmlns:a16="http://schemas.microsoft.com/office/drawing/2014/main" id="{00E96809-4C62-E0B4-1FD4-08A2C22ED099}"/>
              </a:ext>
            </a:extLst>
          </p:cNvPr>
          <p:cNvSpPr>
            <a:spLocks noGrp="1"/>
          </p:cNvSpPr>
          <p:nvPr>
            <p:ph idx="1"/>
          </p:nvPr>
        </p:nvSpPr>
        <p:spPr>
          <a:xfrm>
            <a:off x="1378634" y="1825625"/>
            <a:ext cx="9434732" cy="4530725"/>
          </a:xfrm>
        </p:spPr>
        <p:txBody>
          <a:bodyPr>
            <a:normAutofit/>
          </a:bodyPr>
          <a:lstStyle/>
          <a:p>
            <a:r>
              <a:rPr lang="en-US" dirty="0">
                <a:latin typeface="Garamond" panose="02020404030301010803" pitchFamily="18" charset="0"/>
              </a:rPr>
              <a:t>Since 2001, auditors also audit companies’ internal control. </a:t>
            </a:r>
          </a:p>
          <a:p>
            <a:pPr lvl="1"/>
            <a:r>
              <a:rPr lang="en-US" dirty="0">
                <a:latin typeface="Garamond" panose="02020404030301010803" pitchFamily="18" charset="0"/>
              </a:rPr>
              <a:t>These can affect the true- and fairness of financial reporting (which includes the financial statements among other things). </a:t>
            </a:r>
          </a:p>
          <a:p>
            <a:endParaRPr lang="en-US" dirty="0">
              <a:latin typeface="Garamond" panose="02020404030301010803" pitchFamily="18" charset="0"/>
            </a:endParaRPr>
          </a:p>
          <a:p>
            <a:pPr marL="0" indent="0">
              <a:buNone/>
            </a:pPr>
            <a:r>
              <a:rPr lang="en-US" dirty="0">
                <a:latin typeface="Garamond" panose="02020404030301010803" pitchFamily="18" charset="0"/>
              </a:rPr>
              <a:t>&gt;&gt; Our audit of internal control over financial reporting included obtaining an understanding of internal control over financial reporting, assessing the risk that a material weakness exists, and testing and evaluating the design and operating effectiveness of internal control based on the assessed risk. &lt;&lt;</a:t>
            </a: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977A283A-A493-7DD0-FC96-3986EB4F0D1C}"/>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49</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60A0A407-677B-D4A5-6F19-45F362726C6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31788378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50320-FBB1-A861-BE07-37379DACF35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873FD4-87C8-C23C-A611-F2A997CFC7C0}"/>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Overview</a:t>
            </a:r>
          </a:p>
        </p:txBody>
      </p:sp>
      <p:sp>
        <p:nvSpPr>
          <p:cNvPr id="3" name="Segnaposto contenuto 2">
            <a:extLst>
              <a:ext uri="{FF2B5EF4-FFF2-40B4-BE49-F238E27FC236}">
                <a16:creationId xmlns:a16="http://schemas.microsoft.com/office/drawing/2014/main" id="{5358EE7D-0BD9-D794-A0A4-7D152761B9C0}"/>
              </a:ext>
            </a:extLst>
          </p:cNvPr>
          <p:cNvSpPr>
            <a:spLocks noGrp="1"/>
          </p:cNvSpPr>
          <p:nvPr>
            <p:ph idx="1"/>
          </p:nvPr>
        </p:nvSpPr>
        <p:spPr>
          <a:xfrm>
            <a:off x="1378634" y="1825625"/>
            <a:ext cx="9434732" cy="4530725"/>
          </a:xfrm>
        </p:spPr>
        <p:txBody>
          <a:bodyPr>
            <a:normAutofit/>
          </a:bodyPr>
          <a:lstStyle/>
          <a:p>
            <a:pPr marL="514350" indent="-514350" algn="just">
              <a:buAutoNum type="arabicPeriod"/>
            </a:pPr>
            <a:r>
              <a:rPr lang="en-GB" dirty="0">
                <a:solidFill>
                  <a:schemeClr val="bg1">
                    <a:lumMod val="75000"/>
                  </a:schemeClr>
                </a:solidFill>
                <a:latin typeface="Garamond" panose="02020404030301010803" pitchFamily="18" charset="0"/>
              </a:rPr>
              <a:t>About me </a:t>
            </a:r>
            <a:r>
              <a:rPr lang="en-GB" dirty="0">
                <a:solidFill>
                  <a:schemeClr val="bg1">
                    <a:lumMod val="75000"/>
                  </a:schemeClr>
                </a:solidFill>
                <a:latin typeface="Garamond" panose="02020404030301010803" pitchFamily="18" charset="0"/>
                <a:sym typeface="Wingdings" pitchFamily="2" charset="2"/>
              </a:rPr>
              <a:t> </a:t>
            </a:r>
            <a:endParaRPr lang="en-GB" dirty="0">
              <a:solidFill>
                <a:schemeClr val="bg1">
                  <a:lumMod val="75000"/>
                </a:schemeClr>
              </a:solidFill>
              <a:latin typeface="Garamond" panose="02020404030301010803" pitchFamily="18" charset="0"/>
            </a:endParaRPr>
          </a:p>
          <a:p>
            <a:pPr marL="514350" indent="-514350" algn="just">
              <a:buAutoNum type="arabicPeriod"/>
            </a:pPr>
            <a:r>
              <a:rPr lang="en-GB" dirty="0">
                <a:solidFill>
                  <a:schemeClr val="bg1">
                    <a:lumMod val="75000"/>
                  </a:schemeClr>
                </a:solidFill>
                <a:latin typeface="Garamond" panose="02020404030301010803" pitchFamily="18" charset="0"/>
              </a:rPr>
              <a:t>Accounting in a nutshell</a:t>
            </a:r>
          </a:p>
          <a:p>
            <a:pPr marL="514350" indent="-514350" algn="just">
              <a:buAutoNum type="arabicPeriod"/>
            </a:pPr>
            <a:r>
              <a:rPr lang="en-GB" dirty="0">
                <a:solidFill>
                  <a:schemeClr val="bg1">
                    <a:lumMod val="75000"/>
                  </a:schemeClr>
                </a:solidFill>
                <a:latin typeface="Garamond" panose="02020404030301010803" pitchFamily="18" charset="0"/>
              </a:rPr>
              <a:t>Financial statements</a:t>
            </a:r>
          </a:p>
          <a:p>
            <a:pPr marL="514350" indent="-514350" algn="just">
              <a:buAutoNum type="arabicPeriod"/>
            </a:pPr>
            <a:r>
              <a:rPr lang="en-US" u="sng" dirty="0">
                <a:solidFill>
                  <a:srgbClr val="002060"/>
                </a:solidFill>
                <a:latin typeface="Garamond" panose="02020404030301010803" pitchFamily="18" charset="0"/>
              </a:rPr>
              <a:t>The conceptual foundations of financial accounting</a:t>
            </a:r>
            <a:endParaRPr lang="en-GB" u="sng" dirty="0">
              <a:solidFill>
                <a:srgbClr val="002060"/>
              </a:solidFill>
              <a:latin typeface="Garamond" panose="02020404030301010803" pitchFamily="18" charset="0"/>
            </a:endParaRPr>
          </a:p>
        </p:txBody>
      </p:sp>
      <p:sp>
        <p:nvSpPr>
          <p:cNvPr id="4" name="Segnaposto numero diapositiva 3">
            <a:extLst>
              <a:ext uri="{FF2B5EF4-FFF2-40B4-BE49-F238E27FC236}">
                <a16:creationId xmlns:a16="http://schemas.microsoft.com/office/drawing/2014/main" id="{28F19532-E66F-5722-0AE4-F3D2D5B5385D}"/>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50</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CB91F4CC-0F11-D137-34B1-7E1AB282E70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3285036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EAF30-E53B-C19C-E067-E758F8C58A8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ED13CEE-5E61-353F-61F0-1A159172020D}"/>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conceptual framework</a:t>
            </a:r>
          </a:p>
        </p:txBody>
      </p:sp>
      <p:sp>
        <p:nvSpPr>
          <p:cNvPr id="3" name="Segnaposto contenuto 2">
            <a:extLst>
              <a:ext uri="{FF2B5EF4-FFF2-40B4-BE49-F238E27FC236}">
                <a16:creationId xmlns:a16="http://schemas.microsoft.com/office/drawing/2014/main" id="{A8F30246-8BF8-D40D-7E42-2F9568251FCC}"/>
              </a:ext>
            </a:extLst>
          </p:cNvPr>
          <p:cNvSpPr>
            <a:spLocks noGrp="1"/>
          </p:cNvSpPr>
          <p:nvPr>
            <p:ph idx="1"/>
          </p:nvPr>
        </p:nvSpPr>
        <p:spPr>
          <a:xfrm>
            <a:off x="1378634" y="1825625"/>
            <a:ext cx="9434732" cy="4530725"/>
          </a:xfrm>
        </p:spPr>
        <p:txBody>
          <a:bodyPr>
            <a:normAutofit/>
          </a:bodyPr>
          <a:lstStyle/>
          <a:p>
            <a:r>
              <a:rPr lang="en-US" dirty="0">
                <a:latin typeface="Garamond" panose="02020404030301010803" pitchFamily="18" charset="0"/>
              </a:rPr>
              <a:t>What is the </a:t>
            </a:r>
            <a:r>
              <a:rPr lang="en-US" u="sng" dirty="0">
                <a:latin typeface="Garamond" panose="02020404030301010803" pitchFamily="18" charset="0"/>
              </a:rPr>
              <a:t>objective</a:t>
            </a:r>
            <a:r>
              <a:rPr lang="en-US" dirty="0">
                <a:latin typeface="Garamond" panose="02020404030301010803" pitchFamily="18" charset="0"/>
              </a:rPr>
              <a:t> of financial reporting?</a:t>
            </a:r>
          </a:p>
          <a:p>
            <a:pPr marL="0" indent="0">
              <a:buNone/>
            </a:pPr>
            <a:br>
              <a:rPr lang="en-US" dirty="0">
                <a:latin typeface="Garamond" panose="02020404030301010803" pitchFamily="18" charset="0"/>
              </a:rPr>
            </a:br>
            <a:r>
              <a:rPr lang="en-US" dirty="0">
                <a:latin typeface="Garamond" panose="02020404030301010803" pitchFamily="18" charset="0"/>
              </a:rPr>
              <a:t>&gt;&gt;The objective of general purpose financial reporting is to provide financial </a:t>
            </a:r>
            <a:r>
              <a:rPr lang="en-US" b="1" dirty="0">
                <a:latin typeface="Garamond" panose="02020404030301010803" pitchFamily="18" charset="0"/>
              </a:rPr>
              <a:t>information</a:t>
            </a:r>
            <a:r>
              <a:rPr lang="en-US" dirty="0">
                <a:latin typeface="Garamond" panose="02020404030301010803" pitchFamily="18" charset="0"/>
              </a:rPr>
              <a:t> about the reporting entity that is </a:t>
            </a:r>
            <a:r>
              <a:rPr lang="en-US" b="1" dirty="0">
                <a:latin typeface="Garamond" panose="02020404030301010803" pitchFamily="18" charset="0"/>
              </a:rPr>
              <a:t>useful</a:t>
            </a:r>
            <a:r>
              <a:rPr lang="en-US" dirty="0">
                <a:latin typeface="Garamond" panose="02020404030301010803" pitchFamily="18" charset="0"/>
              </a:rPr>
              <a:t> to existing and potential investors, lenders, and other creditors </a:t>
            </a:r>
            <a:r>
              <a:rPr lang="en-US" b="1" dirty="0">
                <a:latin typeface="Garamond" panose="02020404030301010803" pitchFamily="18" charset="0"/>
              </a:rPr>
              <a:t>in making decisions</a:t>
            </a:r>
            <a:r>
              <a:rPr lang="en-US" dirty="0">
                <a:latin typeface="Garamond" panose="02020404030301010803" pitchFamily="18" charset="0"/>
              </a:rPr>
              <a:t> </a:t>
            </a:r>
            <a:r>
              <a:rPr lang="en-US" b="1" dirty="0">
                <a:latin typeface="Garamond" panose="02020404030301010803" pitchFamily="18" charset="0"/>
              </a:rPr>
              <a:t>about providing resources to the entity</a:t>
            </a:r>
            <a:r>
              <a:rPr lang="en-US" dirty="0">
                <a:latin typeface="Garamond" panose="02020404030301010803" pitchFamily="18" charset="0"/>
              </a:rPr>
              <a:t>.&lt;&lt;</a:t>
            </a:r>
          </a:p>
        </p:txBody>
      </p:sp>
      <p:sp>
        <p:nvSpPr>
          <p:cNvPr id="4" name="Segnaposto numero diapositiva 3">
            <a:extLst>
              <a:ext uri="{FF2B5EF4-FFF2-40B4-BE49-F238E27FC236}">
                <a16:creationId xmlns:a16="http://schemas.microsoft.com/office/drawing/2014/main" id="{CAB398B7-8808-8A54-FA20-27ECD8680978}"/>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51</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3E6A5CB6-7DC7-860E-80F1-EC80C29FCF3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554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2E1B7-91D1-58F4-713E-D7C7200C7B6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541618E-024B-D5F1-FED7-F7D3152BDDEF}"/>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conceptual framework</a:t>
            </a:r>
          </a:p>
        </p:txBody>
      </p:sp>
      <p:sp>
        <p:nvSpPr>
          <p:cNvPr id="3" name="Segnaposto contenuto 2">
            <a:extLst>
              <a:ext uri="{FF2B5EF4-FFF2-40B4-BE49-F238E27FC236}">
                <a16:creationId xmlns:a16="http://schemas.microsoft.com/office/drawing/2014/main" id="{19F22DE9-088F-1187-C50D-5344A971F476}"/>
              </a:ext>
            </a:extLst>
          </p:cNvPr>
          <p:cNvSpPr>
            <a:spLocks noGrp="1"/>
          </p:cNvSpPr>
          <p:nvPr>
            <p:ph idx="1"/>
          </p:nvPr>
        </p:nvSpPr>
        <p:spPr>
          <a:xfrm>
            <a:off x="1378634" y="1825625"/>
            <a:ext cx="9434732" cy="4530725"/>
          </a:xfrm>
        </p:spPr>
        <p:txBody>
          <a:bodyPr>
            <a:normAutofit/>
          </a:bodyPr>
          <a:lstStyle/>
          <a:p>
            <a:r>
              <a:rPr lang="en-US" dirty="0">
                <a:latin typeface="Garamond" panose="02020404030301010803" pitchFamily="18" charset="0"/>
              </a:rPr>
              <a:t>What does such ‘decision-useful’ information look like?</a:t>
            </a:r>
          </a:p>
          <a:p>
            <a:pPr marL="0" indent="0">
              <a:buNone/>
            </a:pPr>
            <a:r>
              <a:rPr lang="en-US" dirty="0">
                <a:latin typeface="Garamond" panose="02020404030301010803" pitchFamily="18" charset="0"/>
              </a:rPr>
              <a:t>	</a:t>
            </a:r>
            <a:br>
              <a:rPr lang="en-US" dirty="0">
                <a:latin typeface="Garamond" panose="02020404030301010803" pitchFamily="18" charset="0"/>
              </a:rPr>
            </a:br>
            <a:r>
              <a:rPr lang="en-US" dirty="0">
                <a:latin typeface="Garamond" panose="02020404030301010803" pitchFamily="18" charset="0"/>
              </a:rPr>
              <a:t>The conceptual framework identifies two </a:t>
            </a:r>
            <a:r>
              <a:rPr lang="en-US" u="sng" dirty="0">
                <a:latin typeface="Garamond" panose="02020404030301010803" pitchFamily="18" charset="0"/>
              </a:rPr>
              <a:t>fundamental qualitative characteristics</a:t>
            </a:r>
            <a:r>
              <a:rPr lang="en-US" dirty="0">
                <a:latin typeface="Garamond" panose="02020404030301010803" pitchFamily="18" charset="0"/>
              </a:rPr>
              <a:t> of decision-useful accounting information.</a:t>
            </a:r>
          </a:p>
          <a:p>
            <a:r>
              <a:rPr lang="en-US" u="sng" dirty="0">
                <a:latin typeface="Garamond" panose="02020404030301010803" pitchFamily="18" charset="0"/>
              </a:rPr>
              <a:t>Relevance</a:t>
            </a:r>
            <a:r>
              <a:rPr lang="en-US" dirty="0">
                <a:latin typeface="Garamond" panose="02020404030301010803" pitchFamily="18" charset="0"/>
              </a:rPr>
              <a:t>: the information ‘makes a difference’ in users’ decisions, i.e., it is </a:t>
            </a:r>
            <a:r>
              <a:rPr lang="en-US" b="1" dirty="0">
                <a:latin typeface="Garamond" panose="02020404030301010803" pitchFamily="18" charset="0"/>
              </a:rPr>
              <a:t>material</a:t>
            </a:r>
            <a:r>
              <a:rPr lang="en-US" dirty="0">
                <a:latin typeface="Garamond" panose="02020404030301010803" pitchFamily="18" charset="0"/>
              </a:rPr>
              <a:t> and has </a:t>
            </a:r>
            <a:r>
              <a:rPr lang="en-US" b="1" dirty="0">
                <a:latin typeface="Garamond" panose="02020404030301010803" pitchFamily="18" charset="0"/>
              </a:rPr>
              <a:t>predictive</a:t>
            </a:r>
            <a:r>
              <a:rPr lang="en-US" dirty="0">
                <a:latin typeface="Garamond" panose="02020404030301010803" pitchFamily="18" charset="0"/>
              </a:rPr>
              <a:t> and/or </a:t>
            </a:r>
            <a:r>
              <a:rPr lang="en-US" b="1" dirty="0">
                <a:latin typeface="Garamond" panose="02020404030301010803" pitchFamily="18" charset="0"/>
              </a:rPr>
              <a:t>confirmatory</a:t>
            </a:r>
            <a:r>
              <a:rPr lang="en-US" dirty="0">
                <a:latin typeface="Garamond" panose="02020404030301010803" pitchFamily="18" charset="0"/>
              </a:rPr>
              <a:t> value.</a:t>
            </a:r>
          </a:p>
          <a:p>
            <a:r>
              <a:rPr lang="en-US" u="sng" dirty="0">
                <a:latin typeface="Garamond" panose="02020404030301010803" pitchFamily="18" charset="0"/>
              </a:rPr>
              <a:t>Faithful representation</a:t>
            </a:r>
            <a:r>
              <a:rPr lang="en-US" dirty="0">
                <a:latin typeface="Garamond" panose="02020404030301010803" pitchFamily="18" charset="0"/>
              </a:rPr>
              <a:t>: a representation of financial information is faithful if it is </a:t>
            </a:r>
            <a:r>
              <a:rPr lang="en-US" b="1" dirty="0">
                <a:latin typeface="Garamond" panose="02020404030301010803" pitchFamily="18" charset="0"/>
              </a:rPr>
              <a:t>complete</a:t>
            </a:r>
            <a:r>
              <a:rPr lang="en-US" dirty="0">
                <a:latin typeface="Garamond" panose="02020404030301010803" pitchFamily="18" charset="0"/>
              </a:rPr>
              <a:t>, </a:t>
            </a:r>
            <a:r>
              <a:rPr lang="en-US" b="1" dirty="0">
                <a:latin typeface="Garamond" panose="02020404030301010803" pitchFamily="18" charset="0"/>
              </a:rPr>
              <a:t>neutral</a:t>
            </a:r>
            <a:r>
              <a:rPr lang="en-US" dirty="0">
                <a:latin typeface="Garamond" panose="02020404030301010803" pitchFamily="18" charset="0"/>
              </a:rPr>
              <a:t>, and </a:t>
            </a:r>
            <a:r>
              <a:rPr lang="en-US" b="1" dirty="0">
                <a:latin typeface="Garamond" panose="02020404030301010803" pitchFamily="18" charset="0"/>
              </a:rPr>
              <a:t>free from error</a:t>
            </a:r>
            <a:r>
              <a:rPr lang="en-US" dirty="0">
                <a:latin typeface="Garamond" panose="02020404030301010803" pitchFamily="18" charset="0"/>
              </a:rPr>
              <a:t>.</a:t>
            </a:r>
          </a:p>
          <a:p>
            <a:pPr marL="0" indent="0">
              <a:buNone/>
            </a:pP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CE43BBF5-EB59-64CA-1966-F4E52F2CC314}"/>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52</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D8D160FC-55A8-0425-5E57-207EA961CA4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Tree>
    <p:extLst>
      <p:ext uri="{BB962C8B-B14F-4D97-AF65-F5344CB8AC3E}">
        <p14:creationId xmlns:p14="http://schemas.microsoft.com/office/powerpoint/2010/main" val="202708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80180-C845-3838-C690-4C18419917C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EA4B90B-4F05-12C7-7E47-FD355B188681}"/>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conceptual framework</a:t>
            </a:r>
          </a:p>
        </p:txBody>
      </p:sp>
      <p:sp>
        <p:nvSpPr>
          <p:cNvPr id="3" name="Segnaposto contenuto 2">
            <a:extLst>
              <a:ext uri="{FF2B5EF4-FFF2-40B4-BE49-F238E27FC236}">
                <a16:creationId xmlns:a16="http://schemas.microsoft.com/office/drawing/2014/main" id="{C5BDD969-F811-A526-2191-14BB0AF667FC}"/>
              </a:ext>
            </a:extLst>
          </p:cNvPr>
          <p:cNvSpPr>
            <a:spLocks noGrp="1"/>
          </p:cNvSpPr>
          <p:nvPr>
            <p:ph idx="1"/>
          </p:nvPr>
        </p:nvSpPr>
        <p:spPr>
          <a:xfrm>
            <a:off x="1378634" y="1825625"/>
            <a:ext cx="9434732" cy="4530725"/>
          </a:xfrm>
        </p:spPr>
        <p:txBody>
          <a:bodyPr>
            <a:normAutofit fontScale="92500" lnSpcReduction="20000"/>
          </a:bodyPr>
          <a:lstStyle/>
          <a:p>
            <a:pPr marL="0" indent="0">
              <a:buNone/>
            </a:pPr>
            <a:r>
              <a:rPr lang="en-US" dirty="0">
                <a:latin typeface="Garamond" panose="02020404030301010803" pitchFamily="18" charset="0"/>
              </a:rPr>
              <a:t>The conceptual framework further identifies several </a:t>
            </a:r>
            <a:r>
              <a:rPr lang="en-US" u="sng" dirty="0">
                <a:latin typeface="Garamond" panose="02020404030301010803" pitchFamily="18" charset="0"/>
              </a:rPr>
              <a:t>enhancing qualitative characteristics</a:t>
            </a:r>
            <a:r>
              <a:rPr lang="en-US" dirty="0">
                <a:latin typeface="Garamond" panose="02020404030301010803" pitchFamily="18" charset="0"/>
              </a:rPr>
              <a:t> of decision-useful accounting information.</a:t>
            </a:r>
          </a:p>
          <a:p>
            <a:r>
              <a:rPr lang="en-US" u="sng" dirty="0">
                <a:latin typeface="Garamond" panose="02020404030301010803" pitchFamily="18" charset="0"/>
              </a:rPr>
              <a:t>Comparability</a:t>
            </a:r>
            <a:r>
              <a:rPr lang="en-US" dirty="0">
                <a:latin typeface="Garamond" panose="02020404030301010803" pitchFamily="18" charset="0"/>
              </a:rPr>
              <a:t>: information can be compared </a:t>
            </a:r>
            <a:r>
              <a:rPr lang="en-US" b="1" dirty="0">
                <a:latin typeface="Garamond" panose="02020404030301010803" pitchFamily="18" charset="0"/>
              </a:rPr>
              <a:t>across time </a:t>
            </a:r>
            <a:r>
              <a:rPr lang="en-US" dirty="0">
                <a:latin typeface="Garamond" panose="02020404030301010803" pitchFamily="18" charset="0"/>
              </a:rPr>
              <a:t>and</a:t>
            </a:r>
            <a:r>
              <a:rPr lang="en-US" b="1" dirty="0">
                <a:latin typeface="Garamond" panose="02020404030301010803" pitchFamily="18" charset="0"/>
              </a:rPr>
              <a:t> entities</a:t>
            </a:r>
            <a:r>
              <a:rPr lang="en-US" dirty="0">
                <a:latin typeface="Garamond" panose="02020404030301010803" pitchFamily="18" charset="0"/>
              </a:rPr>
              <a:t>. To achieve comparability, </a:t>
            </a:r>
            <a:r>
              <a:rPr lang="en-US" b="1" dirty="0">
                <a:latin typeface="Garamond" panose="02020404030301010803" pitchFamily="18" charset="0"/>
              </a:rPr>
              <a:t>consistency</a:t>
            </a:r>
            <a:r>
              <a:rPr lang="en-US" dirty="0">
                <a:latin typeface="Garamond" panose="02020404030301010803" pitchFamily="18" charset="0"/>
              </a:rPr>
              <a:t> is important, i.e., the same accounting methods must be applied across time and entities.</a:t>
            </a:r>
          </a:p>
          <a:p>
            <a:r>
              <a:rPr lang="en-US" u="sng" dirty="0">
                <a:latin typeface="Garamond" panose="02020404030301010803" pitchFamily="18" charset="0"/>
              </a:rPr>
              <a:t>Verifiability</a:t>
            </a:r>
            <a:r>
              <a:rPr lang="en-US" dirty="0">
                <a:latin typeface="Garamond" panose="02020404030301010803" pitchFamily="18" charset="0"/>
              </a:rPr>
              <a:t>: different knowledgeable and independent observers could reach consensus that the information is faithfully represented.</a:t>
            </a:r>
          </a:p>
          <a:p>
            <a:r>
              <a:rPr lang="en-US" u="sng" dirty="0">
                <a:latin typeface="Garamond" panose="02020404030301010803" pitchFamily="18" charset="0"/>
              </a:rPr>
              <a:t>Timeliness</a:t>
            </a:r>
            <a:r>
              <a:rPr lang="en-US" dirty="0">
                <a:latin typeface="Garamond" panose="02020404030301010803" pitchFamily="18" charset="0"/>
              </a:rPr>
              <a:t>: generally, the older the information, the less useful it is.</a:t>
            </a:r>
          </a:p>
          <a:p>
            <a:r>
              <a:rPr lang="en-US" u="sng" dirty="0">
                <a:latin typeface="Garamond" panose="02020404030301010803" pitchFamily="18" charset="0"/>
              </a:rPr>
              <a:t>Understandability</a:t>
            </a:r>
            <a:r>
              <a:rPr lang="en-US" dirty="0">
                <a:latin typeface="Garamond" panose="02020404030301010803" pitchFamily="18" charset="0"/>
              </a:rPr>
              <a:t>: information is as clear and concise as possible, to a reasonably knowledgeable user.</a:t>
            </a:r>
          </a:p>
          <a:p>
            <a:pPr marL="0" indent="0">
              <a:buNone/>
            </a:pPr>
            <a:endParaRPr lang="en-US" dirty="0">
              <a:latin typeface="Garamond" panose="02020404030301010803" pitchFamily="18" charset="0"/>
            </a:endParaRPr>
          </a:p>
          <a:p>
            <a:pPr marL="0" indent="0">
              <a:buNone/>
            </a:pPr>
            <a:r>
              <a:rPr lang="en-US" dirty="0">
                <a:latin typeface="Garamond" panose="02020404030301010803" pitchFamily="18" charset="0"/>
              </a:rPr>
              <a:t>All qualitative characteristics are subject to the cost constraint </a:t>
            </a:r>
            <a:r>
              <a:rPr lang="en-US" dirty="0">
                <a:latin typeface="Garamond" panose="02020404030301010803" pitchFamily="18" charset="0"/>
                <a:sym typeface="Wingdings" pitchFamily="2" charset="2"/>
              </a:rPr>
              <a:t> Cost &lt; benefits</a:t>
            </a:r>
            <a:endParaRPr lang="en-US"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3D7A3CC4-60B7-C8D8-1E9D-C6DCA96BDA99}"/>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53</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12631AAD-2F97-10CB-5E6F-B240EFA31D8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406617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7132D-5896-0FB8-DDF3-AF7C6DEA339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3F335A2-7AD8-90CD-C324-A7744F2094D3}"/>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How do we keep account?</a:t>
            </a:r>
          </a:p>
        </p:txBody>
      </p:sp>
      <p:sp>
        <p:nvSpPr>
          <p:cNvPr id="3" name="Segnaposto contenuto 2">
            <a:extLst>
              <a:ext uri="{FF2B5EF4-FFF2-40B4-BE49-F238E27FC236}">
                <a16:creationId xmlns:a16="http://schemas.microsoft.com/office/drawing/2014/main" id="{378C6341-9E45-6940-0AA8-C3669D072BF7}"/>
              </a:ext>
            </a:extLst>
          </p:cNvPr>
          <p:cNvSpPr>
            <a:spLocks noGrp="1"/>
          </p:cNvSpPr>
          <p:nvPr>
            <p:ph idx="1"/>
          </p:nvPr>
        </p:nvSpPr>
        <p:spPr>
          <a:xfrm>
            <a:off x="1378634" y="1825625"/>
            <a:ext cx="9434732" cy="4530725"/>
          </a:xfrm>
        </p:spPr>
        <p:txBody>
          <a:bodyPr>
            <a:normAutofit fontScale="92500" lnSpcReduction="20000"/>
          </a:bodyPr>
          <a:lstStyle/>
          <a:p>
            <a:pPr marL="0" indent="0">
              <a:buNone/>
            </a:pPr>
            <a:r>
              <a:rPr lang="en-US" dirty="0">
                <a:latin typeface="Garamond" panose="02020404030301010803" pitchFamily="18" charset="0"/>
              </a:rPr>
              <a:t>Conclusion so far: accounting is all about changes to account balances. But what events trigger such changes? And how exactly do we treat them? </a:t>
            </a:r>
          </a:p>
          <a:p>
            <a:pPr marL="0" indent="0">
              <a:buNone/>
            </a:pPr>
            <a:r>
              <a:rPr lang="en-US" dirty="0">
                <a:latin typeface="Garamond" panose="02020404030301010803" pitchFamily="18" charset="0"/>
              </a:rPr>
              <a:t>The following guiding questions help us structure the problem.</a:t>
            </a:r>
          </a:p>
          <a:p>
            <a:r>
              <a:rPr lang="en-US" u="sng" dirty="0">
                <a:latin typeface="Garamond" panose="02020404030301010803" pitchFamily="18" charset="0"/>
              </a:rPr>
              <a:t>(De-)Recognition</a:t>
            </a:r>
            <a:r>
              <a:rPr lang="en-US" dirty="0">
                <a:latin typeface="Garamond" panose="02020404030301010803" pitchFamily="18" charset="0"/>
              </a:rPr>
              <a:t>. When should an item be included in or removed from the financial statements?</a:t>
            </a:r>
          </a:p>
          <a:p>
            <a:r>
              <a:rPr lang="en-US" u="sng" dirty="0">
                <a:latin typeface="Garamond" panose="02020404030301010803" pitchFamily="18" charset="0"/>
              </a:rPr>
              <a:t>Measurement (Valuation)</a:t>
            </a:r>
            <a:r>
              <a:rPr lang="en-US" dirty="0">
                <a:latin typeface="Garamond" panose="02020404030301010803" pitchFamily="18" charset="0"/>
              </a:rPr>
              <a:t>. At what value should an item be shown in the financial statements (and how should the value change over time)?</a:t>
            </a:r>
          </a:p>
          <a:p>
            <a:r>
              <a:rPr lang="en-US" u="sng" dirty="0">
                <a:latin typeface="Garamond" panose="02020404030301010803" pitchFamily="18" charset="0"/>
              </a:rPr>
              <a:t>Presentation and Disclosure</a:t>
            </a:r>
            <a:r>
              <a:rPr lang="en-US" dirty="0">
                <a:latin typeface="Garamond" panose="02020404030301010803" pitchFamily="18" charset="0"/>
              </a:rPr>
              <a:t>. How should items be classified in the financial statements? What related information should be disclosed?</a:t>
            </a:r>
          </a:p>
          <a:p>
            <a:pPr marL="0" indent="0">
              <a:buNone/>
            </a:pPr>
            <a:endParaRPr lang="en-US" dirty="0">
              <a:latin typeface="Garamond" panose="02020404030301010803" pitchFamily="18" charset="0"/>
            </a:endParaRPr>
          </a:p>
          <a:p>
            <a:pPr marL="0" indent="0">
              <a:buNone/>
            </a:pPr>
            <a:r>
              <a:rPr lang="en-US" dirty="0">
                <a:latin typeface="Garamond" panose="02020404030301010803" pitchFamily="18" charset="0"/>
              </a:rPr>
              <a:t>(Over the course of this term, we will address these questions in some detail for various balance sheet items.)</a:t>
            </a:r>
          </a:p>
          <a:p>
            <a:pPr marL="0" indent="0" algn="just">
              <a:buNone/>
            </a:pPr>
            <a:endParaRPr lang="en-GB" u="sng" dirty="0">
              <a:solidFill>
                <a:srgbClr val="002060"/>
              </a:solidFill>
              <a:latin typeface="Garamond" panose="02020404030301010803" pitchFamily="18" charset="0"/>
            </a:endParaRPr>
          </a:p>
        </p:txBody>
      </p:sp>
      <p:sp>
        <p:nvSpPr>
          <p:cNvPr id="4" name="Segnaposto numero diapositiva 3">
            <a:extLst>
              <a:ext uri="{FF2B5EF4-FFF2-40B4-BE49-F238E27FC236}">
                <a16:creationId xmlns:a16="http://schemas.microsoft.com/office/drawing/2014/main" id="{D27C96E6-29FB-15F3-FE0D-A49DAEAB56F5}"/>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54</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57B58FB8-A05A-32D7-32AC-A7CB80B6E64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409292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58AAE-A651-E480-058E-EA978B92568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3E1CDD8-784F-8E40-D6C8-9CA84CC3D2E7}"/>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The basic principles of accounting</a:t>
            </a:r>
          </a:p>
        </p:txBody>
      </p:sp>
      <p:sp>
        <p:nvSpPr>
          <p:cNvPr id="3" name="Segnaposto contenuto 2">
            <a:extLst>
              <a:ext uri="{FF2B5EF4-FFF2-40B4-BE49-F238E27FC236}">
                <a16:creationId xmlns:a16="http://schemas.microsoft.com/office/drawing/2014/main" id="{CA9281F1-AADD-7679-1F9B-12284DB3924A}"/>
              </a:ext>
            </a:extLst>
          </p:cNvPr>
          <p:cNvSpPr>
            <a:spLocks noGrp="1"/>
          </p:cNvSpPr>
          <p:nvPr>
            <p:ph idx="1"/>
          </p:nvPr>
        </p:nvSpPr>
        <p:spPr>
          <a:xfrm>
            <a:off x="1378634" y="1825625"/>
            <a:ext cx="9434732" cy="4530725"/>
          </a:xfrm>
        </p:spPr>
        <p:txBody>
          <a:bodyPr>
            <a:normAutofit fontScale="92500" lnSpcReduction="20000"/>
          </a:bodyPr>
          <a:lstStyle/>
          <a:p>
            <a:pPr marL="0" indent="0">
              <a:buNone/>
            </a:pPr>
            <a:r>
              <a:rPr lang="en-US" dirty="0">
                <a:latin typeface="Garamond" panose="02020404030301010803" pitchFamily="18" charset="0"/>
              </a:rPr>
              <a:t>Most decisions when and how to recognize an economic event (by making changes to account balances) rest on a few basic principles and concepts.</a:t>
            </a:r>
          </a:p>
          <a:p>
            <a:r>
              <a:rPr lang="en-US" u="sng" dirty="0">
                <a:latin typeface="Garamond" panose="02020404030301010803" pitchFamily="18" charset="0"/>
              </a:rPr>
              <a:t>Revenue recognition</a:t>
            </a:r>
            <a:r>
              <a:rPr lang="en-US" dirty="0">
                <a:latin typeface="Garamond" panose="02020404030301010803" pitchFamily="18" charset="0"/>
              </a:rPr>
              <a:t>: revenue is only recognized when it is </a:t>
            </a:r>
            <a:r>
              <a:rPr lang="en-US" b="1" dirty="0">
                <a:latin typeface="Garamond" panose="02020404030301010803" pitchFamily="18" charset="0"/>
              </a:rPr>
              <a:t>earned</a:t>
            </a:r>
            <a:r>
              <a:rPr lang="en-US" dirty="0">
                <a:latin typeface="Garamond" panose="02020404030301010803" pitchFamily="18" charset="0"/>
              </a:rPr>
              <a:t> and </a:t>
            </a:r>
            <a:r>
              <a:rPr lang="en-US" b="1" dirty="0">
                <a:latin typeface="Garamond" panose="02020404030301010803" pitchFamily="18" charset="0"/>
              </a:rPr>
              <a:t>realized or realizable</a:t>
            </a:r>
            <a:r>
              <a:rPr lang="en-US" dirty="0">
                <a:latin typeface="Garamond" panose="02020404030301010803" pitchFamily="18" charset="0"/>
              </a:rPr>
              <a:t>.</a:t>
            </a:r>
          </a:p>
          <a:p>
            <a:r>
              <a:rPr lang="en-US" u="sng" dirty="0">
                <a:latin typeface="Garamond" panose="02020404030301010803" pitchFamily="18" charset="0"/>
              </a:rPr>
              <a:t>Matching principle</a:t>
            </a:r>
            <a:r>
              <a:rPr lang="en-US" dirty="0">
                <a:latin typeface="Garamond" panose="02020404030301010803" pitchFamily="18" charset="0"/>
              </a:rPr>
              <a:t>: expenses are recognized at the same time as the revenue that they helped generate.</a:t>
            </a:r>
          </a:p>
          <a:p>
            <a:r>
              <a:rPr lang="en-US" u="sng" dirty="0">
                <a:latin typeface="Garamond" panose="02020404030301010803" pitchFamily="18" charset="0"/>
              </a:rPr>
              <a:t>Historical cost</a:t>
            </a:r>
            <a:r>
              <a:rPr lang="en-US" dirty="0">
                <a:latin typeface="Garamond" panose="02020404030301010803" pitchFamily="18" charset="0"/>
              </a:rPr>
              <a:t>: assets and liabilities are accounted for on the basis of their acquisition prices. </a:t>
            </a:r>
          </a:p>
          <a:p>
            <a:r>
              <a:rPr lang="en-US" u="sng" dirty="0">
                <a:latin typeface="Garamond" panose="02020404030301010803" pitchFamily="18" charset="0"/>
              </a:rPr>
              <a:t>Conservatism</a:t>
            </a:r>
            <a:r>
              <a:rPr lang="en-US" dirty="0">
                <a:latin typeface="Garamond" panose="02020404030301010803" pitchFamily="18" charset="0"/>
              </a:rPr>
              <a:t> (prudence): when in doubt, choose the accounting treatment that least likely overstates assets.</a:t>
            </a:r>
          </a:p>
          <a:p>
            <a:endParaRPr lang="en-US" dirty="0">
              <a:latin typeface="Garamond" panose="02020404030301010803" pitchFamily="18" charset="0"/>
            </a:endParaRPr>
          </a:p>
          <a:p>
            <a:pPr marL="0" indent="0">
              <a:buNone/>
            </a:pPr>
            <a:r>
              <a:rPr lang="en-US" dirty="0">
                <a:latin typeface="Garamond" panose="02020404030301010803" pitchFamily="18" charset="0"/>
              </a:rPr>
              <a:t>The first two principles are very important. </a:t>
            </a:r>
            <a:r>
              <a:rPr lang="en-US" b="1" u="sng" dirty="0">
                <a:latin typeface="Garamond" panose="02020404030301010803" pitchFamily="18" charset="0"/>
              </a:rPr>
              <a:t>Memorize them.</a:t>
            </a:r>
          </a:p>
        </p:txBody>
      </p:sp>
      <p:sp>
        <p:nvSpPr>
          <p:cNvPr id="4" name="Segnaposto numero diapositiva 3">
            <a:extLst>
              <a:ext uri="{FF2B5EF4-FFF2-40B4-BE49-F238E27FC236}">
                <a16:creationId xmlns:a16="http://schemas.microsoft.com/office/drawing/2014/main" id="{A59FA1A1-7125-0E0B-8063-049C82162D53}"/>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55</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B8BB304A-0DB8-0F0E-790A-FCCBBAEA6A91}"/>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lc="http://schemas.openxmlformats.org/drawingml/2006/lockedCanvas"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w16cid="http://schemas.microsoft.com/office/word/2016/wordml/cid"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ve="http://schemas.openxmlformats.org/markup-compatibility/2006"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mc="http://schemas.openxmlformats.org/markup-compatibility/2006" xmlns:cx1="http://schemas.microsoft.com/office/drawing/2015/9/8/chartex" xmlns:cx="http://schemas.microsoft.com/office/drawing/2014/chartex" xmlns:wpc="http://schemas.microsoft.com/office/word/2010/wordprocessingCanvas"/>
            </a:ext>
          </a:extLst>
        </p:spPr>
      </p:pic>
      <p:sp>
        <p:nvSpPr>
          <p:cNvPr id="5" name="Right Brace 4">
            <a:extLst>
              <a:ext uri="{FF2B5EF4-FFF2-40B4-BE49-F238E27FC236}">
                <a16:creationId xmlns:a16="http://schemas.microsoft.com/office/drawing/2014/main" id="{021FB6DA-A18A-948D-DFA2-67D21CA015BE}"/>
              </a:ext>
            </a:extLst>
          </p:cNvPr>
          <p:cNvSpPr/>
          <p:nvPr/>
        </p:nvSpPr>
        <p:spPr>
          <a:xfrm>
            <a:off x="10515600" y="2781300"/>
            <a:ext cx="297766" cy="965200"/>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2061743-57EE-D0B1-47FD-8D8827413BFA}"/>
              </a:ext>
            </a:extLst>
          </p:cNvPr>
          <p:cNvSpPr txBox="1"/>
          <p:nvPr/>
        </p:nvSpPr>
        <p:spPr>
          <a:xfrm>
            <a:off x="10813366" y="2848401"/>
            <a:ext cx="1778000" cy="830997"/>
          </a:xfrm>
          <a:prstGeom prst="rect">
            <a:avLst/>
          </a:prstGeom>
          <a:noFill/>
        </p:spPr>
        <p:txBody>
          <a:bodyPr wrap="square">
            <a:spAutoFit/>
          </a:bodyPr>
          <a:lstStyle/>
          <a:p>
            <a:r>
              <a:rPr lang="en-US" sz="2400" dirty="0">
                <a:latin typeface="Garamond" panose="02020404030301010803" pitchFamily="18" charset="0"/>
              </a:rPr>
              <a:t>Accrual accounting</a:t>
            </a:r>
            <a:endParaRPr lang="en-US" sz="2400" dirty="0"/>
          </a:p>
        </p:txBody>
      </p:sp>
    </p:spTree>
    <p:extLst>
      <p:ext uri="{BB962C8B-B14F-4D97-AF65-F5344CB8AC3E}">
        <p14:creationId xmlns:p14="http://schemas.microsoft.com/office/powerpoint/2010/main" val="243799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A505F-DA68-11B5-6868-CDC9D5261AA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D5E089-9E77-F3D7-1CB1-D698AA7EC83E}"/>
              </a:ext>
            </a:extLst>
          </p:cNvPr>
          <p:cNvSpPr>
            <a:spLocks noGrp="1"/>
          </p:cNvSpPr>
          <p:nvPr>
            <p:ph type="title"/>
          </p:nvPr>
        </p:nvSpPr>
        <p:spPr>
          <a:xfrm>
            <a:off x="1378634" y="365125"/>
            <a:ext cx="9434732" cy="1325563"/>
          </a:xfrm>
        </p:spPr>
        <p:txBody>
          <a:bodyPr/>
          <a:lstStyle/>
          <a:p>
            <a:pPr algn="just"/>
            <a:r>
              <a:rPr lang="en-GB" dirty="0">
                <a:solidFill>
                  <a:srgbClr val="002060"/>
                </a:solidFill>
                <a:latin typeface="Garamond" panose="02020404030301010803" pitchFamily="18" charset="0"/>
              </a:rPr>
              <a:t>Small exercise</a:t>
            </a:r>
          </a:p>
        </p:txBody>
      </p:sp>
      <p:sp>
        <p:nvSpPr>
          <p:cNvPr id="3" name="Segnaposto contenuto 2">
            <a:extLst>
              <a:ext uri="{FF2B5EF4-FFF2-40B4-BE49-F238E27FC236}">
                <a16:creationId xmlns:a16="http://schemas.microsoft.com/office/drawing/2014/main" id="{6A6674E1-2246-D74C-5A61-400ACF7FCF5C}"/>
              </a:ext>
            </a:extLst>
          </p:cNvPr>
          <p:cNvSpPr>
            <a:spLocks noGrp="1"/>
          </p:cNvSpPr>
          <p:nvPr>
            <p:ph idx="1"/>
          </p:nvPr>
        </p:nvSpPr>
        <p:spPr>
          <a:xfrm>
            <a:off x="1378634" y="1825625"/>
            <a:ext cx="9434732" cy="4530725"/>
          </a:xfrm>
        </p:spPr>
        <p:txBody>
          <a:bodyPr>
            <a:normAutofit fontScale="92500"/>
          </a:bodyPr>
          <a:lstStyle/>
          <a:p>
            <a:pPr marL="0" indent="0" defTabSz="1097280">
              <a:buNone/>
            </a:pPr>
            <a:r>
              <a:rPr lang="en-US" b="1" dirty="0">
                <a:latin typeface="Garamond" panose="02020404030301010803" pitchFamily="18" charset="0"/>
              </a:rPr>
              <a:t>Duration</a:t>
            </a:r>
            <a:r>
              <a:rPr lang="en-US" dirty="0">
                <a:latin typeface="Garamond" panose="02020404030301010803" pitchFamily="18" charset="0"/>
              </a:rPr>
              <a:t>: 2 min</a:t>
            </a:r>
          </a:p>
          <a:p>
            <a:pPr marL="0" indent="0" defTabSz="1097280">
              <a:buNone/>
            </a:pPr>
            <a:r>
              <a:rPr lang="en-US" b="1" dirty="0">
                <a:latin typeface="Garamond" panose="02020404030301010803" pitchFamily="18" charset="0"/>
              </a:rPr>
              <a:t>With?</a:t>
            </a:r>
            <a:r>
              <a:rPr lang="en-US" dirty="0">
                <a:latin typeface="Garamond" panose="02020404030301010803" pitchFamily="18" charset="0"/>
              </a:rPr>
              <a:t>: In pairs or groups up to four</a:t>
            </a:r>
          </a:p>
          <a:p>
            <a:pPr marL="0" indent="0" defTabSz="1097280">
              <a:buNone/>
            </a:pPr>
            <a:r>
              <a:rPr lang="en-US" b="1" dirty="0">
                <a:latin typeface="Garamond" panose="02020404030301010803" pitchFamily="18" charset="0"/>
              </a:rPr>
              <a:t>Objective</a:t>
            </a:r>
            <a:r>
              <a:rPr lang="en-US" dirty="0">
                <a:latin typeface="Garamond" panose="02020404030301010803" pitchFamily="18" charset="0"/>
              </a:rPr>
              <a:t>: Understand the two first basic principles of accounting</a:t>
            </a:r>
          </a:p>
          <a:p>
            <a:pPr marL="0" indent="0">
              <a:buNone/>
            </a:pPr>
            <a:br>
              <a:rPr lang="en-US" dirty="0">
                <a:latin typeface="Garamond" panose="02020404030301010803" pitchFamily="18" charset="0"/>
              </a:rPr>
            </a:br>
            <a:r>
              <a:rPr lang="en-US" dirty="0">
                <a:latin typeface="Garamond" panose="02020404030301010803" pitchFamily="18" charset="0"/>
              </a:rPr>
              <a:t>A company delivers $12,500 worth of consulting services in March, but the client pays in April. The company prepaid $4,000 in wages to employees who worked on this project in February.</a:t>
            </a:r>
          </a:p>
          <a:p>
            <a:pPr marL="0" indent="0">
              <a:buNone/>
            </a:pPr>
            <a:endParaRPr lang="en-US" u="sng" dirty="0">
              <a:latin typeface="Garamond" panose="02020404030301010803" pitchFamily="18" charset="0"/>
            </a:endParaRPr>
          </a:p>
          <a:p>
            <a:pPr marL="0" indent="0">
              <a:buNone/>
            </a:pPr>
            <a:r>
              <a:rPr lang="en-US" u="sng" dirty="0">
                <a:latin typeface="Garamond" panose="02020404030301010803" pitchFamily="18" charset="0"/>
              </a:rPr>
              <a:t>In which month should the company recognize the $12,500 revenue?</a:t>
            </a:r>
          </a:p>
          <a:p>
            <a:pPr marL="0" indent="0">
              <a:buNone/>
            </a:pPr>
            <a:r>
              <a:rPr lang="en-US" u="sng" dirty="0">
                <a:latin typeface="Garamond" panose="02020404030301010803" pitchFamily="18" charset="0"/>
              </a:rPr>
              <a:t>In which month should the $4,000 wage expense be recognized?</a:t>
            </a:r>
          </a:p>
          <a:p>
            <a:pPr marL="0" indent="0">
              <a:buNone/>
            </a:pPr>
            <a:endParaRPr lang="en-US" b="1" u="sng" dirty="0">
              <a:latin typeface="Garamond" panose="02020404030301010803" pitchFamily="18" charset="0"/>
            </a:endParaRPr>
          </a:p>
        </p:txBody>
      </p:sp>
      <p:sp>
        <p:nvSpPr>
          <p:cNvPr id="4" name="Segnaposto numero diapositiva 3">
            <a:extLst>
              <a:ext uri="{FF2B5EF4-FFF2-40B4-BE49-F238E27FC236}">
                <a16:creationId xmlns:a16="http://schemas.microsoft.com/office/drawing/2014/main" id="{49C78E26-28D0-42BF-D4BE-5E17EA244288}"/>
              </a:ext>
            </a:extLst>
          </p:cNvPr>
          <p:cNvSpPr>
            <a:spLocks noGrp="1"/>
          </p:cNvSpPr>
          <p:nvPr>
            <p:ph type="sldNum" sz="quarter" idx="12"/>
          </p:nvPr>
        </p:nvSpPr>
        <p:spPr/>
        <p:txBody>
          <a:bodyPr/>
          <a:lstStyle/>
          <a:p>
            <a:fld id="{78B901A8-01F5-4916-BDC8-222E34B957F1}" type="slidenum">
              <a:rPr lang="it-IT" smtClean="0">
                <a:solidFill>
                  <a:srgbClr val="002060"/>
                </a:solidFill>
                <a:latin typeface="Garamond" panose="02020404030301010803" pitchFamily="18" charset="0"/>
              </a:rPr>
              <a:t>56</a:t>
            </a:fld>
            <a:endParaRPr lang="it-IT" dirty="0">
              <a:solidFill>
                <a:srgbClr val="002060"/>
              </a:solidFill>
              <a:latin typeface="Garamond" panose="02020404030301010803" pitchFamily="18" charset="0"/>
            </a:endParaRPr>
          </a:p>
        </p:txBody>
      </p:sp>
      <p:pic>
        <p:nvPicPr>
          <p:cNvPr id="6" name="Immagine 3">
            <a:extLst>
              <a:ext uri="{FF2B5EF4-FFF2-40B4-BE49-F238E27FC236}">
                <a16:creationId xmlns:a16="http://schemas.microsoft.com/office/drawing/2014/main" id="{43BF8BF9-7D68-25E4-2DD4-FC6188BFFFB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86398"/>
            <a:ext cx="1137285" cy="3491865"/>
          </a:xfrm>
          <a:prstGeom prst="rect">
            <a:avLst/>
          </a:prstGeom>
          <a:extLst>
            <a:ext uri="{FAA26D3D-D897-4be2-8F04-BA451C77F1D7}">
              <ma14:placeholderFlag xmlns:wpc="http://schemas.microsoft.com/office/word/2010/wordprocessingCanvas" xmlns:cx="http://schemas.microsoft.com/office/drawing/2014/chartex" xmlns:cx1="http://schemas.microsoft.com/office/drawing/2015/9/8/chartex"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pic="http://schemas.openxmlformats.org/drawingml/2006/picture" xmlns:ve="http://schemas.openxmlformats.org/markup-compatibility/2006"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16cid="http://schemas.microsoft.com/office/word/2016/wordml/cid"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lc="http://schemas.openxmlformats.org/drawingml/2006/lockedCanvas"/>
            </a:ext>
          </a:extLst>
        </p:spPr>
      </p:pic>
    </p:spTree>
    <p:extLst>
      <p:ext uri="{BB962C8B-B14F-4D97-AF65-F5344CB8AC3E}">
        <p14:creationId xmlns:p14="http://schemas.microsoft.com/office/powerpoint/2010/main" val="1824599369"/>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1601</TotalTime>
  <Words>2829</Words>
  <Application>Microsoft Macintosh PowerPoint</Application>
  <PresentationFormat>Widescreen</PresentationFormat>
  <Paragraphs>441</Paragraphs>
  <Slides>56</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Garamond</vt:lpstr>
      <vt:lpstr>Tema di Office</vt:lpstr>
      <vt:lpstr>30692 Financial Accounting (Module 1)</vt:lpstr>
      <vt:lpstr>Overview</vt:lpstr>
      <vt:lpstr>About me</vt:lpstr>
      <vt:lpstr>Overview</vt:lpstr>
      <vt:lpstr>What is accounting?</vt:lpstr>
      <vt:lpstr>Who needs accounting?</vt:lpstr>
      <vt:lpstr>Why accounting matters</vt:lpstr>
      <vt:lpstr>Why accounting matters </vt:lpstr>
      <vt:lpstr>Who makes accounting rules?</vt:lpstr>
      <vt:lpstr>Different GAAP around the world</vt:lpstr>
      <vt:lpstr>Who makes GAAP?</vt:lpstr>
      <vt:lpstr>Why prepare GAAP?</vt:lpstr>
      <vt:lpstr>Overview</vt:lpstr>
      <vt:lpstr>Conceptual construct of financial statements</vt:lpstr>
      <vt:lpstr>Financial statements</vt:lpstr>
      <vt:lpstr>The balance sheet</vt:lpstr>
      <vt:lpstr>The balance sheet: Definition</vt:lpstr>
      <vt:lpstr>The balance sheet: Example</vt:lpstr>
      <vt:lpstr>The balance sheet: Example</vt:lpstr>
      <vt:lpstr>The balance sheet: Example</vt:lpstr>
      <vt:lpstr>The accounting equation</vt:lpstr>
      <vt:lpstr>The accounting equation</vt:lpstr>
      <vt:lpstr>Small exercise</vt:lpstr>
      <vt:lpstr>Small exercise</vt:lpstr>
      <vt:lpstr>The accounting equation</vt:lpstr>
      <vt:lpstr>The accounting equation</vt:lpstr>
      <vt:lpstr>The rest of the statements …</vt:lpstr>
      <vt:lpstr>Let’s connect the statements</vt:lpstr>
      <vt:lpstr>Let’s connect the statements</vt:lpstr>
      <vt:lpstr>Let’s connect the statements</vt:lpstr>
      <vt:lpstr>Let’s connect the statements</vt:lpstr>
      <vt:lpstr>Let’s connect the statements</vt:lpstr>
      <vt:lpstr>Let’s connect the statements</vt:lpstr>
      <vt:lpstr>Statement of changes in owners’ equity</vt:lpstr>
      <vt:lpstr>Let’s connect the statements</vt:lpstr>
      <vt:lpstr>Let’s connect the statements</vt:lpstr>
      <vt:lpstr>Income statement</vt:lpstr>
      <vt:lpstr>Let’s connect the statements</vt:lpstr>
      <vt:lpstr>Let’s connect the statements</vt:lpstr>
      <vt:lpstr>Let’s connect the statements</vt:lpstr>
      <vt:lpstr>Let’s connect the statements</vt:lpstr>
      <vt:lpstr>Cash flow statement</vt:lpstr>
      <vt:lpstr>Cash flow statement</vt:lpstr>
      <vt:lpstr>Cash flow statement</vt:lpstr>
      <vt:lpstr>Financial statement notes</vt:lpstr>
      <vt:lpstr>Auditor statement / audit opinion</vt:lpstr>
      <vt:lpstr>Auditor statement / audit opinion</vt:lpstr>
      <vt:lpstr>Auditor statement / audit opinion</vt:lpstr>
      <vt:lpstr>Auditor statement / audit opinion</vt:lpstr>
      <vt:lpstr>Overview</vt:lpstr>
      <vt:lpstr>The conceptual framework</vt:lpstr>
      <vt:lpstr>The conceptual framework</vt:lpstr>
      <vt:lpstr>The conceptual framework</vt:lpstr>
      <vt:lpstr>How do we keep account?</vt:lpstr>
      <vt:lpstr>The basic principles of accounting</vt:lpstr>
      <vt:lpstr>Small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30426 Accounting and financial statement analysis - Module 1</dc:title>
  <dc:creator>Luca S.</dc:creator>
  <cp:lastModifiedBy>Kasper Flyger Regenburg</cp:lastModifiedBy>
  <cp:revision>118</cp:revision>
  <cp:lastPrinted>2021-09-03T12:47:24Z</cp:lastPrinted>
  <dcterms:created xsi:type="dcterms:W3CDTF">2019-08-31T08:21:58Z</dcterms:created>
  <dcterms:modified xsi:type="dcterms:W3CDTF">2025-09-03T20:05:39Z</dcterms:modified>
</cp:coreProperties>
</file>